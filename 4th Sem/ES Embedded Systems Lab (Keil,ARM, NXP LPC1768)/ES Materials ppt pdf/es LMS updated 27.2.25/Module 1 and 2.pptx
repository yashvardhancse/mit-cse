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10.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10.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11.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_rels/slideLayout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28.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62.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3.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82.xml.rels" ContentType="application/vnd.openxmlformats-package.relationships+xml"/>
  <Override PartName="/ppt/slideLayouts/_rels/slideLayout112.xml.rels" ContentType="application/vnd.openxmlformats-package.relationships+xml"/>
  <Override PartName="/ppt/slideLayouts/_rels/slideLayout108.xml.rels" ContentType="application/vnd.openxmlformats-package.relationships+xml"/>
  <Override PartName="/ppt/slideLayouts/_rels/slideLayout60.xml.rels" ContentType="application/vnd.openxmlformats-package.relationships+xml"/>
  <Override PartName="/ppt/slideLayouts/_rels/slideLayout56.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_rels/slideLayout118.xml.rels" ContentType="application/vnd.openxmlformats-package.relationships+xml"/>
  <Override PartName="/ppt/slideLayouts/_rels/slideLayout75.xml.rels" ContentType="application/vnd.openxmlformats-package.relationships+xml"/>
  <Override PartName="/ppt/slideLayouts/_rels/slideLayout61.xml.rels" ContentType="application/vnd.openxmlformats-package.relationships+xml"/>
  <Override PartName="/ppt/slideLayouts/_rels/slideLayout5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6.xml.rels" ContentType="application/vnd.openxmlformats-package.relationships+xml"/>
  <Override PartName="/ppt/slideLayouts/_rels/slideLayout105.xml.rels" ContentType="application/vnd.openxmlformats-package.relationships+xml"/>
  <Override PartName="/ppt/slideLayouts/_rels/slideLayout53.xml.rels" ContentType="application/vnd.openxmlformats-package.relationships+xml"/>
  <Override PartName="/ppt/slideLayouts/_rels/slideLayout81.xml.rels" ContentType="application/vnd.openxmlformats-package.relationships+xml"/>
  <Override PartName="/ppt/slideLayouts/_rels/slideLayout107.xml.rels" ContentType="application/vnd.openxmlformats-package.relationships+xml"/>
  <Override PartName="/ppt/slideLayouts/_rels/slideLayout65.xml.rels" ContentType="application/vnd.openxmlformats-package.relationships+xml"/>
  <Override PartName="/ppt/slideLayouts/_rels/slideLayout117.xml.rels" ContentType="application/vnd.openxmlformats-package.relationships+xml"/>
  <Override PartName="/ppt/slideLayouts/_rels/slideLayout74.xml.rels" ContentType="application/vnd.openxmlformats-package.relationships+xml"/>
  <Override PartName="/ppt/slideLayouts/_rels/slideLayout109.xml.rels" ContentType="application/vnd.openxmlformats-package.relationships+xml"/>
  <Override PartName="/ppt/slideLayouts/_rels/slideLayout113.xml.rels" ContentType="application/vnd.openxmlformats-package.relationships+xml"/>
  <Override PartName="/ppt/slideLayouts/_rels/slideLayout110.xml.rels" ContentType="application/vnd.openxmlformats-package.relationships+xml"/>
  <Override PartName="/ppt/slideLayouts/_rels/slideLayout103.xml.rels" ContentType="application/vnd.openxmlformats-package.relationships+xml"/>
  <Override PartName="/ppt/slideLayouts/_rels/slideLayout94.xml.rels" ContentType="application/vnd.openxmlformats-package.relationships+xml"/>
  <Override PartName="/ppt/slideLayouts/_rels/slideLayout78.xml.rels" ContentType="application/vnd.openxmlformats-package.relationships+xml"/>
  <Override PartName="/ppt/slideLayouts/_rels/slideLayout87.xml.rels" ContentType="application/vnd.openxmlformats-package.relationships+xml"/>
  <Override PartName="/ppt/slideLayouts/_rels/slideLayout104.xml.rels" ContentType="application/vnd.openxmlformats-package.relationships+xml"/>
  <Override PartName="/ppt/slideLayouts/_rels/slideLayout52.xml.rels" ContentType="application/vnd.openxmlformats-package.relationships+xml"/>
  <Override PartName="/ppt/slideLayouts/_rels/slideLayout111.xml.rels" ContentType="application/vnd.openxmlformats-package.relationships+xml"/>
  <Override PartName="/ppt/slideLayouts/_rels/slideLayout6.xml.rels" ContentType="application/vnd.openxmlformats-package.relationships+xml"/>
  <Override PartName="/ppt/slideLayouts/_rels/slideLayout80.xml.rels" ContentType="application/vnd.openxmlformats-package.relationships+xml"/>
  <Override PartName="/ppt/slideLayouts/_rels/slideLayout106.xml.rels" ContentType="application/vnd.openxmlformats-package.relationships+xml"/>
  <Override PartName="/ppt/slideLayouts/_rels/slideLayout64.xml.rels" ContentType="application/vnd.openxmlformats-package.relationships+xml"/>
  <Override PartName="/ppt/slideLayouts/_rels/slideLayout116.xml.rels" ContentType="application/vnd.openxmlformats-package.relationships+xml"/>
  <Override PartName="/ppt/slideLayouts/_rels/slideLayout88.xml.rels" ContentType="application/vnd.openxmlformats-package.relationships+xml"/>
  <Override PartName="/ppt/slideLayouts/_rels/slideLayout95.xml.rels" ContentType="application/vnd.openxmlformats-package.relationships+xml"/>
  <Override PartName="/ppt/slideLayouts/_rels/slideLayout79.xml.rels" ContentType="application/vnd.openxmlformats-package.relationships+xml"/>
  <Override PartName="/ppt/slideLayouts/_rels/slideLayout83.xml.rels" ContentType="application/vnd.openxmlformats-package.relationships+xml"/>
  <Override PartName="/ppt/slideLayouts/_rels/slideLayout30.xml.rels" ContentType="application/vnd.openxmlformats-package.relationships+xml"/>
  <Override PartName="/ppt/slideLayouts/_rels/slideLayout96.xml.rels" ContentType="application/vnd.openxmlformats-package.relationships+xml"/>
  <Override PartName="/ppt/slideLayouts/_rels/slideLayout43.xml.rels" ContentType="application/vnd.openxmlformats-package.relationships+xml"/>
  <Override PartName="/ppt/slideLayouts/_rels/slideLayout114.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115.xml.rels" ContentType="application/vnd.openxmlformats-package.relationships+xml"/>
  <Override PartName="/ppt/slideLayouts/_rels/slideLayout100.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55.xml.rels" ContentType="application/vnd.openxmlformats-package.relationships+xml"/>
  <Override PartName="/ppt/slideLayouts/_rels/slideLayout40.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46.xml.rels" ContentType="application/vnd.openxmlformats-package.relationships+xml"/>
  <Override PartName="/ppt/slideLayouts/_rels/slideLayout92.xml.rels" ContentType="application/vnd.openxmlformats-package.relationships+xml"/>
  <Override PartName="/ppt/slideLayouts/_rels/slideLayout38.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37.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91.xml.rels" ContentType="application/vnd.openxmlformats-package.relationships+xml"/>
  <Override PartName="/ppt/slideLayouts/_rels/slideLayout50.xml.rels" ContentType="application/vnd.openxmlformats-package.relationships+xml"/>
  <Override PartName="/ppt/slideLayouts/_rels/slideLayout99.xml.rels" ContentType="application/vnd.openxmlformats-package.relationships+xml"/>
  <Override PartName="/ppt/slideLayouts/_rels/slideLayout25.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90.xml.rels" ContentType="application/vnd.openxmlformats-package.relationships+xml"/>
  <Override PartName="/ppt/slideLayouts/_rels/slideLayout45.xml.rels" ContentType="application/vnd.openxmlformats-package.relationships+xml"/>
  <Override PartName="/ppt/slideLayouts/_rels/slideLayout98.xml.rels" ContentType="application/vnd.openxmlformats-package.relationships+xml"/>
  <Override PartName="/ppt/slideLayouts/_rels/slideLayout24.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8.xml.rels" ContentType="application/vnd.openxmlformats-package.relationships+xml"/>
  <Override PartName="/ppt/slideLayouts/_rels/slideLayout101.xml.rels" ContentType="application/vnd.openxmlformats-package.relationships+xml"/>
  <Override PartName="/ppt/slideLayouts/_rels/slideLayout86.xml.rels" ContentType="application/vnd.openxmlformats-package.relationships+xml"/>
  <Override PartName="/ppt/slideLayouts/_rels/slideLayout77.xml.rels" ContentType="application/vnd.openxmlformats-package.relationships+xml"/>
  <Override PartName="/ppt/slideLayouts/_rels/slideLayout102.xml.rels" ContentType="application/vnd.openxmlformats-package.relationships+xml"/>
  <Override PartName="/ppt/slideLayouts/_rels/slideLayout120.xml.rels" ContentType="application/vnd.openxmlformats-package.relationships+xml"/>
  <Override PartName="/ppt/slideLayouts/_rels/slideLayout93.xml.rels" ContentType="application/vnd.openxmlformats-package.relationships+xml"/>
  <Override PartName="/ppt/slideLayouts/_rels/slideLayout119.xml.rels" ContentType="application/vnd.openxmlformats-package.relationships+xml"/>
  <Override PartName="/ppt/slideLayouts/_rels/slideLayout44.xml.rels" ContentType="application/vnd.openxmlformats-package.relationships+xml"/>
  <Override PartName="/ppt/slideLayouts/_rels/slideLayout97.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8.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117.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16.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5.xml" ContentType="application/vnd.openxmlformats-officedocument.presentationml.slideLayout+xml"/>
  <Override PartName="/ppt/slideLayouts/slideLayout27.xml" ContentType="application/vnd.openxmlformats-officedocument.presentationml.slideLayout+xml"/>
  <Override PartName="/ppt/slideLayouts/slideLayout92.xml" ContentType="application/vnd.openxmlformats-officedocument.presentationml.slideLayout+xml"/>
  <Override PartName="/ppt/slideLayouts/slideLayout26.xml" ContentType="application/vnd.openxmlformats-officedocument.presentationml.slideLayout+xml"/>
  <Override PartName="/ppt/slideLayouts/slideLayout91.xml" ContentType="application/vnd.openxmlformats-officedocument.presentationml.slideLayout+xml"/>
  <Override PartName="/ppt/slideLayouts/slideLayout25.xml" ContentType="application/vnd.openxmlformats-officedocument.presentationml.slideLayout+xml"/>
  <Override PartName="/ppt/slideLayouts/slideLayout9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58.xml" ContentType="application/vnd.openxmlformats-officedocument.presentationml.slideLayout+xml"/>
  <Override PartName="/ppt/slideLayouts/slideLayout21.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100.xml" ContentType="application/vnd.openxmlformats-officedocument.presentationml.slideLayout+xml"/>
  <Override PartName="/ppt/slideLayouts/slideLayout95.xml" ContentType="application/vnd.openxmlformats-officedocument.presentationml.slideLayout+xml"/>
  <Override PartName="/ppt/slideLayouts/slideLayout108.xml" ContentType="application/vnd.openxmlformats-officedocument.presentationml.slideLayout+xml"/>
  <Override PartName="/ppt/slideLayouts/slideLayout101.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slideLayouts/slideLayout102.xml" ContentType="application/vnd.openxmlformats-officedocument.presentationml.slideLayout+xml"/>
  <Override PartName="/ppt/slideLayouts/slideLayout77.xml" ContentType="application/vnd.openxmlformats-officedocument.presentationml.slideLayout+xml"/>
  <Override PartName="/ppt/slideLayouts/slideLayout120.xml" ContentType="application/vnd.openxmlformats-officedocument.presentationml.slideLayout+xml"/>
  <Override PartName="/ppt/slideLayouts/slideLayout65.xml" ContentType="application/vnd.openxmlformats-officedocument.presentationml.slideLayout+xml"/>
  <Override PartName="/ppt/slideLayouts/slideLayout114.xml" ContentType="application/vnd.openxmlformats-officedocument.presentationml.slideLayout+xml"/>
  <Override PartName="/ppt/slideLayouts/slideLayout113.xml" ContentType="application/vnd.openxmlformats-officedocument.presentationml.slideLayout+xml"/>
  <Override PartName="/ppt/slideLayouts/slideLayout1.xml" ContentType="application/vnd.openxmlformats-officedocument.presentationml.slideLayout+xml"/>
  <Override PartName="/ppt/slideLayouts/slideLayout112.xml" ContentType="application/vnd.openxmlformats-officedocument.presentationml.slideLayout+xml"/>
  <Override PartName="/ppt/slideLayouts/slideLayout111.xml" ContentType="application/vnd.openxmlformats-officedocument.presentationml.slideLayout+xml"/>
  <Override PartName="/ppt/slideLayouts/slideLayout110.xml" ContentType="application/vnd.openxmlformats-officedocument.presentationml.slideLayout+xml"/>
  <Override PartName="/ppt/slideLayouts/slideLayout107.xml" ContentType="application/vnd.openxmlformats-officedocument.presentationml.slideLayout+xml"/>
  <Override PartName="/ppt/slideLayouts/slideLayout106.xml" ContentType="application/vnd.openxmlformats-officedocument.presentationml.slideLayout+xml"/>
  <Override PartName="/ppt/slideLayouts/slideLayout99.xml" ContentType="application/vnd.openxmlformats-officedocument.presentationml.slideLayout+xml"/>
  <Override PartName="/ppt/slideLayouts/slideLayout62.xml" ContentType="application/vnd.openxmlformats-officedocument.presentationml.slideLayout+xml"/>
  <Override PartName="/ppt/slideLayouts/slideLayout105.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104.xml" ContentType="application/vnd.openxmlformats-officedocument.presentationml.slideLayout+xml"/>
  <Override PartName="/ppt/slideLayouts/slideLayout97.xml" ContentType="application/vnd.openxmlformats-officedocument.presentationml.slideLayout+xml"/>
  <Override PartName="/ppt/slideLayouts/slideLayout60.xml" ContentType="application/vnd.openxmlformats-officedocument.presentationml.slideLayout+xml"/>
  <Override PartName="/ppt/slideLayouts/slideLayout103.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71.xml" ContentType="application/vnd.openxmlformats-officedocument.presentationml.slideLayout+xml"/>
  <Override PartName="/ppt/slideLayouts/slideLayout94.xml" ContentType="application/vnd.openxmlformats-officedocument.presentationml.slideLayout+xml"/>
  <Override PartName="/ppt/slideLayouts/slideLayout29.xml" ContentType="application/vnd.openxmlformats-officedocument.presentationml.slideLayout+xml"/>
  <Override PartName="/ppt/slideLayouts/slideLayout70.xml" ContentType="application/vnd.openxmlformats-officedocument.presentationml.slideLayout+xml"/>
  <Override PartName="/ppt/slideLayouts/slideLayout93.xml" ContentType="application/vnd.openxmlformats-officedocument.presentationml.slideLayout+xml"/>
  <Override PartName="/ppt/slideLayouts/slideLayout28.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14.xml" ContentType="application/vnd.openxmlformats-officedocument.presentationml.slideLayout+xml"/>
  <Override PartName="/ppt/slideLayouts/slideLayout119.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media/image29.png" ContentType="image/png"/>
  <Override PartName="/ppt/media/image27.png" ContentType="image/png"/>
  <Override PartName="/ppt/media/image22.png" ContentType="image/png"/>
  <Override PartName="/ppt/media/image24.jpeg" ContentType="image/jpeg"/>
  <Override PartName="/ppt/media/image21.png" ContentType="image/png"/>
  <Override PartName="/ppt/media/image19.jpeg" ContentType="image/jpeg"/>
  <Override PartName="/ppt/media/image25.png" ContentType="image/png"/>
  <Override PartName="/ppt/media/image17.jpeg" ContentType="image/jpeg"/>
  <Override PartName="/ppt/media/image16.jpeg" ContentType="image/jpeg"/>
  <Override PartName="/ppt/media/image35.wmf" ContentType="image/x-wmf"/>
  <Override PartName="/ppt/media/image26.wmf" ContentType="image/x-wmf"/>
  <Override PartName="/ppt/media/image15.jpeg" ContentType="image/jpeg"/>
  <Override PartName="/ppt/media/image14.jpeg" ContentType="image/jpeg"/>
  <Override PartName="/ppt/media/image1.jpeg" ContentType="image/jpeg"/>
  <Override PartName="/ppt/media/image10.png" ContentType="image/png"/>
  <Override PartName="/ppt/media/image32.png" ContentType="image/png"/>
  <Override PartName="/ppt/media/image44.png" ContentType="image/png"/>
  <Override PartName="/ppt/media/image13.jpeg" ContentType="image/jpeg"/>
  <Override PartName="/ppt/media/image23.png" ContentType="image/png"/>
  <Override PartName="/ppt/media/image33.png" ContentType="image/png"/>
  <Override PartName="/ppt/media/image34.wmf" ContentType="image/x-wmf"/>
  <Override PartName="/ppt/media/image36.png" ContentType="image/png"/>
  <Override PartName="/ppt/media/image9.png" ContentType="image/png"/>
  <Override PartName="/ppt/media/image37.wmf" ContentType="image/x-wmf"/>
  <Override PartName="/ppt/media/image39.wmf" ContentType="image/x-wmf"/>
  <Override PartName="/ppt/media/image41.png" ContentType="image/png"/>
  <Override PartName="/ppt/media/image42.png" ContentType="image/png"/>
  <Override PartName="/ppt/media/image31.png" ContentType="image/png"/>
  <Override PartName="/ppt/media/image43.png" ContentType="image/png"/>
  <Override PartName="/ppt/media/image8.jpeg" ContentType="image/jpeg"/>
  <Override PartName="/ppt/media/image12.jpeg" ContentType="image/jpeg"/>
  <Override PartName="/ppt/media/image28.png" ContentType="image/png"/>
  <Override PartName="/ppt/media/image7.jpeg" ContentType="image/jpeg"/>
  <Override PartName="/ppt/media/image2.jpeg" ContentType="image/jpeg"/>
  <Override PartName="/ppt/media/image20.png" ContentType="image/png"/>
  <Override PartName="/ppt/media/image11.jpeg" ContentType="image/jpeg"/>
  <Override PartName="/ppt/media/image18.png" ContentType="image/png"/>
  <Override PartName="/ppt/media/image6.jpeg" ContentType="image/jpeg"/>
  <Override PartName="/ppt/media/image5.jpeg" ContentType="image/jpeg"/>
  <Override PartName="/ppt/media/image38.wmf" ContentType="image/x-wmf"/>
  <Override PartName="/ppt/media/image40.png" ContentType="image/png"/>
  <Override PartName="/ppt/media/image4.jpeg" ContentType="image/jpeg"/>
  <Override PartName="/ppt/media/image30.png" ContentType="image/png"/>
  <Override PartName="/ppt/media/image3.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_rels/slide41.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83.xml.rels" ContentType="application/vnd.openxmlformats-package.relationships+xml"/>
  <Override PartName="/ppt/slides/_rels/slide79.xml.rels" ContentType="application/vnd.openxmlformats-package.relationships+xml"/>
  <Override PartName="/ppt/slides/_rels/slide30.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1.xml.rels" ContentType="application/vnd.openxmlformats-package.relationships+xml"/>
  <Override PartName="/ppt/slides/_rels/slide3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71.xml.rels" ContentType="application/vnd.openxmlformats-package.relationships+xml"/>
  <Override PartName="/ppt/slides/_rels/slide67.xml.rels" ContentType="application/vnd.openxmlformats-package.relationships+xml"/>
  <Override PartName="/ppt/slides/_rels/slide77.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72.xml.rels" ContentType="application/vnd.openxmlformats-package.relationships+xml"/>
  <Override PartName="/ppt/slides/_rels/slide68.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36.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48.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28.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31.xml.rels" ContentType="application/vnd.openxmlformats-package.relationships+xml"/>
  <Override PartName="/ppt/slides/_rels/slide39.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53.xml.rels" ContentType="application/vnd.openxmlformats-package.relationships+xml"/>
  <Override PartName="/ppt/slides/_rels/slide46.xml.rels" ContentType="application/vnd.openxmlformats-package.relationships+xml"/>
  <Override PartName="/ppt/slides/_rels/slide62.xml.rels" ContentType="application/vnd.openxmlformats-package.relationships+xml"/>
  <Override PartName="/ppt/slides/_rels/slide49.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65.xml.rels" ContentType="application/vnd.openxmlformats-package.relationships+xml"/>
  <Override PartName="/ppt/slides/_rels/slide74.xml.rels" ContentType="application/vnd.openxmlformats-package.relationships+xml"/>
  <Override PartName="/ppt/slides/_rels/slide58.xml.rels" ContentType="application/vnd.openxmlformats-package.relationships+xml"/>
  <Override PartName="/ppt/slides/_rels/slide81.xml.rels" ContentType="application/vnd.openxmlformats-package.relationships+xml"/>
  <Override PartName="/ppt/slides/_rels/slide66.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75.xml.rels" ContentType="application/vnd.openxmlformats-package.relationships+xml"/>
  <Override PartName="/ppt/slides/_rels/slide82.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69.xml.rels" ContentType="application/vnd.openxmlformats-package.relationships+xml"/>
  <Override PartName="/ppt/slides/_rels/slide73.xml.rels" ContentType="application/vnd.openxmlformats-package.relationships+xml"/>
  <Override PartName="/ppt/slides/_rels/slide80.xml.rels" ContentType="application/vnd.openxmlformats-package.relationships+xml"/>
  <Override PartName="/ppt/slides/_rels/slide25.xml.rels" ContentType="application/vnd.openxmlformats-package.relationships+xml"/>
  <Override PartName="/ppt/slides/_rels/slide59.xml.rels" ContentType="application/vnd.openxmlformats-package.relationships+xml"/>
  <Override PartName="/ppt/slides/_rels/slide10.xml.rels" ContentType="application/vnd.openxmlformats-package.relationships+xml"/>
  <Override PartName="/ppt/slides/_rels/slide78.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60.xml" ContentType="application/vnd.openxmlformats-officedocument.presentationml.slide+xml"/>
  <Override PartName="/ppt/slides/slide24.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79.xml" ContentType="application/vnd.openxmlformats-officedocument.presentationml.slide+xml"/>
  <Override PartName="/ppt/slides/slide42.xml" ContentType="application/vnd.openxmlformats-officedocument.presentationml.slide+xml"/>
  <Override PartName="/ppt/slides/slide67.xml" ContentType="application/vnd.openxmlformats-officedocument.presentationml.slide+xml"/>
  <Override PartName="/ppt/slides/slide78.xml" ContentType="application/vnd.openxmlformats-officedocument.presentationml.slide+xml"/>
  <Override PartName="/ppt/slides/slide41.xml" ContentType="application/vnd.openxmlformats-officedocument.presentationml.slide+xml"/>
  <Override PartName="/ppt/slides/slide77.xml" ContentType="application/vnd.openxmlformats-officedocument.presentationml.slide+xml"/>
  <Override PartName="/ppt/slides/slide40.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2.xml" ContentType="application/vnd.openxmlformats-officedocument.presentationml.slide+xml"/>
  <Override PartName="/ppt/slides/slide73.xml" ContentType="application/vnd.openxmlformats-officedocument.presentationml.slide+xml"/>
  <Override PartName="/ppt/slides/slide1.xml" ContentType="application/vnd.openxmlformats-officedocument.presentationml.slide+xml"/>
  <Override PartName="/ppt/slides/slide7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IN" sz="4400" spc="-1" strike="noStrike">
                <a:solidFill>
                  <a:srgbClr val="000000"/>
                </a:solidFill>
                <a:latin typeface="Arial"/>
              </a:rPr>
              <a:t>Click to move the slide</a:t>
            </a:r>
            <a:endParaRPr b="0" lang="en-IN" sz="4400" spc="-1" strike="noStrike">
              <a:solidFill>
                <a:srgbClr val="000000"/>
              </a:solidFill>
              <a:latin typeface="Arial"/>
            </a:endParaRPr>
          </a:p>
        </p:txBody>
      </p:sp>
      <p:sp>
        <p:nvSpPr>
          <p:cNvPr id="38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38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389"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390"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91"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DFE717CC-B09F-4AA3-8FAA-A1FA1CED1DE4}"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sldImg"/>
          </p:nvPr>
        </p:nvSpPr>
        <p:spPr>
          <a:xfrm>
            <a:off x="685800" y="1143000"/>
            <a:ext cx="5484240" cy="3084120"/>
          </a:xfrm>
          <a:prstGeom prst="rect">
            <a:avLst/>
          </a:prstGeom>
          <a:ln w="0">
            <a:noFill/>
          </a:ln>
        </p:spPr>
      </p:sp>
      <p:sp>
        <p:nvSpPr>
          <p:cNvPr id="651" name="PlaceHolder 2"/>
          <p:cNvSpPr>
            <a:spLocks noGrp="1"/>
          </p:cNvSpPr>
          <p:nvPr>
            <p:ph type="body"/>
          </p:nvPr>
        </p:nvSpPr>
        <p:spPr>
          <a:xfrm>
            <a:off x="685800" y="4400640"/>
            <a:ext cx="5484240" cy="3598200"/>
          </a:xfrm>
          <a:prstGeom prst="rect">
            <a:avLst/>
          </a:prstGeom>
          <a:noFill/>
          <a:ln w="0">
            <a:noFill/>
          </a:ln>
        </p:spPr>
        <p:txBody>
          <a:bodyPr lIns="0" rIns="0" tIns="0" bIns="0" anchor="t">
            <a:noAutofit/>
          </a:bodyPr>
          <a:p>
            <a:pPr marL="216000" indent="0">
              <a:buNone/>
            </a:pPr>
            <a:endParaRPr b="0" lang="en-IN" sz="1800" spc="-1" strike="noStrike">
              <a:solidFill>
                <a:srgbClr val="000000"/>
              </a:solidFill>
              <a:latin typeface="Arial"/>
            </a:endParaRPr>
          </a:p>
        </p:txBody>
      </p:sp>
      <p:sp>
        <p:nvSpPr>
          <p:cNvPr id="652" name="TextShape 3"/>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tabLst>
                <a:tab algn="l" pos="0"/>
              </a:tabLst>
            </a:pPr>
            <a:fld id="{2F6736EB-4063-462E-ACDC-874AA73C2F67}" type="slidenum">
              <a:rPr b="0" lang="en-US" sz="1200" spc="-1" strike="noStrike">
                <a:solidFill>
                  <a:srgbClr val="000000"/>
                </a:solidFill>
                <a:latin typeface="Calibri"/>
                <a:ea typeface="+mn-ea"/>
              </a:rPr>
              <a:t>&lt;number&gt;</a:t>
            </a:fld>
            <a:endParaRPr b="0" lang="en-IN"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sldImg"/>
          </p:nvPr>
        </p:nvSpPr>
        <p:spPr>
          <a:xfrm>
            <a:off x="685800" y="1143000"/>
            <a:ext cx="5484240" cy="3084120"/>
          </a:xfrm>
          <a:prstGeom prst="rect">
            <a:avLst/>
          </a:prstGeom>
          <a:ln w="0">
            <a:noFill/>
          </a:ln>
        </p:spPr>
      </p:sp>
      <p:sp>
        <p:nvSpPr>
          <p:cNvPr id="654" name="PlaceHolder 2"/>
          <p:cNvSpPr>
            <a:spLocks noGrp="1"/>
          </p:cNvSpPr>
          <p:nvPr>
            <p:ph type="body"/>
          </p:nvPr>
        </p:nvSpPr>
        <p:spPr>
          <a:xfrm>
            <a:off x="685800" y="4400640"/>
            <a:ext cx="5484240" cy="3598200"/>
          </a:xfrm>
          <a:prstGeom prst="rect">
            <a:avLst/>
          </a:prstGeom>
          <a:noFill/>
          <a:ln w="0">
            <a:noFill/>
          </a:ln>
        </p:spPr>
        <p:txBody>
          <a:bodyPr lIns="0" rIns="0" tIns="0" bIns="0" anchor="t">
            <a:noAutofit/>
          </a:bodyPr>
          <a:p>
            <a:pPr marL="216000" indent="0">
              <a:buNone/>
            </a:pPr>
            <a:endParaRPr b="0" lang="en-IN" sz="1800" spc="-1" strike="noStrike">
              <a:solidFill>
                <a:srgbClr val="000000"/>
              </a:solidFill>
              <a:latin typeface="Arial"/>
            </a:endParaRPr>
          </a:p>
        </p:txBody>
      </p:sp>
      <p:sp>
        <p:nvSpPr>
          <p:cNvPr id="655" name="TextShape 3"/>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tabLst>
                <a:tab algn="l" pos="0"/>
              </a:tabLst>
            </a:pPr>
            <a:fld id="{CF3574F3-AF71-432B-9276-5DB089055B07}" type="slidenum">
              <a:rPr b="0" lang="en-US" sz="1200" spc="-1" strike="noStrike">
                <a:solidFill>
                  <a:srgbClr val="000000"/>
                </a:solidFill>
                <a:latin typeface="Calibri"/>
                <a:ea typeface="+mn-ea"/>
              </a:rPr>
              <a:t>&lt;number&gt;</a:t>
            </a:fld>
            <a:endParaRPr b="0" lang="en-IN"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685800" y="1143000"/>
            <a:ext cx="5484240" cy="3084120"/>
          </a:xfrm>
          <a:prstGeom prst="rect">
            <a:avLst/>
          </a:prstGeom>
          <a:ln w="0">
            <a:noFill/>
          </a:ln>
        </p:spPr>
      </p:sp>
      <p:sp>
        <p:nvSpPr>
          <p:cNvPr id="657" name="PlaceHolder 2"/>
          <p:cNvSpPr>
            <a:spLocks noGrp="1"/>
          </p:cNvSpPr>
          <p:nvPr>
            <p:ph type="body"/>
          </p:nvPr>
        </p:nvSpPr>
        <p:spPr>
          <a:xfrm>
            <a:off x="685800" y="4400640"/>
            <a:ext cx="5484240" cy="3598200"/>
          </a:xfrm>
          <a:prstGeom prst="rect">
            <a:avLst/>
          </a:prstGeom>
          <a:noFill/>
          <a:ln w="0">
            <a:noFill/>
          </a:ln>
        </p:spPr>
        <p:txBody>
          <a:bodyPr lIns="0" rIns="0" tIns="0" bIns="0" anchor="t">
            <a:noAutofit/>
          </a:bodyPr>
          <a:p>
            <a:pPr marL="216000" indent="0">
              <a:buNone/>
            </a:pPr>
            <a:endParaRPr b="0" lang="en-IN" sz="1800" spc="-1" strike="noStrike">
              <a:solidFill>
                <a:srgbClr val="000000"/>
              </a:solidFill>
              <a:latin typeface="Arial"/>
            </a:endParaRPr>
          </a:p>
        </p:txBody>
      </p:sp>
      <p:sp>
        <p:nvSpPr>
          <p:cNvPr id="658" name="TextShape 3"/>
          <p:cNvSpPr/>
          <p:nvPr/>
        </p:nvSpPr>
        <p:spPr>
          <a:xfrm>
            <a:off x="3884760" y="8685360"/>
            <a:ext cx="296964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tabLst>
                <a:tab algn="l" pos="0"/>
              </a:tabLst>
            </a:pPr>
            <a:fld id="{D6460FE3-DD5D-41E6-A2F4-449440DD143D}" type="slidenum">
              <a:rPr b="0" lang="en-US" sz="1200" spc="-1" strike="noStrike">
                <a:solidFill>
                  <a:srgbClr val="000000"/>
                </a:solidFill>
                <a:latin typeface="Calibri"/>
                <a:ea typeface="+mn-ea"/>
              </a:rPr>
              <a:t>&lt;number&gt;</a:t>
            </a:fld>
            <a:endParaRPr b="0" lang="en-IN"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4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4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4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5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5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5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7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7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7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7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7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7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7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8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8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8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8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8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9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9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9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9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9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9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9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0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0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0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0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0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0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08"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09"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10"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11"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12"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13"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8E0021F1-6899-432C-9037-8A550919F7FA}" type="slidenum">
              <a:t>&lt;#&gt;</a:t>
            </a:fld>
          </a:p>
        </p:txBody>
      </p:sp>
      <p:sp>
        <p:nvSpPr>
          <p:cNvPr id="4" name="PlaceHolder 3"/>
          <p:cNvSpPr>
            <a:spLocks noGrp="1"/>
          </p:cNvSpPr>
          <p:nvPr>
            <p:ph type="dt" idx="3"/>
          </p:nvPr>
        </p:nvSpPr>
        <p:spPr/>
        <p:txBody>
          <a:bodyPr/>
          <a:p>
            <a:r>
              <a:rPr lang="en-IN"/>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2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ADCB54A-7076-4FE0-84E5-0810F0929C15}"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2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3E12A03-2FDC-4AD9-894A-4BBD9DE287C1}"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2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2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5F0C05F-471F-4035-9448-2F814058BC22}"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599A6CC9-AF4F-4152-97CA-174338696A81}"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7CC9639-EDDD-49D6-9024-3ED42001F257}"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2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3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F8A7DD4-0382-469D-8F87-F5BE7DC45B1F}"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3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3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3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4869AAC-E87B-4521-82F6-EC1DE67EAEFE}"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3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3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3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8C5DEEA-1842-4459-86EB-339062F14B16}"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4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4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A9F766D-B8E4-4D41-B4CF-E64085753253}"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4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4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4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4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937CE90D-7CFB-4BE0-A4A5-080702DED848}" type="slidenum">
              <a:t>&lt;#&gt;</a:t>
            </a:fld>
          </a:p>
        </p:txBody>
      </p:sp>
      <p:sp>
        <p:nvSpPr>
          <p:cNvPr id="9" name="PlaceHolder 8"/>
          <p:cNvSpPr>
            <a:spLocks noGrp="1"/>
          </p:cNvSpPr>
          <p:nvPr>
            <p:ph type="dt" idx="3"/>
          </p:nvPr>
        </p:nvSpPr>
        <p:spPr/>
        <p:txBody>
          <a:bodyPr/>
          <a:p>
            <a:r>
              <a:rPr lang="en-IN"/>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4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5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5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5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5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5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74B7BD85-8835-413B-A58C-CFF7D7D73E8E}" type="slidenum">
              <a:t>&lt;#&gt;</a:t>
            </a:fld>
          </a:p>
        </p:txBody>
      </p:sp>
      <p:sp>
        <p:nvSpPr>
          <p:cNvPr id="11" name="PlaceHolder 10"/>
          <p:cNvSpPr>
            <a:spLocks noGrp="1"/>
          </p:cNvSpPr>
          <p:nvPr>
            <p:ph type="dt" idx="3"/>
          </p:nvPr>
        </p:nvSpPr>
        <p:spPr/>
        <p:txBody>
          <a:bodyPr/>
          <a:p>
            <a:r>
              <a:rPr lang="en-IN"/>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5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6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6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6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6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6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6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7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7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7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7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7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7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8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8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8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8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8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8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8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8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9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9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19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0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0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0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0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0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1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1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1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1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1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1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2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2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3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48AC272A-4AD9-44BB-8E9C-2B50AEDC9941}" type="slidenum">
              <a:t>&lt;#&gt;</a:t>
            </a:fld>
          </a:p>
        </p:txBody>
      </p:sp>
      <p:sp>
        <p:nvSpPr>
          <p:cNvPr id="4" name="PlaceHolder 3"/>
          <p:cNvSpPr>
            <a:spLocks noGrp="1"/>
          </p:cNvSpPr>
          <p:nvPr>
            <p:ph type="dt" idx="6"/>
          </p:nvPr>
        </p:nvSpPr>
        <p:spPr/>
        <p:txBody>
          <a:bodyPr/>
          <a:p>
            <a:r>
              <a:rPr lang="en-IN"/>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3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DB9B0DE-F4B7-44E3-8457-4832AF43C287}"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3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72118A2-6FA0-4EF8-90C4-44888189733C}"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4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4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32FF34E3-EC5B-4506-A891-EDE156C86377}"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BB627D0A-6761-4ABE-8514-47B312A3C6C2}"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0F6A57DE-7BE1-4ED7-A113-B7F990219DB6}"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4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4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4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AC4D32F-6A8E-4F4F-B348-6901FD7E80CC}"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5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5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5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A3E285D7-CCE6-4FA7-B253-7343CCFE73C4}"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5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5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5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4CB4E8C5-F3D7-4AFA-9E4A-6B1A5AAAECA6}"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5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5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F9EFA13A-0223-4269-8D70-0722CA6046D6}"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6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6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6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6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14E54972-CE48-429C-AE30-EB72E4C7FD04}" type="slidenum">
              <a:t>&lt;#&gt;</a:t>
            </a:fld>
          </a:p>
        </p:txBody>
      </p:sp>
      <p:sp>
        <p:nvSpPr>
          <p:cNvPr id="9" name="PlaceHolder 8"/>
          <p:cNvSpPr>
            <a:spLocks noGrp="1"/>
          </p:cNvSpPr>
          <p:nvPr>
            <p:ph type="dt" idx="6"/>
          </p:nvPr>
        </p:nvSpPr>
        <p:spPr/>
        <p:txBody>
          <a:bodyPr/>
          <a:p>
            <a:r>
              <a:rPr lang="en-IN"/>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6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6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6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6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7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7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6A3FB966-3F5D-47C1-AF6F-3E7EF6955CFF}" type="slidenum">
              <a:t>&lt;#&gt;</a:t>
            </a:fld>
          </a:p>
        </p:txBody>
      </p:sp>
      <p:sp>
        <p:nvSpPr>
          <p:cNvPr id="11" name="PlaceHolder 10"/>
          <p:cNvSpPr>
            <a:spLocks noGrp="1"/>
          </p:cNvSpPr>
          <p:nvPr>
            <p:ph type="dt" idx="6"/>
          </p:nvPr>
        </p:nvSpPr>
        <p:spPr/>
        <p:txBody>
          <a:bodyPr/>
          <a:p>
            <a:r>
              <a:rPr lang="en-IN"/>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7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8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8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8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8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8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8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8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9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9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9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9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9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29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9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0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0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1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1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1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1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2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2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2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2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2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2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2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3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3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3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3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3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3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4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4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4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4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4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4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4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5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5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5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5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5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IN" sz="3200" spc="-1" strike="noStrike">
              <a:solidFill>
                <a:srgbClr val="000000"/>
              </a:solidFill>
              <a:latin typeface="Arial"/>
            </a:endParaRP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6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6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6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6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6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6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7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7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7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7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7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7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7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8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8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8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8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8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8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3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7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PlaceHolder 1"/>
          <p:cNvSpPr>
            <a:spLocks noGrp="1"/>
          </p:cNvSpPr>
          <p:nvPr>
            <p:ph type="ftr" idx="1"/>
          </p:nvPr>
        </p:nvSpPr>
        <p:spPr>
          <a:xfrm>
            <a:off x="4038480" y="6356520"/>
            <a:ext cx="4113360" cy="36360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5" name="PlaceHolder 2"/>
          <p:cNvSpPr>
            <a:spLocks noGrp="1"/>
          </p:cNvSpPr>
          <p:nvPr>
            <p:ph type="sldNum" idx="2"/>
          </p:nvPr>
        </p:nvSpPr>
        <p:spPr>
          <a:xfrm>
            <a:off x="8610480" y="6356520"/>
            <a:ext cx="2741760" cy="36360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68436FD3-6FDD-40BA-8F92-2E2FBDB4C249}" type="slidenum">
              <a:rPr b="0" lang="en-US" sz="1200" spc="-1" strike="noStrike">
                <a:solidFill>
                  <a:srgbClr val="8b8b8b"/>
                </a:solidFill>
                <a:latin typeface="Calibri"/>
              </a:rPr>
              <a:t>&lt;number&gt;</a:t>
            </a:fld>
            <a:endParaRPr b="0" lang="en-IN" sz="1200" spc="-1" strike="noStrike">
              <a:solidFill>
                <a:srgbClr val="000000"/>
              </a:solidFill>
              <a:latin typeface="Times New Roman"/>
            </a:endParaRPr>
          </a:p>
        </p:txBody>
      </p:sp>
      <p:sp>
        <p:nvSpPr>
          <p:cNvPr id="116" name="PlaceHolder 3"/>
          <p:cNvSpPr>
            <a:spLocks noGrp="1"/>
          </p:cNvSpPr>
          <p:nvPr>
            <p:ph type="dt" idx="3"/>
          </p:nvPr>
        </p:nvSpPr>
        <p:spPr>
          <a:xfrm>
            <a:off x="838080" y="6356520"/>
            <a:ext cx="2741760" cy="363600"/>
          </a:xfrm>
          <a:prstGeom prst="rect">
            <a:avLst/>
          </a:prstGeom>
          <a:noFill/>
          <a:ln w="0">
            <a:noFill/>
          </a:ln>
        </p:spPr>
        <p:txBody>
          <a:bodyPr lIns="90000" rIns="90000" tIns="45000" bIns="4500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11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11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15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19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232" name="PlaceHolder 2"/>
          <p:cNvSpPr>
            <a:spLocks noGrp="1"/>
          </p:cNvSpPr>
          <p:nvPr>
            <p:ph type="ftr" idx="4"/>
          </p:nvPr>
        </p:nvSpPr>
        <p:spPr>
          <a:xfrm>
            <a:off x="4038480" y="6356520"/>
            <a:ext cx="4113360" cy="36360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33" name="PlaceHolder 3"/>
          <p:cNvSpPr>
            <a:spLocks noGrp="1"/>
          </p:cNvSpPr>
          <p:nvPr>
            <p:ph type="sldNum" idx="5"/>
          </p:nvPr>
        </p:nvSpPr>
        <p:spPr>
          <a:xfrm>
            <a:off x="8610480" y="6356520"/>
            <a:ext cx="2741760" cy="36360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E1B11AA8-1AFA-4612-9FAE-235B54118D8A}" type="slidenum">
              <a:rPr b="0" lang="en-US" sz="1200" spc="-1" strike="noStrike">
                <a:solidFill>
                  <a:srgbClr val="8b8b8b"/>
                </a:solidFill>
                <a:latin typeface="Calibri"/>
              </a:rPr>
              <a:t>&lt;number&gt;</a:t>
            </a:fld>
            <a:endParaRPr b="0" lang="en-IN" sz="1200" spc="-1" strike="noStrike">
              <a:solidFill>
                <a:srgbClr val="000000"/>
              </a:solidFill>
              <a:latin typeface="Times New Roman"/>
            </a:endParaRPr>
          </a:p>
        </p:txBody>
      </p:sp>
      <p:sp>
        <p:nvSpPr>
          <p:cNvPr id="234" name="PlaceHolder 4"/>
          <p:cNvSpPr>
            <a:spLocks noGrp="1"/>
          </p:cNvSpPr>
          <p:nvPr>
            <p:ph type="dt" idx="6"/>
          </p:nvPr>
        </p:nvSpPr>
        <p:spPr>
          <a:xfrm>
            <a:off x="838080" y="6356520"/>
            <a:ext cx="2741760" cy="363600"/>
          </a:xfrm>
          <a:prstGeom prst="rect">
            <a:avLst/>
          </a:prstGeom>
          <a:noFill/>
          <a:ln w="0">
            <a:noFill/>
          </a:ln>
        </p:spPr>
        <p:txBody>
          <a:bodyPr lIns="90000" rIns="90000" tIns="45000" bIns="4500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23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27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31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34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37.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53.xml"/>
</Relationships>
</file>

<file path=ppt/slides/_rels/slide8.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53.xml"/>
</Relationships>
</file>

<file path=ppt/slides/_rels/slide9.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5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7.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7.xml"/>
</Relationships>
</file>

<file path=ppt/slides/_rels/slide13.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77.xml"/>
</Relationships>
</file>

<file path=ppt/slides/_rels/slide14.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53.xml"/>
</Relationships>
</file>

<file path=ppt/slides/_rels/slide1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53.xml"/>
</Relationships>
</file>

<file path=ppt/slides/_rels/slide16.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53.xml"/>
</Relationships>
</file>

<file path=ppt/slides/_rels/slide17.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53.xml"/>
</Relationships>
</file>

<file path=ppt/slides/_rels/slide18.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53.xml"/>
</Relationships>
</file>

<file path=ppt/slides/_rels/slide19.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53.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53.xml"/>
</Relationships>
</file>

<file path=ppt/slides/_rels/slide21.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5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2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61.xml"/>
</Relationships>
</file>

<file path=ppt/slides/_rels/slide2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8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2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6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3.xml"/>
</Relationships>
</file>

<file path=ppt/slides/_rels/slide3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4.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6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09.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6.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slideLayout" Target="../slideLayouts/slideLayout6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4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6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5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slideLayout" Target="../slideLayouts/slideLayout61.xml"/>
</Relationships>
</file>

<file path=ppt/slides/_rels/slide5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61.xml"/>
</Relationships>
</file>

<file path=ppt/slides/_rels/slide54.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6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58.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5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60.xml.rels><?xml version="1.0" encoding="UTF-8"?>
<Relationships xmlns="http://schemas.openxmlformats.org/package/2006/relationships"><Relationship Id="rId1" Type="http://schemas.openxmlformats.org/officeDocument/2006/relationships/image" Target="../media/image34.wmf"/><Relationship Id="rId2" Type="http://schemas.openxmlformats.org/officeDocument/2006/relationships/slideLayout" Target="../slideLayouts/slideLayout61.xml"/>
</Relationships>
</file>

<file path=ppt/slides/_rels/slide61.xml.rels><?xml version="1.0" encoding="UTF-8"?>
<Relationships xmlns="http://schemas.openxmlformats.org/package/2006/relationships"><Relationship Id="rId1" Type="http://schemas.openxmlformats.org/officeDocument/2006/relationships/image" Target="../media/image35.wmf"/><Relationship Id="rId2" Type="http://schemas.openxmlformats.org/officeDocument/2006/relationships/slideLayout" Target="../slideLayouts/slideLayout61.xml"/>
</Relationships>
</file>

<file path=ppt/slides/_rels/slide6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61.xml"/>
</Relationships>
</file>

<file path=ppt/slides/_rels/slide63.xml.rels><?xml version="1.0" encoding="UTF-8"?>
<Relationships xmlns="http://schemas.openxmlformats.org/package/2006/relationships"><Relationship Id="rId1" Type="http://schemas.openxmlformats.org/officeDocument/2006/relationships/image" Target="../media/image37.wmf"/><Relationship Id="rId2" Type="http://schemas.openxmlformats.org/officeDocument/2006/relationships/slideLayout" Target="../slideLayouts/slideLayout61.xml"/>
</Relationships>
</file>

<file path=ppt/slides/_rels/slide64.xml.rels><?xml version="1.0" encoding="UTF-8"?>
<Relationships xmlns="http://schemas.openxmlformats.org/package/2006/relationships"><Relationship Id="rId1" Type="http://schemas.openxmlformats.org/officeDocument/2006/relationships/image" Target="../media/image38.wmf"/><Relationship Id="rId2" Type="http://schemas.openxmlformats.org/officeDocument/2006/relationships/slideLayout" Target="../slideLayouts/slideLayout6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66.xml.rels><?xml version="1.0" encoding="UTF-8"?>
<Relationships xmlns="http://schemas.openxmlformats.org/package/2006/relationships"><Relationship Id="rId1" Type="http://schemas.openxmlformats.org/officeDocument/2006/relationships/image" Target="../media/image39.wmf"/><Relationship Id="rId2" Type="http://schemas.openxmlformats.org/officeDocument/2006/relationships/slideLayout" Target="../slideLayouts/slideLayout61.xml"/>
</Relationships>
</file>

<file path=ppt/slides/_rels/slide67.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61.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1.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3.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3.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61.xml"/>
</Relationships>
</file>

<file path=ppt/slides/_rels/slide74.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Layout" Target="../slideLayouts/slideLayout6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TextShape 1"/>
          <p:cNvSpPr/>
          <p:nvPr/>
        </p:nvSpPr>
        <p:spPr>
          <a:xfrm>
            <a:off x="1523880" y="291240"/>
            <a:ext cx="9141840" cy="1612440"/>
          </a:xfrm>
          <a:prstGeom prst="rect">
            <a:avLst/>
          </a:prstGeom>
          <a:gradFill rotWithShape="0">
            <a:gsLst>
              <a:gs pos="0">
                <a:srgbClr val="80b761"/>
              </a:gs>
              <a:gs pos="100000">
                <a:srgbClr val="6fb142"/>
              </a:gs>
            </a:gsLst>
            <a:lin ang="5400000"/>
          </a:gradFill>
          <a:ln w="6480">
            <a:solidFill>
              <a:srgbClr val="70ad47"/>
            </a:solidFill>
            <a:miter/>
          </a:ln>
        </p:spPr>
        <p:style>
          <a:lnRef idx="0"/>
          <a:fillRef idx="0"/>
          <a:effectRef idx="0"/>
          <a:fontRef idx="minor"/>
        </p:style>
        <p:txBody>
          <a:bodyPr lIns="90000" rIns="90000" tIns="45000" bIns="45000" anchor="b">
            <a:normAutofit fontScale="66000"/>
          </a:bodyPr>
          <a:p>
            <a:pPr algn="ctr">
              <a:lnSpc>
                <a:spcPct val="90000"/>
              </a:lnSpc>
            </a:pPr>
            <a:br>
              <a:rPr sz="1800"/>
            </a:br>
            <a:br>
              <a:rPr sz="1800"/>
            </a:br>
            <a:br>
              <a:rPr sz="1800"/>
            </a:br>
            <a:r>
              <a:rPr b="0" lang="en-US" sz="3600" spc="-1" strike="noStrike">
                <a:solidFill>
                  <a:srgbClr val="000000"/>
                </a:solidFill>
                <a:latin typeface="Calibri"/>
                <a:ea typeface="DejaVu Sans"/>
              </a:rPr>
              <a:t>The History of ARM and Microcontrollers</a:t>
            </a:r>
            <a:br>
              <a:rPr sz="1800"/>
            </a:br>
            <a:r>
              <a:rPr b="0" lang="en-US" sz="3600" spc="-1" strike="noStrike">
                <a:solidFill>
                  <a:srgbClr val="000000"/>
                </a:solidFill>
                <a:latin typeface="Calibri"/>
                <a:ea typeface="DejaVu Sans"/>
              </a:rPr>
              <a:t>Chapter 1</a:t>
            </a:r>
            <a:br>
              <a:rPr sz="3600"/>
            </a:br>
            <a:endParaRPr b="0" lang="en-IN" sz="3600" spc="-1" strike="noStrike">
              <a:solidFill>
                <a:srgbClr val="000000"/>
              </a:solidFill>
              <a:latin typeface="Arial"/>
            </a:endParaRPr>
          </a:p>
        </p:txBody>
      </p:sp>
      <p:sp>
        <p:nvSpPr>
          <p:cNvPr id="393" name="TextShape 2"/>
          <p:cNvSpPr/>
          <p:nvPr/>
        </p:nvSpPr>
        <p:spPr>
          <a:xfrm>
            <a:off x="1523880" y="3382920"/>
            <a:ext cx="3326760" cy="1653480"/>
          </a:xfrm>
          <a:prstGeom prst="rect">
            <a:avLst/>
          </a:prstGeom>
          <a:noFill/>
          <a:ln w="0">
            <a:noFill/>
          </a:ln>
        </p:spPr>
        <p:style>
          <a:lnRef idx="0"/>
          <a:fillRef idx="0"/>
          <a:effectRef idx="0"/>
          <a:fontRef idx="minor"/>
        </p:style>
        <p:txBody>
          <a:bodyPr lIns="90000" rIns="90000" tIns="45000" bIns="45000" anchor="t">
            <a:noAutofit/>
          </a:bodyPr>
          <a:p>
            <a:pPr algn="ctr">
              <a:lnSpc>
                <a:spcPct val="90000"/>
              </a:lnSpc>
              <a:spcBef>
                <a:spcPts val="1001"/>
              </a:spcBef>
              <a:tabLst>
                <a:tab algn="l" pos="0"/>
              </a:tabLst>
            </a:pPr>
            <a:r>
              <a:rPr b="0" lang="en-US" sz="2400" spc="-1" strike="noStrike">
                <a:solidFill>
                  <a:srgbClr val="000000"/>
                </a:solidFill>
                <a:latin typeface="Calibri"/>
                <a:ea typeface="DejaVu Sans"/>
              </a:rPr>
              <a:t>ARM Assembly Language Programming &amp; Architecture</a:t>
            </a:r>
            <a:endParaRPr b="0" lang="en-IN" sz="2400" spc="-1" strike="noStrike">
              <a:solidFill>
                <a:srgbClr val="000000"/>
              </a:solidFill>
              <a:latin typeface="Arial"/>
            </a:endParaRPr>
          </a:p>
        </p:txBody>
      </p:sp>
      <p:pic>
        <p:nvPicPr>
          <p:cNvPr id="394" name="Picture 3" descr=""/>
          <p:cNvPicPr/>
          <p:nvPr/>
        </p:nvPicPr>
        <p:blipFill>
          <a:blip r:embed="rId1"/>
          <a:stretch/>
        </p:blipFill>
        <p:spPr>
          <a:xfrm>
            <a:off x="7997760" y="2491560"/>
            <a:ext cx="2667960" cy="3223440"/>
          </a:xfrm>
          <a:prstGeom prst="rect">
            <a:avLst/>
          </a:prstGeom>
          <a:ln w="0">
            <a:noFill/>
          </a:ln>
        </p:spPr>
      </p:pic>
      <p:sp>
        <p:nvSpPr>
          <p:cNvPr id="395" name="TextShape 3"/>
          <p:cNvSpPr/>
          <p:nvPr/>
        </p:nvSpPr>
        <p:spPr>
          <a:xfrm>
            <a:off x="7274160" y="6123600"/>
            <a:ext cx="47613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6" name="Content Placeholder 4" descr="Microprocessor.jpg"/>
          <p:cNvPicPr/>
          <p:nvPr/>
        </p:nvPicPr>
        <p:blipFill>
          <a:blip r:embed="rId1"/>
          <a:stretch/>
        </p:blipFill>
        <p:spPr>
          <a:xfrm>
            <a:off x="1473840" y="1951560"/>
            <a:ext cx="8500320" cy="2468160"/>
          </a:xfrm>
          <a:prstGeom prst="rect">
            <a:avLst/>
          </a:prstGeom>
          <a:ln w="0">
            <a:noFill/>
          </a:ln>
        </p:spPr>
      </p:pic>
      <p:sp>
        <p:nvSpPr>
          <p:cNvPr id="397" name="CustomShape 1"/>
          <p:cNvSpPr/>
          <p:nvPr/>
        </p:nvSpPr>
        <p:spPr>
          <a:xfrm>
            <a:off x="2700360" y="4570560"/>
            <a:ext cx="67892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A Computer Made by General Purpose Microprocessor</a:t>
            </a:r>
            <a:endParaRPr b="0" lang="en-IN" sz="1800" spc="-1" strike="noStrike">
              <a:solidFill>
                <a:srgbClr val="000000"/>
              </a:solidFill>
              <a:latin typeface="Arial"/>
            </a:endParaRPr>
          </a:p>
        </p:txBody>
      </p:sp>
      <p:sp>
        <p:nvSpPr>
          <p:cNvPr id="398" name="TextShape 2"/>
          <p:cNvSpPr/>
          <p:nvPr/>
        </p:nvSpPr>
        <p:spPr>
          <a:xfrm>
            <a:off x="7069680" y="6123600"/>
            <a:ext cx="47800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399" name="CustomShape 3"/>
          <p:cNvSpPr/>
          <p:nvPr/>
        </p:nvSpPr>
        <p:spPr>
          <a:xfrm>
            <a:off x="1023120" y="910440"/>
            <a:ext cx="6867000" cy="516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800" spc="-1" strike="noStrike">
                <a:solidFill>
                  <a:srgbClr val="000000"/>
                </a:solidFill>
                <a:latin typeface="LiberationSerif-Bold"/>
                <a:ea typeface="DejaVu Sans"/>
              </a:rPr>
              <a:t>Microprocessors and Microcontrollers</a:t>
            </a:r>
            <a:endParaRPr b="0" lang="en-IN" sz="2800" spc="-1" strike="noStrike">
              <a:solidFill>
                <a:srgbClr val="000000"/>
              </a:solidFill>
              <a:latin typeface="Arial"/>
            </a:endParaRPr>
          </a:p>
        </p:txBody>
      </p:sp>
      <p:sp>
        <p:nvSpPr>
          <p:cNvPr id="400" name="CustomShape 4"/>
          <p:cNvSpPr/>
          <p:nvPr/>
        </p:nvSpPr>
        <p:spPr>
          <a:xfrm>
            <a:off x="709560" y="5105880"/>
            <a:ext cx="10629360" cy="821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The microprocessors do not contain RAM, ROM, or I/O peripherals. As a result, they must be connected externally to RAM, ROM and I/O through buses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1" name="Content Placeholder 4" descr="Microcontroller.jpg"/>
          <p:cNvPicPr/>
          <p:nvPr/>
        </p:nvPicPr>
        <p:blipFill>
          <a:blip r:embed="rId1"/>
          <a:stretch/>
        </p:blipFill>
        <p:spPr>
          <a:xfrm>
            <a:off x="1627560" y="723240"/>
            <a:ext cx="8415000" cy="3512880"/>
          </a:xfrm>
          <a:prstGeom prst="rect">
            <a:avLst/>
          </a:prstGeom>
          <a:ln w="0">
            <a:noFill/>
          </a:ln>
        </p:spPr>
      </p:pic>
      <p:sp>
        <p:nvSpPr>
          <p:cNvPr id="402" name="CustomShape 1"/>
          <p:cNvSpPr/>
          <p:nvPr/>
        </p:nvSpPr>
        <p:spPr>
          <a:xfrm>
            <a:off x="2418840" y="4401000"/>
            <a:ext cx="71884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Simplified View of the Internal Parts of Microcontrollers (SOC)</a:t>
            </a:r>
            <a:endParaRPr b="0" lang="en-IN" sz="1800" spc="-1" strike="noStrike">
              <a:solidFill>
                <a:srgbClr val="000000"/>
              </a:solidFill>
              <a:latin typeface="Arial"/>
            </a:endParaRPr>
          </a:p>
        </p:txBody>
      </p:sp>
      <p:sp>
        <p:nvSpPr>
          <p:cNvPr id="403" name="TextShape 2"/>
          <p:cNvSpPr/>
          <p:nvPr/>
        </p:nvSpPr>
        <p:spPr>
          <a:xfrm>
            <a:off x="6892200" y="6123600"/>
            <a:ext cx="46710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04" name="CustomShape 3"/>
          <p:cNvSpPr/>
          <p:nvPr/>
        </p:nvSpPr>
        <p:spPr>
          <a:xfrm>
            <a:off x="819000" y="4846680"/>
            <a:ext cx="1074420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In microcontroller, CPU, RAM, ROM, and I/Os, are put together on a single IC chip and it is called </a:t>
            </a:r>
            <a:r>
              <a:rPr b="0" i="1" lang="en-US" sz="2400" spc="-1" strike="noStrike">
                <a:solidFill>
                  <a:srgbClr val="000000"/>
                </a:solidFill>
                <a:latin typeface="Times New Roman"/>
                <a:ea typeface="DejaVu Sans"/>
              </a:rPr>
              <a:t>microcontroller</a:t>
            </a:r>
            <a:r>
              <a:rPr b="0" lang="en-US" sz="2400" spc="-1" strike="noStrike">
                <a:solidFill>
                  <a:srgbClr val="000000"/>
                </a:solidFill>
                <a:latin typeface="Times New Roman"/>
                <a:ea typeface="DejaVu Sans"/>
              </a:rPr>
              <a:t>. SOC (System on Chip) and MCU (Micro Controller Unit) are other names used to refer to microcontrollers.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TextShape 1"/>
          <p:cNvSpPr/>
          <p:nvPr/>
        </p:nvSpPr>
        <p:spPr>
          <a:xfrm>
            <a:off x="7001280" y="6260760"/>
            <a:ext cx="4643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06" name="CustomShape 2"/>
          <p:cNvSpPr/>
          <p:nvPr/>
        </p:nvSpPr>
        <p:spPr>
          <a:xfrm>
            <a:off x="641520" y="909720"/>
            <a:ext cx="10643040" cy="520884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00000"/>
              </a:lnSpc>
              <a:buClr>
                <a:srgbClr val="000000"/>
              </a:buClr>
              <a:buFont typeface="Wingdings" charset="2"/>
              <a:buChar char=""/>
            </a:pPr>
            <a:r>
              <a:rPr b="0" lang="en-US" sz="2800" spc="-1" strike="noStrike">
                <a:solidFill>
                  <a:srgbClr val="000000"/>
                </a:solidFill>
                <a:latin typeface="Times New Roman"/>
                <a:ea typeface="DejaVu Sans"/>
              </a:rPr>
              <a:t>ARM has defined the details of architecture, registers, instruction set, memory map, and timing of the ARM CPU and holds the copyright to it. </a:t>
            </a:r>
            <a:endParaRPr b="0" lang="en-IN" sz="28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800" spc="-1" strike="noStrike">
                <a:solidFill>
                  <a:srgbClr val="000000"/>
                </a:solidFill>
                <a:latin typeface="Times New Roman"/>
                <a:ea typeface="DejaVu Sans"/>
              </a:rPr>
              <a:t>The various design houses and semiconductor manufacturers license the IP (intellectual property) for the CPU and can add their own peripherals as they please. </a:t>
            </a:r>
            <a:endParaRPr b="0" lang="en-IN" sz="28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800" spc="-1" strike="noStrike">
                <a:solidFill>
                  <a:srgbClr val="000000"/>
                </a:solidFill>
                <a:latin typeface="Times New Roman"/>
                <a:ea typeface="DejaVu Sans"/>
              </a:rPr>
              <a:t>It is up to the licensee (design houses and semiconductor manufactures) to define the details of peripherals such as I/O ports, serial port UART, timer, ADC, SPI, DAC, I2C, and so on. </a:t>
            </a:r>
            <a:endParaRPr b="0" lang="en-IN" sz="28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800" spc="-1" strike="noStrike">
                <a:solidFill>
                  <a:srgbClr val="000000"/>
                </a:solidFill>
                <a:latin typeface="Times New Roman"/>
                <a:ea typeface="DejaVu Sans"/>
              </a:rPr>
              <a:t>As a result while the CPU instructions and architecture are same across all the ARM chips made by different vendors, their peripherals are not compatible.</a:t>
            </a:r>
            <a:endParaRPr b="0" lang="en-IN"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7" name="Picture 4" descr="ARMsimplifiedArchitecture.jpg"/>
          <p:cNvPicPr/>
          <p:nvPr/>
        </p:nvPicPr>
        <p:blipFill>
          <a:blip r:embed="rId1"/>
          <a:stretch/>
        </p:blipFill>
        <p:spPr>
          <a:xfrm>
            <a:off x="2879640" y="259200"/>
            <a:ext cx="5879880" cy="5293080"/>
          </a:xfrm>
          <a:prstGeom prst="rect">
            <a:avLst/>
          </a:prstGeom>
          <a:ln w="0">
            <a:noFill/>
          </a:ln>
        </p:spPr>
      </p:pic>
      <p:sp>
        <p:nvSpPr>
          <p:cNvPr id="408" name="CustomShape 1"/>
          <p:cNvSpPr/>
          <p:nvPr/>
        </p:nvSpPr>
        <p:spPr>
          <a:xfrm>
            <a:off x="4478760" y="5705280"/>
            <a:ext cx="306144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ARM Simplified Block Diagram</a:t>
            </a:r>
            <a:endParaRPr b="0" lang="en-IN" sz="1800" spc="-1" strike="noStrike">
              <a:solidFill>
                <a:srgbClr val="000000"/>
              </a:solidFill>
              <a:latin typeface="Arial"/>
            </a:endParaRPr>
          </a:p>
        </p:txBody>
      </p:sp>
      <p:sp>
        <p:nvSpPr>
          <p:cNvPr id="409" name="TextShape 2"/>
          <p:cNvSpPr/>
          <p:nvPr/>
        </p:nvSpPr>
        <p:spPr>
          <a:xfrm>
            <a:off x="7069680" y="6225120"/>
            <a:ext cx="45756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0" name="Picture 1" descr=""/>
          <p:cNvPicPr/>
          <p:nvPr/>
        </p:nvPicPr>
        <p:blipFill>
          <a:blip r:embed="rId1"/>
          <a:stretch/>
        </p:blipFill>
        <p:spPr>
          <a:xfrm>
            <a:off x="3230640" y="2100960"/>
            <a:ext cx="5729400" cy="2654640"/>
          </a:xfrm>
          <a:prstGeom prst="rect">
            <a:avLst/>
          </a:prstGeom>
          <a:ln w="0">
            <a:noFill/>
          </a:ln>
        </p:spPr>
      </p:pic>
      <p:sp>
        <p:nvSpPr>
          <p:cNvPr id="411" name="Rectangle 1"/>
          <p:cNvSpPr/>
          <p:nvPr/>
        </p:nvSpPr>
        <p:spPr>
          <a:xfrm>
            <a:off x="0" y="6488640"/>
            <a:ext cx="79214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ARM Assembly Language Programming &amp; Architecture by Mazidi, et al.</a:t>
            </a:r>
            <a:endParaRPr b="0" lang="en-IN" sz="1800" spc="-1" strike="noStrike">
              <a:solidFill>
                <a:srgbClr val="000000"/>
              </a:solidFill>
              <a:latin typeface="Arial"/>
            </a:endParaRPr>
          </a:p>
        </p:txBody>
      </p:sp>
      <p:sp>
        <p:nvSpPr>
          <p:cNvPr id="412" name="Rectangle 4"/>
          <p:cNvSpPr/>
          <p:nvPr/>
        </p:nvSpPr>
        <p:spPr>
          <a:xfrm>
            <a:off x="4066200" y="5438160"/>
            <a:ext cx="405864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Figure 1- 3: ARM Family and Architecture</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3" name="Picture 4" descr="F2-1_ARMregistersDataSize.jpg"/>
          <p:cNvPicPr/>
          <p:nvPr/>
        </p:nvPicPr>
        <p:blipFill>
          <a:blip r:embed="rId1"/>
          <a:stretch/>
        </p:blipFill>
        <p:spPr>
          <a:xfrm>
            <a:off x="900000" y="1080000"/>
            <a:ext cx="10618560" cy="3463560"/>
          </a:xfrm>
          <a:prstGeom prst="rect">
            <a:avLst/>
          </a:prstGeom>
          <a:ln w="0">
            <a:noFill/>
          </a:ln>
        </p:spPr>
      </p:pic>
      <p:sp>
        <p:nvSpPr>
          <p:cNvPr id="414" name="CustomShape 1"/>
          <p:cNvSpPr/>
          <p:nvPr/>
        </p:nvSpPr>
        <p:spPr>
          <a:xfrm>
            <a:off x="4859640" y="4545000"/>
            <a:ext cx="247032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ARM Registers Data Size</a:t>
            </a:r>
            <a:endParaRPr b="0" lang="en-IN" sz="1800" spc="-1" strike="noStrike">
              <a:solidFill>
                <a:srgbClr val="000000"/>
              </a:solidFill>
              <a:latin typeface="Arial"/>
            </a:endParaRPr>
          </a:p>
        </p:txBody>
      </p:sp>
      <p:sp>
        <p:nvSpPr>
          <p:cNvPr id="415" name="CustomShape 2"/>
          <p:cNvSpPr/>
          <p:nvPr/>
        </p:nvSpPr>
        <p:spPr>
          <a:xfrm>
            <a:off x="4335480" y="273960"/>
            <a:ext cx="356580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3600" spc="-1" strike="noStrike">
                <a:solidFill>
                  <a:srgbClr val="000000"/>
                </a:solidFill>
                <a:latin typeface="Calibri"/>
                <a:ea typeface="DejaVu Sans"/>
              </a:rPr>
              <a:t>ARM Architecture</a:t>
            </a:r>
            <a:endParaRPr b="0" lang="en-IN" sz="3600" spc="-1" strike="noStrike">
              <a:solidFill>
                <a:srgbClr val="000000"/>
              </a:solidFill>
              <a:latin typeface="Arial"/>
            </a:endParaRPr>
          </a:p>
        </p:txBody>
      </p:sp>
      <p:sp>
        <p:nvSpPr>
          <p:cNvPr id="416" name="CustomShape 3"/>
          <p:cNvSpPr/>
          <p:nvPr/>
        </p:nvSpPr>
        <p:spPr>
          <a:xfrm>
            <a:off x="828720" y="5213520"/>
            <a:ext cx="854640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400" spc="-1" strike="noStrike">
                <a:solidFill>
                  <a:srgbClr val="000000"/>
                </a:solidFill>
                <a:latin typeface="Calibri"/>
                <a:ea typeface="DejaVu Sans"/>
              </a:rPr>
              <a:t>ARM supports byte, half word (16 bit) and word (32 bit) data types. </a:t>
            </a:r>
            <a:endParaRPr b="0" lang="en-IN" sz="2400" spc="-1" strike="noStrike">
              <a:solidFill>
                <a:srgbClr val="000000"/>
              </a:solidFill>
              <a:latin typeface="Arial"/>
            </a:endParaRPr>
          </a:p>
        </p:txBody>
      </p:sp>
      <p:sp>
        <p:nvSpPr>
          <p:cNvPr id="417" name="TextShape 4"/>
          <p:cNvSpPr/>
          <p:nvPr/>
        </p:nvSpPr>
        <p:spPr>
          <a:xfrm>
            <a:off x="6496200" y="6306120"/>
            <a:ext cx="52034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8" name="Picture 2" descr="F2-2_ARMregisters.jpg"/>
          <p:cNvPicPr/>
          <p:nvPr/>
        </p:nvPicPr>
        <p:blipFill>
          <a:blip r:embed="rId1"/>
          <a:stretch/>
        </p:blipFill>
        <p:spPr>
          <a:xfrm>
            <a:off x="4176360" y="446040"/>
            <a:ext cx="5184000" cy="4584240"/>
          </a:xfrm>
          <a:prstGeom prst="rect">
            <a:avLst/>
          </a:prstGeom>
          <a:ln w="0">
            <a:noFill/>
          </a:ln>
        </p:spPr>
      </p:pic>
      <p:sp>
        <p:nvSpPr>
          <p:cNvPr id="419" name="CustomShape 1"/>
          <p:cNvSpPr/>
          <p:nvPr/>
        </p:nvSpPr>
        <p:spPr>
          <a:xfrm>
            <a:off x="5286600" y="5350680"/>
            <a:ext cx="155268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ARM Registers</a:t>
            </a:r>
            <a:endParaRPr b="0" lang="en-IN" sz="1800" spc="-1" strike="noStrike">
              <a:solidFill>
                <a:srgbClr val="000000"/>
              </a:solidFill>
              <a:latin typeface="Arial"/>
            </a:endParaRPr>
          </a:p>
        </p:txBody>
      </p:sp>
      <p:sp>
        <p:nvSpPr>
          <p:cNvPr id="420" name="TextShape 2"/>
          <p:cNvSpPr/>
          <p:nvPr/>
        </p:nvSpPr>
        <p:spPr>
          <a:xfrm>
            <a:off x="6847920" y="6247080"/>
            <a:ext cx="48247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21" name="CustomShape 3"/>
          <p:cNvSpPr/>
          <p:nvPr/>
        </p:nvSpPr>
        <p:spPr>
          <a:xfrm>
            <a:off x="311760" y="267840"/>
            <a:ext cx="36756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1800" spc="-1" strike="noStrike">
                <a:solidFill>
                  <a:srgbClr val="000000"/>
                </a:solidFill>
                <a:latin typeface="LiberationSerif-Bold"/>
                <a:ea typeface="DejaVu Sans"/>
              </a:rPr>
              <a:t>The General Purpose Registers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2" name="Picture 2" descr="F2-3_ARMregistersAndALU.jpg"/>
          <p:cNvPicPr/>
          <p:nvPr/>
        </p:nvPicPr>
        <p:blipFill>
          <a:blip r:embed="rId1"/>
          <a:stretch/>
        </p:blipFill>
        <p:spPr>
          <a:xfrm>
            <a:off x="5220000" y="840960"/>
            <a:ext cx="5758560" cy="5445720"/>
          </a:xfrm>
          <a:prstGeom prst="rect">
            <a:avLst/>
          </a:prstGeom>
          <a:ln w="0">
            <a:noFill/>
          </a:ln>
        </p:spPr>
      </p:pic>
      <p:sp>
        <p:nvSpPr>
          <p:cNvPr id="423" name="CustomShape 1"/>
          <p:cNvSpPr/>
          <p:nvPr/>
        </p:nvSpPr>
        <p:spPr>
          <a:xfrm>
            <a:off x="6685920" y="5689800"/>
            <a:ext cx="239256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ARM Registers and ALU</a:t>
            </a:r>
            <a:endParaRPr b="0" lang="en-IN" sz="1800" spc="-1" strike="noStrike">
              <a:solidFill>
                <a:srgbClr val="000000"/>
              </a:solidFill>
              <a:latin typeface="Arial"/>
            </a:endParaRPr>
          </a:p>
        </p:txBody>
      </p:sp>
      <p:sp>
        <p:nvSpPr>
          <p:cNvPr id="424" name="TextShape 2"/>
          <p:cNvSpPr/>
          <p:nvPr/>
        </p:nvSpPr>
        <p:spPr>
          <a:xfrm>
            <a:off x="6919560" y="6288120"/>
            <a:ext cx="48074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25" name="CustomShape 3"/>
          <p:cNvSpPr/>
          <p:nvPr/>
        </p:nvSpPr>
        <p:spPr>
          <a:xfrm>
            <a:off x="573840" y="354960"/>
            <a:ext cx="45183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1800" spc="-1" strike="noStrike">
                <a:solidFill>
                  <a:srgbClr val="000000"/>
                </a:solidFill>
                <a:latin typeface="LiberationSerif-Bold"/>
                <a:ea typeface="DejaVu Sans"/>
              </a:rPr>
              <a:t>The Special Function Registers in ARM</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TextShape 1"/>
          <p:cNvSpPr/>
          <p:nvPr/>
        </p:nvSpPr>
        <p:spPr>
          <a:xfrm>
            <a:off x="7233480" y="6356520"/>
            <a:ext cx="45756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27" name="CustomShape 2"/>
          <p:cNvSpPr/>
          <p:nvPr/>
        </p:nvSpPr>
        <p:spPr>
          <a:xfrm>
            <a:off x="534600" y="231480"/>
            <a:ext cx="11523960" cy="606024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00000"/>
              </a:lnSpc>
              <a:buClr>
                <a:srgbClr val="000000"/>
              </a:buClr>
              <a:buFont typeface="Wingdings" charset="2"/>
              <a:buChar char=""/>
            </a:pPr>
            <a:r>
              <a:rPr b="0" lang="en-US" sz="2800" spc="-1" strike="noStrike">
                <a:solidFill>
                  <a:srgbClr val="000000"/>
                </a:solidFill>
                <a:latin typeface="Times New Roman"/>
                <a:ea typeface="DejaVu Sans"/>
              </a:rPr>
              <a:t>I</a:t>
            </a:r>
            <a:r>
              <a:rPr b="0" lang="en-US" sz="2600" spc="-1" strike="noStrike">
                <a:solidFill>
                  <a:srgbClr val="000000"/>
                </a:solidFill>
                <a:latin typeface="Times New Roman"/>
                <a:ea typeface="DejaVu Sans"/>
              </a:rPr>
              <a:t>n ARM the </a:t>
            </a:r>
            <a:r>
              <a:rPr b="1" lang="en-US" sz="2600" spc="-1" strike="noStrike">
                <a:solidFill>
                  <a:srgbClr val="ff0000"/>
                </a:solidFill>
                <a:latin typeface="Times New Roman"/>
                <a:ea typeface="DejaVu Sans"/>
              </a:rPr>
              <a:t>R13, R14, R15, and CPSR</a:t>
            </a:r>
            <a:r>
              <a:rPr b="0" lang="en-US" sz="2600" spc="-1" strike="noStrike">
                <a:solidFill>
                  <a:srgbClr val="000000"/>
                </a:solidFill>
                <a:latin typeface="Times New Roman"/>
                <a:ea typeface="DejaVu Sans"/>
              </a:rPr>
              <a:t> (current program status register) registers are called </a:t>
            </a:r>
            <a:r>
              <a:rPr b="0" i="1" lang="en-US" sz="2600" spc="-1" strike="noStrike">
                <a:solidFill>
                  <a:srgbClr val="000000"/>
                </a:solidFill>
                <a:latin typeface="Times New Roman"/>
                <a:ea typeface="DejaVu Sans"/>
              </a:rPr>
              <a:t>SFRs (special function registers) </a:t>
            </a:r>
            <a:r>
              <a:rPr b="0" lang="en-US" sz="2600" spc="-1" strike="noStrike">
                <a:solidFill>
                  <a:srgbClr val="000000"/>
                </a:solidFill>
                <a:latin typeface="Times New Roman"/>
                <a:ea typeface="DejaVu Sans"/>
              </a:rPr>
              <a:t>since each one is dedicated to a specific function. A given special function register is dedicated to specific function such as status register, program counter, stack pointer, and so on. The function of each SFR is fixed by the CPU designer at the time of design because it is used for control of the microcontroller or keeping track of specific CPU status.  </a:t>
            </a:r>
            <a:endParaRPr b="0" lang="en-IN" sz="26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600" spc="-1" strike="noStrike">
                <a:solidFill>
                  <a:srgbClr val="000000"/>
                </a:solidFill>
                <a:latin typeface="Times New Roman"/>
                <a:ea typeface="DejaVu Sans"/>
              </a:rPr>
              <a:t>The </a:t>
            </a:r>
            <a:r>
              <a:rPr b="1" lang="en-US" sz="2600" spc="-1" strike="noStrike">
                <a:solidFill>
                  <a:srgbClr val="ff0000"/>
                </a:solidFill>
                <a:latin typeface="Times New Roman"/>
                <a:ea typeface="DejaVu Sans"/>
              </a:rPr>
              <a:t>R13</a:t>
            </a:r>
            <a:r>
              <a:rPr b="0" lang="en-US" sz="2600" spc="-1" strike="noStrike">
                <a:solidFill>
                  <a:srgbClr val="000000"/>
                </a:solidFill>
                <a:latin typeface="Times New Roman"/>
                <a:ea typeface="DejaVu Sans"/>
              </a:rPr>
              <a:t> is set aside for </a:t>
            </a:r>
            <a:r>
              <a:rPr b="1" lang="en-US" sz="2600" spc="-1" strike="noStrike">
                <a:solidFill>
                  <a:srgbClr val="ff0000"/>
                </a:solidFill>
                <a:latin typeface="Times New Roman"/>
                <a:ea typeface="DejaVu Sans"/>
              </a:rPr>
              <a:t>stack pointer. </a:t>
            </a:r>
            <a:endParaRPr b="0" lang="en-IN" sz="26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600" spc="-1" strike="noStrike">
                <a:solidFill>
                  <a:srgbClr val="000000"/>
                </a:solidFill>
                <a:latin typeface="Times New Roman"/>
                <a:ea typeface="DejaVu Sans"/>
              </a:rPr>
              <a:t>The </a:t>
            </a:r>
            <a:r>
              <a:rPr b="1" lang="en-US" sz="2600" spc="-1" strike="noStrike">
                <a:solidFill>
                  <a:srgbClr val="ff0000"/>
                </a:solidFill>
                <a:latin typeface="Times New Roman"/>
                <a:ea typeface="DejaVu Sans"/>
              </a:rPr>
              <a:t>R14</a:t>
            </a:r>
            <a:r>
              <a:rPr b="0" lang="en-US" sz="2600" spc="-1" strike="noStrike">
                <a:solidFill>
                  <a:srgbClr val="000000"/>
                </a:solidFill>
                <a:latin typeface="Times New Roman"/>
                <a:ea typeface="DejaVu Sans"/>
              </a:rPr>
              <a:t> is designated as</a:t>
            </a:r>
            <a:r>
              <a:rPr b="1" lang="en-US" sz="2600" spc="-1" strike="noStrike">
                <a:solidFill>
                  <a:srgbClr val="ff0000"/>
                </a:solidFill>
                <a:latin typeface="Times New Roman"/>
                <a:ea typeface="DejaVu Sans"/>
              </a:rPr>
              <a:t> link register</a:t>
            </a:r>
            <a:r>
              <a:rPr b="0" lang="en-US" sz="2600" spc="-1" strike="noStrike">
                <a:solidFill>
                  <a:srgbClr val="000000"/>
                </a:solidFill>
                <a:latin typeface="Times New Roman"/>
                <a:ea typeface="DejaVu Sans"/>
              </a:rPr>
              <a:t> which holds the return address when the CPU calls a subroutine.</a:t>
            </a:r>
            <a:endParaRPr b="0" lang="en-IN" sz="26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600" spc="-1" strike="noStrike">
                <a:solidFill>
                  <a:srgbClr val="000000"/>
                </a:solidFill>
                <a:latin typeface="Times New Roman"/>
                <a:ea typeface="DejaVu Sans"/>
              </a:rPr>
              <a:t>The </a:t>
            </a:r>
            <a:r>
              <a:rPr b="1" lang="en-US" sz="2600" spc="-1" strike="noStrike">
                <a:solidFill>
                  <a:srgbClr val="ff0000"/>
                </a:solidFill>
                <a:latin typeface="Times New Roman"/>
                <a:ea typeface="DejaVu Sans"/>
              </a:rPr>
              <a:t>R15</a:t>
            </a:r>
            <a:r>
              <a:rPr b="0" lang="en-US" sz="2600" spc="-1" strike="noStrike">
                <a:solidFill>
                  <a:srgbClr val="000000"/>
                </a:solidFill>
                <a:latin typeface="Times New Roman"/>
                <a:ea typeface="DejaVu Sans"/>
              </a:rPr>
              <a:t> is the </a:t>
            </a:r>
            <a:r>
              <a:rPr b="1" lang="en-US" sz="2600" spc="-1" strike="noStrike">
                <a:solidFill>
                  <a:srgbClr val="ff0000"/>
                </a:solidFill>
                <a:latin typeface="Times New Roman"/>
                <a:ea typeface="DejaVu Sans"/>
              </a:rPr>
              <a:t>program counter (PC)</a:t>
            </a:r>
            <a:r>
              <a:rPr b="0" lang="en-US" sz="2600" spc="-1" strike="noStrike">
                <a:solidFill>
                  <a:srgbClr val="000000"/>
                </a:solidFill>
                <a:latin typeface="Times New Roman"/>
                <a:ea typeface="DejaVu Sans"/>
              </a:rPr>
              <a:t>. The PC (program counter) points to the address of the next instruction to be executed. </a:t>
            </a:r>
            <a:endParaRPr b="0" lang="en-IN" sz="26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600" spc="-1" strike="noStrike">
                <a:solidFill>
                  <a:srgbClr val="000000"/>
                </a:solidFill>
                <a:latin typeface="Times New Roman"/>
                <a:ea typeface="DejaVu Sans"/>
              </a:rPr>
              <a:t>The</a:t>
            </a:r>
            <a:r>
              <a:rPr b="1" lang="en-US" sz="2600" spc="-1" strike="noStrike">
                <a:solidFill>
                  <a:srgbClr val="ff0000"/>
                </a:solidFill>
                <a:latin typeface="Times New Roman"/>
                <a:ea typeface="DejaVu Sans"/>
              </a:rPr>
              <a:t> CPSR (current program status register)</a:t>
            </a:r>
            <a:r>
              <a:rPr b="0" lang="en-US" sz="2600" spc="-1" strike="noStrike">
                <a:solidFill>
                  <a:srgbClr val="000000"/>
                </a:solidFill>
                <a:latin typeface="Times New Roman"/>
                <a:ea typeface="DejaVu Sans"/>
              </a:rPr>
              <a:t> is used for keeping </a:t>
            </a:r>
            <a:r>
              <a:rPr b="1" lang="en-US" sz="2600" spc="-1" strike="noStrike">
                <a:solidFill>
                  <a:srgbClr val="ff0000"/>
                </a:solidFill>
                <a:latin typeface="Times New Roman"/>
                <a:ea typeface="DejaVu Sans"/>
              </a:rPr>
              <a:t>condition flags</a:t>
            </a:r>
            <a:r>
              <a:rPr b="0" lang="en-US" sz="2600" spc="-1" strike="noStrike">
                <a:solidFill>
                  <a:srgbClr val="000000"/>
                </a:solidFill>
                <a:latin typeface="Times New Roman"/>
                <a:ea typeface="DejaVu Sans"/>
              </a:rPr>
              <a:t> among other things. </a:t>
            </a:r>
            <a:endParaRPr b="0" lang="en-IN" sz="26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600" spc="-1" strike="noStrike">
                <a:solidFill>
                  <a:srgbClr val="000000"/>
                </a:solidFill>
                <a:latin typeface="Times New Roman"/>
                <a:ea typeface="DejaVu Sans"/>
              </a:rPr>
              <a:t>In contrast to SFRs, the </a:t>
            </a:r>
            <a:r>
              <a:rPr b="1" lang="en-US" sz="2600" spc="-1" strike="noStrike">
                <a:solidFill>
                  <a:srgbClr val="ff0000"/>
                </a:solidFill>
                <a:latin typeface="Times New Roman"/>
                <a:ea typeface="DejaVu Sans"/>
              </a:rPr>
              <a:t>GPRs (R0-R12)</a:t>
            </a:r>
            <a:r>
              <a:rPr b="0" lang="en-US" sz="2600" spc="-1" strike="noStrike">
                <a:solidFill>
                  <a:srgbClr val="000000"/>
                </a:solidFill>
                <a:latin typeface="Times New Roman"/>
                <a:ea typeface="DejaVu Sans"/>
              </a:rPr>
              <a:t> do not have any specific function and are used for storing general data.  </a:t>
            </a:r>
            <a:endParaRPr b="0" lang="en-IN"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Rectangle 3"/>
          <p:cNvSpPr/>
          <p:nvPr/>
        </p:nvSpPr>
        <p:spPr>
          <a:xfrm>
            <a:off x="0" y="6488640"/>
            <a:ext cx="79214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ARM Assembly Language Programming &amp; Architecture by Mazidi, et al.</a:t>
            </a:r>
            <a:endParaRPr b="0" lang="en-IN" sz="1800" spc="-1" strike="noStrike">
              <a:solidFill>
                <a:srgbClr val="000000"/>
              </a:solidFill>
              <a:latin typeface="Arial"/>
            </a:endParaRPr>
          </a:p>
        </p:txBody>
      </p:sp>
      <p:pic>
        <p:nvPicPr>
          <p:cNvPr id="429" name="Picture 8" descr=""/>
          <p:cNvPicPr/>
          <p:nvPr/>
        </p:nvPicPr>
        <p:blipFill>
          <a:blip r:embed="rId1"/>
          <a:stretch/>
        </p:blipFill>
        <p:spPr>
          <a:xfrm>
            <a:off x="3119040" y="1271160"/>
            <a:ext cx="5952600" cy="4313880"/>
          </a:xfrm>
          <a:prstGeom prst="rect">
            <a:avLst/>
          </a:prstGeom>
          <a:ln w="0">
            <a:noFill/>
          </a:ln>
        </p:spPr>
      </p:pic>
      <p:sp>
        <p:nvSpPr>
          <p:cNvPr id="430" name="Rectangle 2"/>
          <p:cNvSpPr/>
          <p:nvPr/>
        </p:nvSpPr>
        <p:spPr>
          <a:xfrm>
            <a:off x="4159080" y="5852880"/>
            <a:ext cx="387252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Table 2- 1: ALU Instructions Using GPRs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Rectangle 5"/>
          <p:cNvSpPr/>
          <p:nvPr/>
        </p:nvSpPr>
        <p:spPr>
          <a:xfrm>
            <a:off x="0" y="6488640"/>
            <a:ext cx="79214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ARM Assembly Language Programming &amp; Architecture by Mazidi, et al.</a:t>
            </a:r>
            <a:endParaRPr b="0" lang="en-IN" sz="1800" spc="-1" strike="noStrike">
              <a:solidFill>
                <a:srgbClr val="000000"/>
              </a:solidFill>
              <a:latin typeface="Arial"/>
            </a:endParaRPr>
          </a:p>
        </p:txBody>
      </p:sp>
      <p:pic>
        <p:nvPicPr>
          <p:cNvPr id="432" name="Picture 9" descr=""/>
          <p:cNvPicPr/>
          <p:nvPr/>
        </p:nvPicPr>
        <p:blipFill>
          <a:blip r:embed="rId1"/>
          <a:stretch/>
        </p:blipFill>
        <p:spPr>
          <a:xfrm>
            <a:off x="2700720" y="1892160"/>
            <a:ext cx="6661080" cy="2315160"/>
          </a:xfrm>
          <a:prstGeom prst="rect">
            <a:avLst/>
          </a:prstGeom>
          <a:ln w="0">
            <a:noFill/>
          </a:ln>
        </p:spPr>
      </p:pic>
      <p:sp>
        <p:nvSpPr>
          <p:cNvPr id="433" name="Rectangle 6"/>
          <p:cNvSpPr/>
          <p:nvPr/>
        </p:nvSpPr>
        <p:spPr>
          <a:xfrm>
            <a:off x="2984040" y="4903560"/>
            <a:ext cx="6094440" cy="9813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Table 2- 2: On-chip Memory Size for some ARM Chips</a:t>
            </a:r>
            <a:endParaRPr b="0" lang="en-IN" sz="1800" spc="-1" strike="noStrike">
              <a:solidFill>
                <a:srgbClr val="000000"/>
              </a:solidFill>
              <a:latin typeface="Arial"/>
            </a:endParaRPr>
          </a:p>
          <a:p>
            <a:pPr>
              <a:lnSpc>
                <a:spcPct val="115000"/>
              </a:lnSpc>
              <a:spcAft>
                <a:spcPts val="1001"/>
              </a:spcAft>
            </a:pPr>
            <a:r>
              <a:rPr b="0" lang="en-US" sz="2800" spc="-1" strike="noStrike">
                <a:solidFill>
                  <a:srgbClr val="000000"/>
                </a:solidFill>
                <a:latin typeface="Calibri"/>
                <a:ea typeface="Calibri"/>
              </a:rPr>
              <a:t> </a:t>
            </a:r>
            <a:endParaRPr b="0" lang="en-IN"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4" name="Picture 10" descr="F2-4_AnExampleOfARMMemoryAllocation.jpg"/>
          <p:cNvPicPr/>
          <p:nvPr/>
        </p:nvPicPr>
        <p:blipFill>
          <a:blip r:embed="rId1"/>
          <a:stretch/>
        </p:blipFill>
        <p:spPr>
          <a:xfrm>
            <a:off x="4985640" y="936720"/>
            <a:ext cx="2245320" cy="3961800"/>
          </a:xfrm>
          <a:prstGeom prst="rect">
            <a:avLst/>
          </a:prstGeom>
          <a:ln w="0">
            <a:noFill/>
          </a:ln>
        </p:spPr>
      </p:pic>
      <p:sp>
        <p:nvSpPr>
          <p:cNvPr id="435" name="Rectangle 7"/>
          <p:cNvSpPr/>
          <p:nvPr/>
        </p:nvSpPr>
        <p:spPr>
          <a:xfrm>
            <a:off x="0" y="6488640"/>
            <a:ext cx="79214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ARM Assembly Language Programming &amp; Architecture by Mazidi, et al.</a:t>
            </a:r>
            <a:endParaRPr b="0" lang="en-IN" sz="1800" spc="-1" strike="noStrike">
              <a:solidFill>
                <a:srgbClr val="000000"/>
              </a:solidFill>
              <a:latin typeface="Arial"/>
            </a:endParaRPr>
          </a:p>
        </p:txBody>
      </p:sp>
      <p:sp>
        <p:nvSpPr>
          <p:cNvPr id="436" name="Rectangle 8"/>
          <p:cNvSpPr/>
          <p:nvPr/>
        </p:nvSpPr>
        <p:spPr>
          <a:xfrm>
            <a:off x="3583440" y="5509440"/>
            <a:ext cx="504936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Figure 2- 4: An Example of ARM Memory Allocation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7" name="Picture 2" descr="F2-5_ExecutingTheLDRinstruction.jpg"/>
          <p:cNvPicPr/>
          <p:nvPr/>
        </p:nvPicPr>
        <p:blipFill>
          <a:blip r:embed="rId1"/>
          <a:stretch/>
        </p:blipFill>
        <p:spPr>
          <a:xfrm>
            <a:off x="3426840" y="1952280"/>
            <a:ext cx="8091000" cy="3703320"/>
          </a:xfrm>
          <a:prstGeom prst="rect">
            <a:avLst/>
          </a:prstGeom>
          <a:ln w="0">
            <a:noFill/>
          </a:ln>
        </p:spPr>
      </p:pic>
      <p:sp>
        <p:nvSpPr>
          <p:cNvPr id="438" name="CustomShape 1"/>
          <p:cNvSpPr/>
          <p:nvPr/>
        </p:nvSpPr>
        <p:spPr>
          <a:xfrm>
            <a:off x="6383520" y="5751000"/>
            <a:ext cx="295776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Executing the LDR Instruction</a:t>
            </a:r>
            <a:endParaRPr b="0" lang="en-IN" sz="1800" spc="-1" strike="noStrike">
              <a:solidFill>
                <a:srgbClr val="000000"/>
              </a:solidFill>
              <a:latin typeface="Arial"/>
            </a:endParaRPr>
          </a:p>
        </p:txBody>
      </p:sp>
      <p:sp>
        <p:nvSpPr>
          <p:cNvPr id="439" name="TextShape 2"/>
          <p:cNvSpPr/>
          <p:nvPr/>
        </p:nvSpPr>
        <p:spPr>
          <a:xfrm>
            <a:off x="7219800" y="6174720"/>
            <a:ext cx="46983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40" name="CustomShape 3"/>
          <p:cNvSpPr/>
          <p:nvPr/>
        </p:nvSpPr>
        <p:spPr>
          <a:xfrm>
            <a:off x="450000" y="294840"/>
            <a:ext cx="554868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400" spc="-1" strike="noStrike">
                <a:solidFill>
                  <a:srgbClr val="000000"/>
                </a:solidFill>
                <a:latin typeface="LiberationSerif-Bold"/>
                <a:ea typeface="DejaVu Sans"/>
              </a:rPr>
              <a:t>Load and Store Instructions in ARM</a:t>
            </a:r>
            <a:endParaRPr b="0" lang="en-IN" sz="2400" spc="-1" strike="noStrike">
              <a:solidFill>
                <a:srgbClr val="000000"/>
              </a:solidFill>
              <a:latin typeface="Arial"/>
            </a:endParaRPr>
          </a:p>
        </p:txBody>
      </p:sp>
      <p:sp>
        <p:nvSpPr>
          <p:cNvPr id="441" name="CustomShape 4"/>
          <p:cNvSpPr/>
          <p:nvPr/>
        </p:nvSpPr>
        <p:spPr>
          <a:xfrm>
            <a:off x="584640" y="938880"/>
            <a:ext cx="11013840" cy="821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Every instruction of ARM is fixed at 32-bit. The fixed size instruction is one of the most important characteristics of RISC architecture.  </a:t>
            </a:r>
            <a:endParaRPr b="0" lang="en-IN" sz="2400" spc="-1" strike="noStrike">
              <a:solidFill>
                <a:srgbClr val="000000"/>
              </a:solidFill>
              <a:latin typeface="Arial"/>
            </a:endParaRPr>
          </a:p>
        </p:txBody>
      </p:sp>
      <p:sp>
        <p:nvSpPr>
          <p:cNvPr id="442" name="CustomShape 5"/>
          <p:cNvSpPr/>
          <p:nvPr/>
        </p:nvSpPr>
        <p:spPr>
          <a:xfrm>
            <a:off x="584640" y="2098080"/>
            <a:ext cx="2840040" cy="1614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pc="-1" strike="noStrike">
                <a:solidFill>
                  <a:srgbClr val="000000"/>
                </a:solidFill>
                <a:latin typeface="LiberationSerif-Bold"/>
                <a:ea typeface="DejaVu Sans"/>
              </a:rPr>
              <a:t>LDR Rd, [Rx] instruction</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;load Rd with the contents of location pointed to by Rx register.</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3" name="Picture 2" descr="F2-6_ExecutingTheSTRinstruction.jpg"/>
          <p:cNvPicPr/>
          <p:nvPr/>
        </p:nvPicPr>
        <p:blipFill>
          <a:blip r:embed="rId1"/>
          <a:stretch/>
        </p:blipFill>
        <p:spPr>
          <a:xfrm>
            <a:off x="4163040" y="742320"/>
            <a:ext cx="7517880" cy="3533760"/>
          </a:xfrm>
          <a:prstGeom prst="rect">
            <a:avLst/>
          </a:prstGeom>
          <a:ln w="0">
            <a:noFill/>
          </a:ln>
        </p:spPr>
      </p:pic>
      <p:sp>
        <p:nvSpPr>
          <p:cNvPr id="444" name="CustomShape 1"/>
          <p:cNvSpPr/>
          <p:nvPr/>
        </p:nvSpPr>
        <p:spPr>
          <a:xfrm>
            <a:off x="6684840" y="4534200"/>
            <a:ext cx="293508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Executing the STR Instruction</a:t>
            </a:r>
            <a:endParaRPr b="0" lang="en-IN" sz="1800" spc="-1" strike="noStrike">
              <a:solidFill>
                <a:srgbClr val="000000"/>
              </a:solidFill>
              <a:latin typeface="Arial"/>
            </a:endParaRPr>
          </a:p>
        </p:txBody>
      </p:sp>
      <p:sp>
        <p:nvSpPr>
          <p:cNvPr id="445" name="TextShape 2"/>
          <p:cNvSpPr/>
          <p:nvPr/>
        </p:nvSpPr>
        <p:spPr>
          <a:xfrm>
            <a:off x="7165080" y="6315480"/>
            <a:ext cx="47257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46" name="CustomShape 3"/>
          <p:cNvSpPr/>
          <p:nvPr/>
        </p:nvSpPr>
        <p:spPr>
          <a:xfrm>
            <a:off x="195480" y="961200"/>
            <a:ext cx="382824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STR Rx,[Rd] instruction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;store register Rx into locations pointed to by Rd</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7" name="Picture 2" descr="F2-7_ExecutingTheLDRBinstruction.jpg"/>
          <p:cNvPicPr/>
          <p:nvPr/>
        </p:nvPicPr>
        <p:blipFill>
          <a:blip r:embed="rId1"/>
          <a:stretch/>
        </p:blipFill>
        <p:spPr>
          <a:xfrm>
            <a:off x="4196880" y="364680"/>
            <a:ext cx="7449480" cy="3742200"/>
          </a:xfrm>
          <a:prstGeom prst="rect">
            <a:avLst/>
          </a:prstGeom>
          <a:ln w="0">
            <a:noFill/>
          </a:ln>
        </p:spPr>
      </p:pic>
      <p:sp>
        <p:nvSpPr>
          <p:cNvPr id="448" name="CustomShape 1"/>
          <p:cNvSpPr/>
          <p:nvPr/>
        </p:nvSpPr>
        <p:spPr>
          <a:xfrm>
            <a:off x="6665040" y="4241160"/>
            <a:ext cx="297468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xecuting the LDRB Instruction</a:t>
            </a:r>
            <a:endParaRPr b="0" lang="en-IN" sz="1800" spc="-1" strike="noStrike">
              <a:solidFill>
                <a:srgbClr val="000000"/>
              </a:solidFill>
              <a:latin typeface="Arial"/>
            </a:endParaRPr>
          </a:p>
        </p:txBody>
      </p:sp>
      <p:sp>
        <p:nvSpPr>
          <p:cNvPr id="449" name="TextShape 2"/>
          <p:cNvSpPr/>
          <p:nvPr/>
        </p:nvSpPr>
        <p:spPr>
          <a:xfrm>
            <a:off x="7083360" y="6123600"/>
            <a:ext cx="46821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50" name="CustomShape 3"/>
          <p:cNvSpPr/>
          <p:nvPr/>
        </p:nvSpPr>
        <p:spPr>
          <a:xfrm>
            <a:off x="468720" y="551520"/>
            <a:ext cx="3486960" cy="447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LDRB Rd, [Rx] instruction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;load Rd with the contents of the location pointed to by Rx register. After this instruction is executed, the lower byte of Rd will have the same value as memory location pointed to by Rx. The upper 24 bits of the Rd register will be all zeros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1" name="Picture 2" descr="F2-8_ExecutingTheSTRBinstruction.jpg"/>
          <p:cNvPicPr/>
          <p:nvPr/>
        </p:nvPicPr>
        <p:blipFill>
          <a:blip r:embed="rId1"/>
          <a:stretch/>
        </p:blipFill>
        <p:spPr>
          <a:xfrm>
            <a:off x="3152520" y="437760"/>
            <a:ext cx="8472960" cy="3987720"/>
          </a:xfrm>
          <a:prstGeom prst="rect">
            <a:avLst/>
          </a:prstGeom>
          <a:ln w="0">
            <a:noFill/>
          </a:ln>
        </p:spPr>
      </p:pic>
      <p:sp>
        <p:nvSpPr>
          <p:cNvPr id="452" name="CustomShape 1"/>
          <p:cNvSpPr/>
          <p:nvPr/>
        </p:nvSpPr>
        <p:spPr>
          <a:xfrm>
            <a:off x="6809040" y="4771800"/>
            <a:ext cx="306288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Executing the STRB Instruction</a:t>
            </a:r>
            <a:endParaRPr b="0" lang="en-IN" sz="1800" spc="-1" strike="noStrike">
              <a:solidFill>
                <a:srgbClr val="000000"/>
              </a:solidFill>
              <a:latin typeface="Arial"/>
            </a:endParaRPr>
          </a:p>
        </p:txBody>
      </p:sp>
      <p:sp>
        <p:nvSpPr>
          <p:cNvPr id="453" name="TextShape 2"/>
          <p:cNvSpPr/>
          <p:nvPr/>
        </p:nvSpPr>
        <p:spPr>
          <a:xfrm>
            <a:off x="6987600" y="6306120"/>
            <a:ext cx="48484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54" name="CustomShape 3"/>
          <p:cNvSpPr/>
          <p:nvPr/>
        </p:nvSpPr>
        <p:spPr>
          <a:xfrm>
            <a:off x="250200" y="824760"/>
            <a:ext cx="29001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STRB Rx,[Rd] instruction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;store the byte in register Rx into location pointed to by Rd</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5" name="Picture 2" descr="F2-9_ExecutingTheLDRHinstruction.jpg"/>
          <p:cNvPicPr/>
          <p:nvPr/>
        </p:nvPicPr>
        <p:blipFill>
          <a:blip r:embed="rId1"/>
          <a:stretch/>
        </p:blipFill>
        <p:spPr>
          <a:xfrm>
            <a:off x="3480120" y="573120"/>
            <a:ext cx="8486640" cy="4042440"/>
          </a:xfrm>
          <a:prstGeom prst="rect">
            <a:avLst/>
          </a:prstGeom>
          <a:ln w="0">
            <a:noFill/>
          </a:ln>
        </p:spPr>
      </p:pic>
      <p:sp>
        <p:nvSpPr>
          <p:cNvPr id="456" name="CustomShape 1"/>
          <p:cNvSpPr/>
          <p:nvPr/>
        </p:nvSpPr>
        <p:spPr>
          <a:xfrm>
            <a:off x="7621560" y="4885560"/>
            <a:ext cx="310284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Executing the LDRH Instruction</a:t>
            </a:r>
            <a:endParaRPr b="0" lang="en-IN" sz="1800" spc="-1" strike="noStrike">
              <a:solidFill>
                <a:srgbClr val="000000"/>
              </a:solidFill>
              <a:latin typeface="Arial"/>
            </a:endParaRPr>
          </a:p>
        </p:txBody>
      </p:sp>
      <p:sp>
        <p:nvSpPr>
          <p:cNvPr id="457" name="TextShape 2"/>
          <p:cNvSpPr/>
          <p:nvPr/>
        </p:nvSpPr>
        <p:spPr>
          <a:xfrm>
            <a:off x="6987600" y="6123600"/>
            <a:ext cx="46782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58" name="CustomShape 3"/>
          <p:cNvSpPr/>
          <p:nvPr/>
        </p:nvSpPr>
        <p:spPr>
          <a:xfrm>
            <a:off x="432360" y="573120"/>
            <a:ext cx="30459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LDRH Rd, [Rx] instruction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;load Rd with the half-word (16-bit or 2 bytes) pointed to by Rx register</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9" name="Picture 2" descr="F2-10_ExecutingTheSTRHinstruction.jpg"/>
          <p:cNvPicPr/>
          <p:nvPr/>
        </p:nvPicPr>
        <p:blipFill>
          <a:blip r:embed="rId1"/>
          <a:stretch/>
        </p:blipFill>
        <p:spPr>
          <a:xfrm>
            <a:off x="3302640" y="498960"/>
            <a:ext cx="8322840" cy="3946680"/>
          </a:xfrm>
          <a:prstGeom prst="rect">
            <a:avLst/>
          </a:prstGeom>
          <a:ln w="0">
            <a:noFill/>
          </a:ln>
        </p:spPr>
      </p:pic>
      <p:sp>
        <p:nvSpPr>
          <p:cNvPr id="460" name="CustomShape 1"/>
          <p:cNvSpPr/>
          <p:nvPr/>
        </p:nvSpPr>
        <p:spPr>
          <a:xfrm>
            <a:off x="6500520" y="4729320"/>
            <a:ext cx="307980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Executing the STRH Instruction</a:t>
            </a:r>
            <a:endParaRPr b="0" lang="en-IN" sz="1800" spc="-1" strike="noStrike">
              <a:solidFill>
                <a:srgbClr val="000000"/>
              </a:solidFill>
              <a:latin typeface="Arial"/>
            </a:endParaRPr>
          </a:p>
        </p:txBody>
      </p:sp>
      <p:sp>
        <p:nvSpPr>
          <p:cNvPr id="461" name="TextShape 2"/>
          <p:cNvSpPr/>
          <p:nvPr/>
        </p:nvSpPr>
        <p:spPr>
          <a:xfrm>
            <a:off x="7028640" y="6123600"/>
            <a:ext cx="46771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62" name="CustomShape 3"/>
          <p:cNvSpPr/>
          <p:nvPr/>
        </p:nvSpPr>
        <p:spPr>
          <a:xfrm>
            <a:off x="254880" y="715320"/>
            <a:ext cx="2854800" cy="1919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pc="-1" strike="noStrike">
                <a:solidFill>
                  <a:srgbClr val="000000"/>
                </a:solidFill>
                <a:latin typeface="LiberationSerif-Bold"/>
                <a:ea typeface="DejaVu Sans"/>
              </a:rPr>
              <a:t>STRH Rx,[Rd] instruction</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;store half-word (2-byte) in register Rx into locations pointed to by Rd</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3" name="Picture 3" descr=""/>
          <p:cNvPicPr/>
          <p:nvPr/>
        </p:nvPicPr>
        <p:blipFill>
          <a:blip r:embed="rId1"/>
          <a:stretch/>
        </p:blipFill>
        <p:spPr>
          <a:xfrm>
            <a:off x="1161000" y="1569600"/>
            <a:ext cx="10469520" cy="1527120"/>
          </a:xfrm>
          <a:prstGeom prst="rect">
            <a:avLst/>
          </a:prstGeom>
          <a:ln w="0">
            <a:noFill/>
          </a:ln>
        </p:spPr>
      </p:pic>
      <p:sp>
        <p:nvSpPr>
          <p:cNvPr id="464" name="CustomShape 1"/>
          <p:cNvSpPr/>
          <p:nvPr/>
        </p:nvSpPr>
        <p:spPr>
          <a:xfrm>
            <a:off x="2720520" y="3336840"/>
            <a:ext cx="70765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 </a:t>
            </a:r>
            <a:r>
              <a:rPr b="1" lang="en-US" sz="1800" spc="-1" strike="noStrike">
                <a:solidFill>
                  <a:srgbClr val="5b9bd5"/>
                </a:solidFill>
                <a:latin typeface="Calibri"/>
                <a:ea typeface="Calibri"/>
              </a:rPr>
              <a:t>Unsigned Data Range in ARM and associated Instructions</a:t>
            </a:r>
            <a:endParaRPr b="0" lang="en-IN" sz="1800" spc="-1" strike="noStrike">
              <a:solidFill>
                <a:srgbClr val="000000"/>
              </a:solidFill>
              <a:latin typeface="Arial"/>
            </a:endParaRPr>
          </a:p>
        </p:txBody>
      </p:sp>
      <p:sp>
        <p:nvSpPr>
          <p:cNvPr id="465" name="TextShape 2"/>
          <p:cNvSpPr/>
          <p:nvPr/>
        </p:nvSpPr>
        <p:spPr>
          <a:xfrm>
            <a:off x="6537240" y="6123600"/>
            <a:ext cx="51534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6" name="Picture 2" descr="F2-11_CPSR.jpg"/>
          <p:cNvPicPr/>
          <p:nvPr/>
        </p:nvPicPr>
        <p:blipFill>
          <a:blip r:embed="rId1"/>
          <a:stretch/>
        </p:blipFill>
        <p:spPr>
          <a:xfrm>
            <a:off x="955440" y="1792080"/>
            <a:ext cx="10315440" cy="1128600"/>
          </a:xfrm>
          <a:prstGeom prst="rect">
            <a:avLst/>
          </a:prstGeom>
          <a:ln w="0">
            <a:noFill/>
          </a:ln>
        </p:spPr>
      </p:pic>
      <p:sp>
        <p:nvSpPr>
          <p:cNvPr id="467" name="CustomShape 1"/>
          <p:cNvSpPr/>
          <p:nvPr/>
        </p:nvSpPr>
        <p:spPr>
          <a:xfrm>
            <a:off x="3793320" y="3298320"/>
            <a:ext cx="388908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CPSR (Current Program Status Register)</a:t>
            </a:r>
            <a:endParaRPr b="0" lang="en-IN" sz="1800" spc="-1" strike="noStrike">
              <a:solidFill>
                <a:srgbClr val="000000"/>
              </a:solidFill>
              <a:latin typeface="Arial"/>
            </a:endParaRPr>
          </a:p>
        </p:txBody>
      </p:sp>
      <p:sp>
        <p:nvSpPr>
          <p:cNvPr id="468" name="TextShape 2"/>
          <p:cNvSpPr/>
          <p:nvPr/>
        </p:nvSpPr>
        <p:spPr>
          <a:xfrm>
            <a:off x="6946560" y="6123600"/>
            <a:ext cx="47800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69" name="CustomShape 3"/>
          <p:cNvSpPr/>
          <p:nvPr/>
        </p:nvSpPr>
        <p:spPr>
          <a:xfrm>
            <a:off x="833760" y="708480"/>
            <a:ext cx="8095320" cy="516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800" spc="-1" strike="noStrike">
                <a:solidFill>
                  <a:srgbClr val="000000"/>
                </a:solidFill>
                <a:latin typeface="LiberationSerif-Bold"/>
                <a:ea typeface="DejaVu Sans"/>
              </a:rPr>
              <a:t>ARM CPSR (Current Program Status Register)</a:t>
            </a:r>
            <a:endParaRPr b="0" lang="en-IN" sz="2800" spc="-1" strike="noStrike">
              <a:solidFill>
                <a:srgbClr val="000000"/>
              </a:solidFill>
              <a:latin typeface="Arial"/>
            </a:endParaRPr>
          </a:p>
        </p:txBody>
      </p:sp>
      <p:sp>
        <p:nvSpPr>
          <p:cNvPr id="470" name="CustomShape 4"/>
          <p:cNvSpPr/>
          <p:nvPr/>
        </p:nvSpPr>
        <p:spPr>
          <a:xfrm>
            <a:off x="850680" y="4092120"/>
            <a:ext cx="10734120" cy="1918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LiberationSerif-Bold"/>
                <a:ea typeface="DejaVu Sans"/>
              </a:rPr>
              <a:t>S suffix and the status register</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Most of ARM instructions can affect the status bits of CPSR according to the result. If we need an instruction to update the value of status bits in CPSR, we have to put S suffix at the end of instructions. That means, for example, ADDS instead of ADD is used.</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TextShape 1"/>
          <p:cNvSpPr/>
          <p:nvPr/>
        </p:nvSpPr>
        <p:spPr>
          <a:xfrm>
            <a:off x="6810120" y="6356520"/>
            <a:ext cx="48700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72" name="CustomShape 2"/>
          <p:cNvSpPr/>
          <p:nvPr/>
        </p:nvSpPr>
        <p:spPr>
          <a:xfrm>
            <a:off x="764280" y="207360"/>
            <a:ext cx="10697760" cy="5787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i="1" lang="en-US" sz="2200" spc="-1" strike="noStrike">
                <a:solidFill>
                  <a:srgbClr val="000000"/>
                </a:solidFill>
                <a:latin typeface="LiberationSerif-BoldItalic"/>
                <a:ea typeface="DejaVu Sans"/>
              </a:rPr>
              <a:t>C, the carry flag</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This flag is set whenever there is a carry out from the D31 bit. This flag bit is affected after a 32-bit addition or subtraction.  </a:t>
            </a:r>
            <a:endParaRPr b="0" lang="en-IN" sz="2200" spc="-1" strike="noStrike">
              <a:solidFill>
                <a:srgbClr val="000000"/>
              </a:solidFill>
              <a:latin typeface="Arial"/>
            </a:endParaRPr>
          </a:p>
          <a:p>
            <a:pPr>
              <a:lnSpc>
                <a:spcPct val="100000"/>
              </a:lnSpc>
            </a:pPr>
            <a:r>
              <a:rPr b="1" i="1" lang="en-US" sz="2200" spc="-1" strike="noStrike">
                <a:solidFill>
                  <a:srgbClr val="000000"/>
                </a:solidFill>
                <a:latin typeface="LiberationSerif-BoldItalic"/>
                <a:ea typeface="DejaVu Sans"/>
              </a:rPr>
              <a:t>Z, the zero flag</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The zero flag reflects the result of an arithmetic or logic operation. If the result is</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zero, then Z = 1. Therefore, Z = 0 if the result is not zero.  </a:t>
            </a:r>
            <a:endParaRPr b="0" lang="en-IN" sz="2200" spc="-1" strike="noStrike">
              <a:solidFill>
                <a:srgbClr val="000000"/>
              </a:solidFill>
              <a:latin typeface="Arial"/>
            </a:endParaRPr>
          </a:p>
          <a:p>
            <a:pPr>
              <a:lnSpc>
                <a:spcPct val="100000"/>
              </a:lnSpc>
            </a:pPr>
            <a:r>
              <a:rPr b="1" i="1" lang="en-US" sz="2200" spc="-1" strike="noStrike">
                <a:solidFill>
                  <a:srgbClr val="000000"/>
                </a:solidFill>
                <a:latin typeface="LiberationSerif-BoldItalic"/>
                <a:ea typeface="DejaVu Sans"/>
              </a:rPr>
              <a:t>N, the negative flag</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The negative flag reflects the result of an arithmetic operation. If the D31 bit of the result is zero, then N = 0 and the result is positive. If the D31 bit is one, then N = 1 and the result is negative. The negative and V flag bits are used for the signed number arithmetic operations  </a:t>
            </a:r>
            <a:endParaRPr b="0" lang="en-IN" sz="2200" spc="-1" strike="noStrike">
              <a:solidFill>
                <a:srgbClr val="000000"/>
              </a:solidFill>
              <a:latin typeface="Arial"/>
            </a:endParaRPr>
          </a:p>
          <a:p>
            <a:pPr>
              <a:lnSpc>
                <a:spcPct val="100000"/>
              </a:lnSpc>
            </a:pPr>
            <a:r>
              <a:rPr b="1" i="1" lang="en-US" sz="2200" spc="-1" strike="noStrike">
                <a:solidFill>
                  <a:srgbClr val="000000"/>
                </a:solidFill>
                <a:latin typeface="LiberationSerif-BoldItalic"/>
                <a:ea typeface="DejaVu Sans"/>
              </a:rPr>
              <a:t>V, the overflow flag</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This flag is set whenever the result of a signed number operation is too large, causing the high-order bit to overflow into the sign bit. In general, the carry flag is used to detect errors in unsigned arithmetic operations while the overflow flag is used to detect errors in signed arithmetic operations.  </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The T flag bit is used to indicate the ARM is in Thumb state. The I and F flags are used to enable or disable the interrupt. See the ARM manual.</a:t>
            </a:r>
            <a:endParaRPr b="0" lang="en-IN"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TextShape 1"/>
          <p:cNvSpPr/>
          <p:nvPr/>
        </p:nvSpPr>
        <p:spPr>
          <a:xfrm>
            <a:off x="720000" y="540000"/>
            <a:ext cx="10798200" cy="5938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3000" spc="-1" strike="noStrike">
                <a:solidFill>
                  <a:srgbClr val="000000"/>
                </a:solidFill>
                <a:latin typeface="Arial"/>
                <a:ea typeface="DejaVu Sans"/>
              </a:rPr>
              <a:t>Not all instructions affect the flags</a:t>
            </a:r>
            <a:endParaRPr b="0" lang="en-IN" sz="3000" spc="-1" strike="noStrike">
              <a:solidFill>
                <a:srgbClr val="000000"/>
              </a:solidFill>
              <a:latin typeface="Arial"/>
            </a:endParaRPr>
          </a:p>
          <a:p>
            <a:pPr>
              <a:lnSpc>
                <a:spcPct val="100000"/>
              </a:lnSpc>
            </a:pPr>
            <a:endParaRPr b="0" lang="en-IN" sz="3000" spc="-1" strike="noStrike">
              <a:solidFill>
                <a:srgbClr val="000000"/>
              </a:solidFill>
              <a:latin typeface="Arial"/>
            </a:endParaRPr>
          </a:p>
        </p:txBody>
      </p:sp>
      <p:pic>
        <p:nvPicPr>
          <p:cNvPr id="474" name="" descr=""/>
          <p:cNvPicPr/>
          <p:nvPr/>
        </p:nvPicPr>
        <p:blipFill>
          <a:blip r:embed="rId1"/>
          <a:stretch/>
        </p:blipFill>
        <p:spPr>
          <a:xfrm>
            <a:off x="2785320" y="1260000"/>
            <a:ext cx="3692880" cy="42548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TextShape 1"/>
          <p:cNvSpPr/>
          <p:nvPr/>
        </p:nvSpPr>
        <p:spPr>
          <a:xfrm>
            <a:off x="609480" y="273600"/>
            <a:ext cx="10970640" cy="114300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3000" spc="-1" strike="noStrike">
                <a:solidFill>
                  <a:srgbClr val="000000"/>
                </a:solidFill>
                <a:latin typeface="Calibri"/>
                <a:ea typeface="DejaVu Sans"/>
              </a:rPr>
              <a:t>Flag bits and decision making</a:t>
            </a:r>
            <a:br>
              <a:rPr sz="3000"/>
            </a:br>
            <a:endParaRPr b="0" lang="en-IN" sz="3000" spc="-1" strike="noStrike">
              <a:solidFill>
                <a:srgbClr val="000000"/>
              </a:solidFill>
              <a:latin typeface="Arial"/>
            </a:endParaRPr>
          </a:p>
        </p:txBody>
      </p:sp>
      <p:sp>
        <p:nvSpPr>
          <p:cNvPr id="476" name="TextShape 2"/>
          <p:cNvSpPr/>
          <p:nvPr/>
        </p:nvSpPr>
        <p:spPr>
          <a:xfrm>
            <a:off x="540000" y="900000"/>
            <a:ext cx="10970640" cy="5398200"/>
          </a:xfrm>
          <a:prstGeom prst="rect">
            <a:avLst/>
          </a:prstGeom>
          <a:noFill/>
          <a:ln w="0">
            <a:noFill/>
          </a:ln>
        </p:spPr>
        <p:style>
          <a:lnRef idx="0"/>
          <a:fillRef idx="0"/>
          <a:effectRef idx="0"/>
          <a:fontRef idx="minor"/>
        </p:style>
        <p:txBody>
          <a:bodyPr lIns="0" rIns="0" tIns="0" bIns="0" anchor="ctr">
            <a:noAutofit/>
          </a:bodyPr>
          <a:p>
            <a:pPr algn="ctr">
              <a:lnSpc>
                <a:spcPct val="100000"/>
              </a:lnSpc>
            </a:pPr>
            <a:endParaRPr b="0" lang="en-IN" sz="3200" spc="-1" strike="noStrike">
              <a:solidFill>
                <a:srgbClr val="000000"/>
              </a:solidFill>
              <a:latin typeface="Arial"/>
              <a:ea typeface="DejaVu Sans"/>
            </a:endParaRPr>
          </a:p>
        </p:txBody>
      </p:sp>
      <p:pic>
        <p:nvPicPr>
          <p:cNvPr id="477" name="" descr=""/>
          <p:cNvPicPr/>
          <p:nvPr/>
        </p:nvPicPr>
        <p:blipFill>
          <a:blip r:embed="rId1"/>
          <a:stretch/>
        </p:blipFill>
        <p:spPr>
          <a:xfrm>
            <a:off x="3960000" y="1080000"/>
            <a:ext cx="5758200" cy="503820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TextShape 1"/>
          <p:cNvSpPr/>
          <p:nvPr/>
        </p:nvSpPr>
        <p:spPr>
          <a:xfrm>
            <a:off x="609480" y="273600"/>
            <a:ext cx="10970640" cy="114300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4000" spc="-1" strike="noStrike">
                <a:solidFill>
                  <a:srgbClr val="000000"/>
                </a:solidFill>
                <a:latin typeface="Calibri"/>
                <a:ea typeface="DejaVu Sans"/>
              </a:rPr>
              <a:t>Data format representation</a:t>
            </a:r>
            <a:br>
              <a:rPr sz="4000"/>
            </a:br>
            <a:endParaRPr b="0" lang="en-IN" sz="4000" spc="-1" strike="noStrike">
              <a:solidFill>
                <a:srgbClr val="000000"/>
              </a:solidFill>
              <a:latin typeface="Arial"/>
            </a:endParaRPr>
          </a:p>
        </p:txBody>
      </p:sp>
      <p:sp>
        <p:nvSpPr>
          <p:cNvPr id="479" name="TextShape 2"/>
          <p:cNvSpPr/>
          <p:nvPr/>
        </p:nvSpPr>
        <p:spPr>
          <a:xfrm>
            <a:off x="609480" y="1604520"/>
            <a:ext cx="10970640" cy="397548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800" spc="-1" strike="noStrike">
                <a:solidFill>
                  <a:srgbClr val="000000"/>
                </a:solidFill>
                <a:latin typeface="Calibri"/>
                <a:ea typeface="DejaVu Sans"/>
              </a:rPr>
              <a:t>Hex numbers: </a:t>
            </a:r>
            <a:r>
              <a:rPr b="0" i="1" lang="en-US" sz="2800" spc="-1" strike="noStrike">
                <a:solidFill>
                  <a:srgbClr val="c9211e"/>
                </a:solidFill>
                <a:latin typeface="Calibri"/>
                <a:ea typeface="DejaVu Sans"/>
              </a:rPr>
              <a:t> MOV  R1,#0x99</a:t>
            </a:r>
            <a:endParaRPr b="0" lang="en-IN" sz="28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2800" spc="-1" strike="noStrike">
                <a:solidFill>
                  <a:srgbClr val="000000"/>
                </a:solidFill>
                <a:latin typeface="Calibri"/>
                <a:ea typeface="DejaVu Sans"/>
              </a:rPr>
              <a:t>Decimal numbers: </a:t>
            </a:r>
            <a:r>
              <a:rPr b="0" i="1" lang="en-US" sz="2800" spc="-1" strike="noStrike">
                <a:solidFill>
                  <a:srgbClr val="c9211e"/>
                </a:solidFill>
                <a:latin typeface="Calibri"/>
                <a:ea typeface="DejaVu Sans"/>
              </a:rPr>
              <a:t>MOV R7,#12</a:t>
            </a:r>
            <a:endParaRPr b="0" lang="en-IN" sz="28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2800" spc="-1" strike="noStrike">
                <a:solidFill>
                  <a:srgbClr val="000000"/>
                </a:solidFill>
                <a:latin typeface="Calibri"/>
                <a:ea typeface="DejaVu Sans"/>
              </a:rPr>
              <a:t> </a:t>
            </a:r>
            <a:r>
              <a:rPr b="0" lang="en-US" sz="2800" spc="-1" strike="noStrike">
                <a:solidFill>
                  <a:srgbClr val="000000"/>
                </a:solidFill>
                <a:latin typeface="Calibri"/>
                <a:ea typeface="DejaVu Sans"/>
              </a:rPr>
              <a:t>Binary numbers: </a:t>
            </a:r>
            <a:r>
              <a:rPr b="0" i="1" lang="en-US" sz="2800" spc="-1" strike="noStrike">
                <a:solidFill>
                  <a:srgbClr val="c9211e"/>
                </a:solidFill>
                <a:latin typeface="Calibri"/>
                <a:ea typeface="DejaVu Sans"/>
              </a:rPr>
              <a:t>MOV R6,#2_10011001 </a:t>
            </a:r>
            <a:endParaRPr b="0" lang="en-IN" sz="28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2800" spc="-1" strike="noStrike">
                <a:solidFill>
                  <a:srgbClr val="000000"/>
                </a:solidFill>
                <a:latin typeface="Calibri"/>
                <a:ea typeface="DejaVu Sans"/>
              </a:rPr>
              <a:t>Numbers in any base between 2 and 9: </a:t>
            </a:r>
            <a:endParaRPr b="0" lang="en-IN" sz="28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i="1" lang="en-US" sz="2800" spc="-1" strike="noStrike">
                <a:solidFill>
                  <a:srgbClr val="c9211e"/>
                </a:solidFill>
                <a:latin typeface="Calibri"/>
                <a:ea typeface="DejaVu Sans"/>
              </a:rPr>
              <a:t>MOV R7,#8_33  ;R7 = 33 in base 8 or 011011 in binary format</a:t>
            </a:r>
            <a:endParaRPr b="0" lang="en-IN" sz="28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2800" spc="-1" strike="noStrike">
                <a:solidFill>
                  <a:srgbClr val="000000"/>
                </a:solidFill>
                <a:latin typeface="Calibri"/>
                <a:ea typeface="DejaVu Sans"/>
              </a:rPr>
              <a:t>ASCII characters: </a:t>
            </a:r>
            <a:r>
              <a:rPr b="0" i="1" lang="en-US" sz="2800" spc="-1" strike="noStrike">
                <a:solidFill>
                  <a:srgbClr val="c9211e"/>
                </a:solidFill>
                <a:latin typeface="Calibri"/>
                <a:ea typeface="DejaVu Sans"/>
              </a:rPr>
              <a:t>LDR R3,#‘2’  ;R3 = 00110010 or 32 in hex </a:t>
            </a:r>
            <a:endParaRPr b="0" lang="en-IN" sz="2800" spc="-1" strike="noStrike">
              <a:solidFill>
                <a:srgbClr val="000000"/>
              </a:solidFill>
              <a:latin typeface="Arial"/>
            </a:endParaRPr>
          </a:p>
          <a:p>
            <a:pPr>
              <a:lnSpc>
                <a:spcPct val="100000"/>
              </a:lnSpc>
              <a:spcBef>
                <a:spcPts val="1417"/>
              </a:spcBef>
            </a:pPr>
            <a:endParaRPr b="0" lang="en-IN" sz="2800" spc="-1" strike="noStrike">
              <a:solidFill>
                <a:srgbClr val="000000"/>
              </a:solidFill>
              <a:latin typeface="Arial"/>
            </a:endParaRPr>
          </a:p>
          <a:p>
            <a:pPr>
              <a:lnSpc>
                <a:spcPct val="100000"/>
              </a:lnSpc>
              <a:spcBef>
                <a:spcPts val="1417"/>
              </a:spcBef>
            </a:pPr>
            <a:endParaRPr b="0" lang="en-IN"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0" name="" descr=""/>
          <p:cNvPicPr/>
          <p:nvPr/>
        </p:nvPicPr>
        <p:blipFill>
          <a:blip r:embed="rId1"/>
          <a:stretch/>
        </p:blipFill>
        <p:spPr>
          <a:xfrm>
            <a:off x="1620000" y="180000"/>
            <a:ext cx="8638920" cy="647892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CustomShape 1"/>
          <p:cNvSpPr/>
          <p:nvPr/>
        </p:nvSpPr>
        <p:spPr>
          <a:xfrm>
            <a:off x="1405800" y="711000"/>
            <a:ext cx="8896320" cy="55782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000" spc="-1" strike="noStrike">
                <a:solidFill>
                  <a:srgbClr val="000000"/>
                </a:solidFill>
                <a:latin typeface="Times New Roman"/>
                <a:ea typeface="DejaVu Sans"/>
              </a:rPr>
              <a:t>ARM assembly language module</a:t>
            </a:r>
            <a:endParaRPr b="0" lang="en-IN" sz="2000" spc="-1" strike="noStrike">
              <a:solidFill>
                <a:srgbClr val="000000"/>
              </a:solidFill>
              <a:latin typeface="Arial"/>
            </a:endParaRPr>
          </a:p>
          <a:p>
            <a:pPr algn="just">
              <a:lnSpc>
                <a:spcPct val="100000"/>
              </a:lnSpc>
            </a:pPr>
            <a:r>
              <a:rPr b="0" lang="en-US" sz="2000" spc="-1" strike="noStrike">
                <a:solidFill>
                  <a:srgbClr val="000000"/>
                </a:solidFill>
                <a:latin typeface="Times New Roman"/>
                <a:ea typeface="DejaVu Sans"/>
              </a:rPr>
              <a:t>An ARM assembly language module has several constituent parts. These are:</a:t>
            </a:r>
            <a:endParaRPr b="0" lang="en-IN" sz="2000" spc="-1" strike="noStrike">
              <a:solidFill>
                <a:srgbClr val="000000"/>
              </a:solidFill>
              <a:latin typeface="Arial"/>
            </a:endParaRPr>
          </a:p>
          <a:p>
            <a:pPr marL="343080" indent="-342720" algn="just">
              <a:lnSpc>
                <a:spcPct val="100000"/>
              </a:lnSpc>
              <a:buClr>
                <a:srgbClr val="000000"/>
              </a:buClr>
              <a:buFont typeface="Arial"/>
              <a:buChar char="•"/>
            </a:pPr>
            <a:r>
              <a:rPr b="0" lang="en-US" sz="2000" spc="-1" strike="noStrike">
                <a:solidFill>
                  <a:srgbClr val="000000"/>
                </a:solidFill>
                <a:latin typeface="Times New Roman"/>
                <a:ea typeface="DejaVu Sans"/>
              </a:rPr>
              <a:t>Extensible Linking Format (ELF) sections (defined by the AREA directive).</a:t>
            </a:r>
            <a:endParaRPr b="0" lang="en-IN" sz="2000" spc="-1" strike="noStrike">
              <a:solidFill>
                <a:srgbClr val="000000"/>
              </a:solidFill>
              <a:latin typeface="Arial"/>
            </a:endParaRPr>
          </a:p>
          <a:p>
            <a:pPr marL="343080" indent="-342720" algn="just">
              <a:lnSpc>
                <a:spcPct val="100000"/>
              </a:lnSpc>
              <a:buClr>
                <a:srgbClr val="000000"/>
              </a:buClr>
              <a:buFont typeface="Arial"/>
              <a:buChar char="•"/>
            </a:pPr>
            <a:r>
              <a:rPr b="0" lang="en-US" sz="2000" spc="-1" strike="noStrike">
                <a:solidFill>
                  <a:srgbClr val="000000"/>
                </a:solidFill>
                <a:latin typeface="Times New Roman"/>
                <a:ea typeface="DejaVu Sans"/>
              </a:rPr>
              <a:t>Application entry (defined by the ENTRY directive).</a:t>
            </a:r>
            <a:endParaRPr b="0" lang="en-IN" sz="2000" spc="-1" strike="noStrike">
              <a:solidFill>
                <a:srgbClr val="000000"/>
              </a:solidFill>
              <a:latin typeface="Arial"/>
            </a:endParaRPr>
          </a:p>
          <a:p>
            <a:pPr marL="343080" indent="-342720" algn="just">
              <a:lnSpc>
                <a:spcPct val="100000"/>
              </a:lnSpc>
              <a:buClr>
                <a:srgbClr val="000000"/>
              </a:buClr>
              <a:buFont typeface="Arial"/>
              <a:buChar char="•"/>
            </a:pPr>
            <a:r>
              <a:rPr b="0" lang="en-US" sz="2000" spc="-1" strike="noStrike">
                <a:solidFill>
                  <a:srgbClr val="000000"/>
                </a:solidFill>
                <a:latin typeface="Times New Roman"/>
                <a:ea typeface="DejaVu Sans"/>
              </a:rPr>
              <a:t>Program end (defined by the END directive).</a:t>
            </a:r>
            <a:endParaRPr b="0" lang="en-IN" sz="2000" spc="-1" strike="noStrike">
              <a:solidFill>
                <a:srgbClr val="000000"/>
              </a:solidFill>
              <a:latin typeface="Arial"/>
            </a:endParaRPr>
          </a:p>
          <a:p>
            <a:pPr algn="just">
              <a:lnSpc>
                <a:spcPct val="100000"/>
              </a:lnSpc>
            </a:pPr>
            <a:r>
              <a:rPr b="1" lang="en-US" sz="2000" spc="-1" strike="noStrike">
                <a:solidFill>
                  <a:srgbClr val="000000"/>
                </a:solidFill>
                <a:latin typeface="Times New Roman"/>
                <a:ea typeface="DejaVu Sans"/>
              </a:rPr>
              <a:t>Assembler Directives</a:t>
            </a:r>
            <a:endParaRPr b="0" lang="en-IN" sz="2000" spc="-1" strike="noStrike">
              <a:solidFill>
                <a:srgbClr val="000000"/>
              </a:solidFill>
              <a:latin typeface="Arial"/>
            </a:endParaRPr>
          </a:p>
          <a:p>
            <a:pPr marL="343080" indent="-342720" algn="just">
              <a:lnSpc>
                <a:spcPct val="100000"/>
              </a:lnSpc>
              <a:buClr>
                <a:srgbClr val="000000"/>
              </a:buClr>
              <a:buFont typeface="Arial"/>
              <a:buChar char="•"/>
            </a:pPr>
            <a:r>
              <a:rPr b="0" lang="en-US" sz="2000" spc="-1" strike="noStrike">
                <a:solidFill>
                  <a:srgbClr val="000000"/>
                </a:solidFill>
                <a:latin typeface="Times New Roman"/>
                <a:ea typeface="DejaVu Sans"/>
              </a:rPr>
              <a:t>Assembler directives are the commands to the assembler that direct the assembly</a:t>
            </a:r>
            <a:endParaRPr b="0" lang="en-IN" sz="2000" spc="-1" strike="noStrike">
              <a:solidFill>
                <a:srgbClr val="000000"/>
              </a:solidFill>
              <a:latin typeface="Arial"/>
            </a:endParaRPr>
          </a:p>
          <a:p>
            <a:pPr algn="just">
              <a:lnSpc>
                <a:spcPct val="100000"/>
              </a:lnSpc>
            </a:pPr>
            <a:r>
              <a:rPr b="0" lang="en-US" sz="2000" spc="-1" strike="noStrike">
                <a:solidFill>
                  <a:srgbClr val="000000"/>
                </a:solidFill>
                <a:latin typeface="Times New Roman"/>
                <a:ea typeface="DejaVu Sans"/>
              </a:rPr>
              <a:t>process.</a:t>
            </a:r>
            <a:endParaRPr b="0" lang="en-IN" sz="2000" spc="-1" strike="noStrike">
              <a:solidFill>
                <a:srgbClr val="000000"/>
              </a:solidFill>
              <a:latin typeface="Arial"/>
            </a:endParaRPr>
          </a:p>
          <a:p>
            <a:pPr marL="343080" indent="-342720" algn="just">
              <a:lnSpc>
                <a:spcPct val="100000"/>
              </a:lnSpc>
              <a:buClr>
                <a:srgbClr val="000000"/>
              </a:buClr>
              <a:buFont typeface="Arial"/>
              <a:buChar char="•"/>
            </a:pPr>
            <a:r>
              <a:rPr b="0" lang="en-US" sz="2000" spc="-1" strike="noStrike">
                <a:solidFill>
                  <a:srgbClr val="000000"/>
                </a:solidFill>
                <a:latin typeface="Times New Roman"/>
                <a:ea typeface="DejaVu Sans"/>
              </a:rPr>
              <a:t>They do not generate any machine code i.e. they do not contribute to the final size</a:t>
            </a:r>
            <a:endParaRPr b="0" lang="en-IN" sz="2000" spc="-1" strike="noStrike">
              <a:solidFill>
                <a:srgbClr val="000000"/>
              </a:solidFill>
              <a:latin typeface="Arial"/>
            </a:endParaRPr>
          </a:p>
          <a:p>
            <a:pPr algn="just">
              <a:lnSpc>
                <a:spcPct val="100000"/>
              </a:lnSpc>
            </a:pPr>
            <a:r>
              <a:rPr b="0" lang="en-US" sz="2000" spc="-1" strike="noStrike">
                <a:solidFill>
                  <a:srgbClr val="000000"/>
                </a:solidFill>
                <a:latin typeface="Times New Roman"/>
                <a:ea typeface="DejaVu Sans"/>
              </a:rPr>
              <a:t>of machine code and they are assembler specific</a:t>
            </a:r>
            <a:endParaRPr b="0" lang="en-IN" sz="2000" spc="-1" strike="noStrike">
              <a:solidFill>
                <a:srgbClr val="000000"/>
              </a:solidFill>
              <a:latin typeface="Arial"/>
            </a:endParaRPr>
          </a:p>
          <a:p>
            <a:pPr algn="just">
              <a:lnSpc>
                <a:spcPct val="100000"/>
              </a:lnSpc>
            </a:pPr>
            <a:r>
              <a:rPr b="1" lang="en-US" sz="2000" spc="-1" strike="noStrike">
                <a:solidFill>
                  <a:srgbClr val="000000"/>
                </a:solidFill>
                <a:latin typeface="Times New Roman"/>
                <a:ea typeface="DejaVu Sans"/>
              </a:rPr>
              <a:t>AREA:</a:t>
            </a:r>
            <a:endParaRPr b="0" lang="en-IN" sz="2000" spc="-1" strike="noStrike">
              <a:solidFill>
                <a:srgbClr val="000000"/>
              </a:solidFill>
              <a:latin typeface="Arial"/>
            </a:endParaRPr>
          </a:p>
          <a:p>
            <a:pPr algn="just">
              <a:lnSpc>
                <a:spcPct val="100000"/>
              </a:lnSpc>
            </a:pPr>
            <a:r>
              <a:rPr b="0" lang="en-US" sz="2000" spc="-1" strike="noStrike">
                <a:solidFill>
                  <a:srgbClr val="000000"/>
                </a:solidFill>
                <a:latin typeface="Times New Roman"/>
                <a:ea typeface="DejaVu Sans"/>
              </a:rPr>
              <a:t>The AREA directive tells the assembler to define a new section of memory. The memory can be code (instructions) or data and can have attributes such as READONLY, READWRITE and so on. This is used to define one or more blocks of indivisible memory for code or data to be used by the linker. The following is the format:</a:t>
            </a:r>
            <a:endParaRPr b="0" lang="en-IN" sz="2000" spc="-1" strike="noStrike">
              <a:solidFill>
                <a:srgbClr val="000000"/>
              </a:solidFill>
              <a:latin typeface="Arial"/>
            </a:endParaRPr>
          </a:p>
          <a:p>
            <a:pPr algn="just">
              <a:lnSpc>
                <a:spcPct val="100000"/>
              </a:lnSpc>
            </a:pPr>
            <a:r>
              <a:rPr b="0" lang="en-US" sz="2000" spc="-1" strike="noStrike">
                <a:solidFill>
                  <a:srgbClr val="000000"/>
                </a:solidFill>
                <a:latin typeface="Times New Roman"/>
                <a:ea typeface="DejaVu Sans"/>
              </a:rPr>
              <a:t>AREA sectionname attribute, attribute, …</a:t>
            </a:r>
            <a:endParaRPr b="0" lang="en-IN" sz="2000" spc="-1" strike="noStrike">
              <a:solidFill>
                <a:srgbClr val="000000"/>
              </a:solidFill>
              <a:latin typeface="Arial"/>
            </a:endParaRPr>
          </a:p>
        </p:txBody>
      </p:sp>
      <p:sp>
        <p:nvSpPr>
          <p:cNvPr id="482" name="TextShape 2"/>
          <p:cNvSpPr/>
          <p:nvPr/>
        </p:nvSpPr>
        <p:spPr>
          <a:xfrm>
            <a:off x="6946560" y="6274440"/>
            <a:ext cx="48895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CustomShape 1"/>
          <p:cNvSpPr/>
          <p:nvPr/>
        </p:nvSpPr>
        <p:spPr>
          <a:xfrm>
            <a:off x="1187280" y="873000"/>
            <a:ext cx="9892440" cy="4844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The following line defines a new area named mycode which has CODE and</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REASDONLY attributes:</a:t>
            </a:r>
            <a:endParaRPr b="0" lang="en-IN" sz="2400" spc="-1" strike="noStrike">
              <a:solidFill>
                <a:srgbClr val="000000"/>
              </a:solidFill>
              <a:latin typeface="Arial"/>
            </a:endParaRPr>
          </a:p>
          <a:p>
            <a:pPr algn="just">
              <a:lnSpc>
                <a:spcPct val="100000"/>
              </a:lnSpc>
            </a:pPr>
            <a:r>
              <a:rPr b="0" lang="en-US" sz="2400" spc="-1" strike="noStrike">
                <a:solidFill>
                  <a:srgbClr val="c9211e"/>
                </a:solidFill>
                <a:latin typeface="Times New Roman"/>
                <a:ea typeface="DejaVu Sans"/>
              </a:rPr>
              <a:t>AREA mycode, CODE, READONLY</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Commonly used attributes are CODE, DATA, READONLY, READWRITE</a:t>
            </a: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Times New Roman"/>
                <a:ea typeface="DejaVu Sans"/>
              </a:rPr>
              <a:t>READONLY:</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It is an attribute given to an area of memory which can only be read from. It is by default for CODE. This area is used to write the instructions.</a:t>
            </a: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Times New Roman"/>
                <a:ea typeface="DejaVu Sans"/>
              </a:rPr>
              <a:t>READWRITE:</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It is attribute given to an area of memory which can be read from and written to. It is by default for DATA.</a:t>
            </a: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Times New Roman"/>
                <a:ea typeface="DejaVu Sans"/>
              </a:rPr>
              <a:t>CODE:</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It is an attribute given to an area of memory used for executable machine instructions. It is by default READONLY memory.</a:t>
            </a:r>
            <a:endParaRPr b="0" lang="en-IN" sz="2400" spc="-1" strike="noStrike">
              <a:solidFill>
                <a:srgbClr val="000000"/>
              </a:solidFill>
              <a:latin typeface="Arial"/>
            </a:endParaRPr>
          </a:p>
        </p:txBody>
      </p:sp>
      <p:sp>
        <p:nvSpPr>
          <p:cNvPr id="484" name="TextShape 2"/>
          <p:cNvSpPr/>
          <p:nvPr/>
        </p:nvSpPr>
        <p:spPr>
          <a:xfrm>
            <a:off x="6919560" y="6288120"/>
            <a:ext cx="46573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CustomShape 1"/>
          <p:cNvSpPr/>
          <p:nvPr/>
        </p:nvSpPr>
        <p:spPr>
          <a:xfrm>
            <a:off x="1337400" y="338040"/>
            <a:ext cx="9442080" cy="59418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Times New Roman"/>
                <a:ea typeface="DejaVu Sans"/>
              </a:rPr>
              <a:t>DATA:</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It is an attribute given to an area of memory used for data and no instructions can be placed in this area. It is by default READWRITE memory.</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Eg: </a:t>
            </a:r>
            <a:r>
              <a:rPr b="0" i="1" lang="en-US" sz="2400" spc="-1" strike="noStrike">
                <a:solidFill>
                  <a:srgbClr val="c9211e"/>
                </a:solidFill>
                <a:latin typeface="Times New Roman"/>
                <a:ea typeface="DejaVu Sans"/>
              </a:rPr>
              <a:t>AREA OUR_VARIABLES, DATA, READWRITE</a:t>
            </a: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Times New Roman"/>
                <a:ea typeface="DejaVu Sans"/>
              </a:rPr>
              <a:t>ALIGN:</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It is used to indicate how memory should be allocated according to the addresses. When the ALIGN is used for CODE and READONLY, it is</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aligned in 4-bytes address boundary by default since the ARM instructions are 32 bit word. If it is written as ALIGN = 3, it indicates that the information should be placed in memory with addresses of 2</a:t>
            </a:r>
            <a:r>
              <a:rPr b="0" lang="en-US" sz="2400" spc="-1" strike="noStrike" baseline="30000">
                <a:solidFill>
                  <a:srgbClr val="000000"/>
                </a:solidFill>
                <a:latin typeface="Times New Roman"/>
                <a:ea typeface="DejaVu Sans"/>
              </a:rPr>
              <a:t>3</a:t>
            </a:r>
            <a:r>
              <a:rPr b="0" lang="en-US" sz="2400" spc="-1" strike="noStrike">
                <a:solidFill>
                  <a:srgbClr val="000000"/>
                </a:solidFill>
                <a:latin typeface="Times New Roman"/>
                <a:ea typeface="DejaVu Sans"/>
              </a:rPr>
              <a:t>, that is for example 0x50000, 0x50008, 0x50010, 0x50018</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and so on.</a:t>
            </a: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Times New Roman"/>
                <a:ea typeface="DejaVu Sans"/>
              </a:rPr>
              <a:t>EXPORT:</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The EXPORT directive declares a symbol that can be used by the linker to resolve symbol references in separate object and library files.</a:t>
            </a:r>
            <a:endParaRPr b="0" lang="en-IN" sz="2400" spc="-1" strike="noStrike">
              <a:solidFill>
                <a:srgbClr val="000000"/>
              </a:solidFill>
              <a:latin typeface="Arial"/>
            </a:endParaRPr>
          </a:p>
        </p:txBody>
      </p:sp>
      <p:sp>
        <p:nvSpPr>
          <p:cNvPr id="486" name="TextShape 2"/>
          <p:cNvSpPr/>
          <p:nvPr/>
        </p:nvSpPr>
        <p:spPr>
          <a:xfrm>
            <a:off x="6933240" y="6315480"/>
            <a:ext cx="49302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CustomShape 1"/>
          <p:cNvSpPr/>
          <p:nvPr/>
        </p:nvSpPr>
        <p:spPr>
          <a:xfrm>
            <a:off x="559440" y="394560"/>
            <a:ext cx="10820520" cy="41115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200" spc="-1" strike="noStrike">
                <a:solidFill>
                  <a:srgbClr val="000000"/>
                </a:solidFill>
                <a:latin typeface="Times New Roman"/>
                <a:ea typeface="DejaVu Sans"/>
              </a:rPr>
              <a:t>DCD (Define constant word):</a:t>
            </a:r>
            <a:endParaRPr b="0" lang="en-IN" sz="2200" spc="-1" strike="noStrike">
              <a:solidFill>
                <a:srgbClr val="000000"/>
              </a:solidFill>
              <a:latin typeface="Arial"/>
            </a:endParaRPr>
          </a:p>
          <a:p>
            <a:pPr algn="just">
              <a:lnSpc>
                <a:spcPct val="100000"/>
              </a:lnSpc>
            </a:pPr>
            <a:r>
              <a:rPr b="0" lang="en-US" sz="2200" spc="-1" strike="noStrike">
                <a:solidFill>
                  <a:srgbClr val="000000"/>
                </a:solidFill>
                <a:latin typeface="Times New Roman"/>
                <a:ea typeface="DejaVu Sans"/>
              </a:rPr>
              <a:t>Allocates a word size memory and initializes the values. Allocates one or more words of memory, aligned on 4-byte boundaries and defines initial run time contents of the memory.</a:t>
            </a:r>
            <a:endParaRPr b="0" lang="en-IN" sz="2200" spc="-1" strike="noStrike">
              <a:solidFill>
                <a:srgbClr val="000000"/>
              </a:solidFill>
              <a:latin typeface="Arial"/>
            </a:endParaRPr>
          </a:p>
          <a:p>
            <a:pPr algn="just">
              <a:lnSpc>
                <a:spcPct val="100000"/>
              </a:lnSpc>
            </a:pPr>
            <a:r>
              <a:rPr b="1" lang="en-US" sz="2200" spc="-1" strike="noStrike">
                <a:solidFill>
                  <a:srgbClr val="000000"/>
                </a:solidFill>
                <a:latin typeface="Times New Roman"/>
                <a:ea typeface="DejaVu Sans"/>
              </a:rPr>
              <a:t>ENTRY:</a:t>
            </a:r>
            <a:endParaRPr b="0" lang="en-IN" sz="2200" spc="-1" strike="noStrike">
              <a:solidFill>
                <a:srgbClr val="000000"/>
              </a:solidFill>
              <a:latin typeface="Arial"/>
            </a:endParaRPr>
          </a:p>
          <a:p>
            <a:pPr algn="just">
              <a:lnSpc>
                <a:spcPct val="100000"/>
              </a:lnSpc>
            </a:pPr>
            <a:r>
              <a:rPr b="0" lang="en-US" sz="2200" spc="-1" strike="noStrike">
                <a:solidFill>
                  <a:srgbClr val="000000"/>
                </a:solidFill>
                <a:latin typeface="Times New Roman"/>
                <a:ea typeface="DejaVu Sans"/>
              </a:rPr>
              <a:t>The ENTRY directive declares an entry point to the program. It marks the first instruction to be executed. In applications using the C library, an entry point is also contained within the C library initialization code. Initialization code and exception handlers also contain entry points</a:t>
            </a:r>
            <a:endParaRPr b="0" lang="en-IN" sz="2200" spc="-1" strike="noStrike">
              <a:solidFill>
                <a:srgbClr val="000000"/>
              </a:solidFill>
              <a:latin typeface="Arial"/>
            </a:endParaRPr>
          </a:p>
          <a:p>
            <a:pPr algn="just">
              <a:lnSpc>
                <a:spcPct val="100000"/>
              </a:lnSpc>
            </a:pPr>
            <a:r>
              <a:rPr b="1" lang="en-US" sz="2200" spc="-1" strike="noStrike">
                <a:solidFill>
                  <a:srgbClr val="000000"/>
                </a:solidFill>
                <a:latin typeface="Times New Roman"/>
                <a:ea typeface="DejaVu Sans"/>
              </a:rPr>
              <a:t>END:</a:t>
            </a:r>
            <a:endParaRPr b="0" lang="en-IN" sz="2200" spc="-1" strike="noStrike">
              <a:solidFill>
                <a:srgbClr val="000000"/>
              </a:solidFill>
              <a:latin typeface="Arial"/>
            </a:endParaRPr>
          </a:p>
          <a:p>
            <a:pPr algn="just">
              <a:lnSpc>
                <a:spcPct val="100000"/>
              </a:lnSpc>
            </a:pPr>
            <a:r>
              <a:rPr b="0" lang="en-US" sz="2200" spc="-1" strike="noStrike">
                <a:solidFill>
                  <a:srgbClr val="000000"/>
                </a:solidFill>
                <a:latin typeface="Times New Roman"/>
                <a:ea typeface="DejaVu Sans"/>
              </a:rPr>
              <a:t>It indicates to the assembler the end of the source code. The END directive is the last line of the ARM assembly program and anything after the END directive in the source file is ignored by the assembler.</a:t>
            </a:r>
            <a:endParaRPr b="0" lang="en-IN" sz="2200" spc="-1" strike="noStrike">
              <a:solidFill>
                <a:srgbClr val="000000"/>
              </a:solidFill>
              <a:latin typeface="Arial"/>
            </a:endParaRPr>
          </a:p>
          <a:p>
            <a:pPr algn="just">
              <a:lnSpc>
                <a:spcPct val="100000"/>
              </a:lnSpc>
            </a:pPr>
            <a:endParaRPr b="0" lang="en-IN" sz="2200" spc="-1" strike="noStrike">
              <a:solidFill>
                <a:srgbClr val="000000"/>
              </a:solidFill>
              <a:latin typeface="Arial"/>
            </a:endParaRPr>
          </a:p>
        </p:txBody>
      </p:sp>
      <p:sp>
        <p:nvSpPr>
          <p:cNvPr id="488" name="TextShape 2"/>
          <p:cNvSpPr/>
          <p:nvPr/>
        </p:nvSpPr>
        <p:spPr>
          <a:xfrm>
            <a:off x="6782760" y="6413040"/>
            <a:ext cx="48895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TextShape 1"/>
          <p:cNvSpPr/>
          <p:nvPr/>
        </p:nvSpPr>
        <p:spPr>
          <a:xfrm>
            <a:off x="217440" y="360000"/>
            <a:ext cx="11884680" cy="5459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Times New Roman"/>
                <a:ea typeface="DejaVu Sans"/>
              </a:rPr>
              <a:t>EQU:</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Associate a symbolic name to a numeric constant.</a:t>
            </a:r>
            <a:endParaRPr b="0" lang="en-IN" sz="2200" spc="-1" strike="noStrike">
              <a:solidFill>
                <a:srgbClr val="000000"/>
              </a:solidFill>
              <a:latin typeface="Arial"/>
            </a:endParaRPr>
          </a:p>
          <a:p>
            <a:pPr>
              <a:lnSpc>
                <a:spcPct val="100000"/>
              </a:lnSpc>
            </a:pPr>
            <a:r>
              <a:rPr b="0" i="1" lang="en-US" sz="2200" spc="-1" strike="noStrike">
                <a:solidFill>
                  <a:srgbClr val="c9211e"/>
                </a:solidFill>
                <a:latin typeface="Times New Roman"/>
                <a:ea typeface="DejaVu Sans"/>
              </a:rPr>
              <a:t>Eg: </a:t>
            </a:r>
            <a:endParaRPr b="0" lang="en-IN" sz="2200" spc="-1" strike="noStrike">
              <a:solidFill>
                <a:srgbClr val="000000"/>
              </a:solidFill>
              <a:latin typeface="Arial"/>
            </a:endParaRPr>
          </a:p>
          <a:p>
            <a:pPr>
              <a:lnSpc>
                <a:spcPct val="100000"/>
              </a:lnSpc>
            </a:pPr>
            <a:r>
              <a:rPr b="0" i="1" lang="en-US" sz="2200" spc="-1" strike="noStrike">
                <a:solidFill>
                  <a:srgbClr val="c9211e"/>
                </a:solidFill>
                <a:latin typeface="Times New Roman"/>
                <a:ea typeface="DejaVu Sans"/>
              </a:rPr>
              <a:t>	</a:t>
            </a:r>
            <a:r>
              <a:rPr b="0" i="1" lang="en-US" sz="2200" spc="-1" strike="noStrike">
                <a:solidFill>
                  <a:srgbClr val="c9211e"/>
                </a:solidFill>
                <a:latin typeface="Times New Roman"/>
                <a:ea typeface="DejaVu Sans"/>
              </a:rPr>
              <a:t>COUNT EQU 0x25</a:t>
            </a:r>
            <a:endParaRPr b="0" lang="en-IN" sz="2200" spc="-1" strike="noStrike">
              <a:solidFill>
                <a:srgbClr val="000000"/>
              </a:solidFill>
              <a:latin typeface="Arial"/>
            </a:endParaRPr>
          </a:p>
          <a:p>
            <a:pPr>
              <a:lnSpc>
                <a:spcPct val="100000"/>
              </a:lnSpc>
            </a:pPr>
            <a:endParaRPr b="0" lang="en-IN" sz="2200" spc="-1" strike="noStrike">
              <a:solidFill>
                <a:srgbClr val="000000"/>
              </a:solidFill>
              <a:latin typeface="Arial"/>
            </a:endParaRPr>
          </a:p>
          <a:p>
            <a:pPr>
              <a:lnSpc>
                <a:spcPct val="100000"/>
              </a:lnSpc>
            </a:pPr>
            <a:r>
              <a:rPr b="1" lang="en-US" sz="2200" spc="-1" strike="noStrike">
                <a:solidFill>
                  <a:srgbClr val="000000"/>
                </a:solidFill>
                <a:latin typeface="Times New Roman"/>
                <a:ea typeface="DejaVu Sans"/>
              </a:rPr>
              <a:t>RN (equate)</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This is used to define a name for a register. The RN directive does not set aside a seperate storage for the name, but associates a register with that name. It improves the</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Clarity.</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Eg: </a:t>
            </a:r>
            <a:endParaRPr b="0" lang="en-IN" sz="2200" spc="-1" strike="noStrike">
              <a:solidFill>
                <a:srgbClr val="000000"/>
              </a:solidFill>
              <a:latin typeface="Arial"/>
            </a:endParaRPr>
          </a:p>
          <a:p>
            <a:pPr>
              <a:lnSpc>
                <a:spcPct val="100000"/>
              </a:lnSpc>
            </a:pPr>
            <a:r>
              <a:rPr b="0" lang="en-US" sz="2200" spc="-1" strike="noStrike">
                <a:solidFill>
                  <a:srgbClr val="000000"/>
                </a:solidFill>
                <a:latin typeface="Times New Roman"/>
                <a:ea typeface="DejaVu Sans"/>
              </a:rPr>
              <a:t>	</a:t>
            </a:r>
            <a:r>
              <a:rPr b="0" i="1" lang="en-US" sz="2200" spc="-1" strike="noStrike">
                <a:solidFill>
                  <a:srgbClr val="c9211e"/>
                </a:solidFill>
                <a:latin typeface="Times New Roman"/>
                <a:ea typeface="DejaVu Sans"/>
              </a:rPr>
              <a:t>VAL1 RN R1 </a:t>
            </a:r>
            <a:r>
              <a:rPr b="0" i="1" lang="en-US" sz="2200" spc="-1" strike="noStrike">
                <a:solidFill>
                  <a:srgbClr val="c9211e"/>
                </a:solidFill>
                <a:latin typeface="Times New Roman"/>
                <a:ea typeface="DejaVu Sans"/>
              </a:rPr>
              <a:t>	</a:t>
            </a:r>
            <a:r>
              <a:rPr b="0" i="1" lang="en-US" sz="2200" spc="-1" strike="noStrike">
                <a:solidFill>
                  <a:srgbClr val="c9211e"/>
                </a:solidFill>
                <a:latin typeface="Times New Roman"/>
                <a:ea typeface="DejaVu Sans"/>
              </a:rPr>
              <a:t>;define VAL1 as a name for R1</a:t>
            </a:r>
            <a:endParaRPr b="0" lang="en-IN"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0" name="Picture 3" descr=""/>
          <p:cNvPicPr/>
          <p:nvPr/>
        </p:nvPicPr>
        <p:blipFill>
          <a:blip r:embed="rId1"/>
          <a:stretch/>
        </p:blipFill>
        <p:spPr>
          <a:xfrm>
            <a:off x="1714680" y="2175840"/>
            <a:ext cx="8924040" cy="3768480"/>
          </a:xfrm>
          <a:prstGeom prst="rect">
            <a:avLst/>
          </a:prstGeom>
          <a:ln w="0">
            <a:noFill/>
          </a:ln>
        </p:spPr>
      </p:pic>
      <p:sp>
        <p:nvSpPr>
          <p:cNvPr id="491" name="CustomShape 1"/>
          <p:cNvSpPr/>
          <p:nvPr/>
        </p:nvSpPr>
        <p:spPr>
          <a:xfrm>
            <a:off x="2693160" y="5946120"/>
            <a:ext cx="69674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 </a:t>
            </a:r>
            <a:r>
              <a:rPr b="1" lang="en-US" sz="1800" spc="-1" strike="noStrike">
                <a:solidFill>
                  <a:srgbClr val="5b9bd5"/>
                </a:solidFill>
                <a:latin typeface="Calibri"/>
                <a:ea typeface="Calibri"/>
              </a:rPr>
              <a:t>Some Widely Used ARM Memory Allocation Directives</a:t>
            </a:r>
            <a:endParaRPr b="0" lang="en-IN" sz="1800" spc="-1" strike="noStrike">
              <a:solidFill>
                <a:srgbClr val="000000"/>
              </a:solidFill>
              <a:latin typeface="Arial"/>
            </a:endParaRPr>
          </a:p>
        </p:txBody>
      </p:sp>
      <p:sp>
        <p:nvSpPr>
          <p:cNvPr id="492" name="TextShape 2"/>
          <p:cNvSpPr/>
          <p:nvPr/>
        </p:nvSpPr>
        <p:spPr>
          <a:xfrm>
            <a:off x="6810120" y="6315480"/>
            <a:ext cx="47937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93" name="CustomShape 3"/>
          <p:cNvSpPr/>
          <p:nvPr/>
        </p:nvSpPr>
        <p:spPr>
          <a:xfrm>
            <a:off x="878040" y="256680"/>
            <a:ext cx="10256400" cy="1919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i="1" lang="en-US" sz="2000" spc="-1" strike="noStrike">
                <a:solidFill>
                  <a:srgbClr val="000000"/>
                </a:solidFill>
                <a:latin typeface="LiberationSerif-BoldItalic"/>
                <a:ea typeface="DejaVu Sans"/>
              </a:rPr>
              <a:t>SPACE directive</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Using the SPACE directive we can allocate memory for variables.  </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LONG_VAR SPACE 4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;Allocate 4 bytes</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OUR_ALFA SPACE 2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;Allocate 2 bytes</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An Assembly language instruction consists of four fields:</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[label] mnemonic [operands] [;comment]</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95" name="CustomShape 2"/>
          <p:cNvSpPr/>
          <p:nvPr/>
        </p:nvSpPr>
        <p:spPr>
          <a:xfrm>
            <a:off x="990720" y="501480"/>
            <a:ext cx="10348560" cy="44787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Calibri"/>
                <a:ea typeface="DejaVu Sans"/>
              </a:rPr>
              <a:t>ADR directive</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To load registers with the addresses of memory locations we can also use the ADR</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pseudo-instruction which has a better performance.  ADR has the following syntax:</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ADR Rn, label</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ADR R2, OUR_FIXED_DATA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;point to OUR_FIXED_DATA</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LiberationSerif-Bold"/>
                <a:ea typeface="DejaVu Sans"/>
              </a:rPr>
              <a:t>Little endian vs. big endian</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In the big endian method, the high byte goes to the low address, whereas in the little endian method, the high byte goes to the high address and the low byte to the low address.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TextShape 1"/>
          <p:cNvSpPr/>
          <p:nvPr/>
        </p:nvSpPr>
        <p:spPr>
          <a:xfrm>
            <a:off x="6359760" y="6260760"/>
            <a:ext cx="5039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497" name="CustomShape 2"/>
          <p:cNvSpPr/>
          <p:nvPr/>
        </p:nvSpPr>
        <p:spPr>
          <a:xfrm>
            <a:off x="3006720" y="405720"/>
            <a:ext cx="61765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1800" spc="-1" strike="noStrike">
                <a:solidFill>
                  <a:srgbClr val="000000"/>
                </a:solidFill>
                <a:latin typeface="LiberationSerif-Bold"/>
                <a:ea typeface="DejaVu Sans"/>
              </a:rPr>
              <a:t>Harvard and von Neumann architectures in the ARM</a:t>
            </a:r>
            <a:endParaRPr b="0" lang="en-IN" sz="1800" spc="-1" strike="noStrike">
              <a:solidFill>
                <a:srgbClr val="000000"/>
              </a:solidFill>
              <a:latin typeface="Arial"/>
            </a:endParaRPr>
          </a:p>
        </p:txBody>
      </p:sp>
      <p:pic>
        <p:nvPicPr>
          <p:cNvPr id="498" name="Picture 5" descr=""/>
          <p:cNvPicPr/>
          <p:nvPr/>
        </p:nvPicPr>
        <p:blipFill>
          <a:blip r:embed="rId1"/>
          <a:stretch/>
        </p:blipFill>
        <p:spPr>
          <a:xfrm>
            <a:off x="2149200" y="979920"/>
            <a:ext cx="7274880" cy="3816360"/>
          </a:xfrm>
          <a:prstGeom prst="rect">
            <a:avLst/>
          </a:prstGeom>
          <a:ln w="0">
            <a:noFill/>
          </a:ln>
        </p:spPr>
      </p:pic>
      <p:sp>
        <p:nvSpPr>
          <p:cNvPr id="499" name="CustomShape 3"/>
          <p:cNvSpPr/>
          <p:nvPr/>
        </p:nvSpPr>
        <p:spPr>
          <a:xfrm>
            <a:off x="668880" y="5295240"/>
            <a:ext cx="1006992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In </a:t>
            </a:r>
            <a:r>
              <a:rPr b="0" lang="en-US" sz="2400" spc="-1" strike="noStrike">
                <a:solidFill>
                  <a:srgbClr val="c9211e"/>
                </a:solidFill>
                <a:latin typeface="Times New Roman"/>
                <a:ea typeface="DejaVu Sans"/>
              </a:rPr>
              <a:t>von Neumann</a:t>
            </a:r>
            <a:r>
              <a:rPr b="0" lang="en-US" sz="2400" spc="-1" strike="noStrike">
                <a:solidFill>
                  <a:srgbClr val="000000"/>
                </a:solidFill>
                <a:latin typeface="Times New Roman"/>
                <a:ea typeface="DejaVu Sans"/>
              </a:rPr>
              <a:t>, there are</a:t>
            </a:r>
            <a:r>
              <a:rPr b="0" lang="en-US" sz="2400" spc="-1" strike="noStrike">
                <a:solidFill>
                  <a:srgbClr val="c9211e"/>
                </a:solidFill>
                <a:latin typeface="Times New Roman"/>
                <a:ea typeface="DejaVu Sans"/>
              </a:rPr>
              <a:t> no separate</a:t>
            </a:r>
            <a:r>
              <a:rPr b="0" lang="en-US" sz="2400" spc="-1" strike="noStrike">
                <a:solidFill>
                  <a:srgbClr val="000000"/>
                </a:solidFill>
                <a:latin typeface="Times New Roman"/>
                <a:ea typeface="DejaVu Sans"/>
              </a:rPr>
              <a:t>  buses for </a:t>
            </a:r>
            <a:r>
              <a:rPr b="0" lang="en-US" sz="2400" spc="-1" strike="noStrike">
                <a:solidFill>
                  <a:srgbClr val="c9211e"/>
                </a:solidFill>
                <a:latin typeface="Times New Roman"/>
                <a:ea typeface="DejaVu Sans"/>
              </a:rPr>
              <a:t>code</a:t>
            </a:r>
            <a:r>
              <a:rPr b="0" lang="en-US" sz="2400" spc="-1" strike="noStrike">
                <a:solidFill>
                  <a:srgbClr val="000000"/>
                </a:solidFill>
                <a:latin typeface="Times New Roman"/>
                <a:ea typeface="DejaVu Sans"/>
              </a:rPr>
              <a:t> and</a:t>
            </a:r>
            <a:r>
              <a:rPr b="0" lang="en-US" sz="2400" spc="-1" strike="noStrike">
                <a:solidFill>
                  <a:srgbClr val="c9211e"/>
                </a:solidFill>
                <a:latin typeface="Times New Roman"/>
                <a:ea typeface="DejaVu Sans"/>
              </a:rPr>
              <a:t> data memory</a:t>
            </a:r>
            <a:r>
              <a:rPr b="0" lang="en-US" sz="2400" spc="-1" strike="noStrike">
                <a:solidFill>
                  <a:srgbClr val="000000"/>
                </a:solidFill>
                <a:latin typeface="Times New Roman"/>
                <a:ea typeface="DejaVu Sans"/>
              </a:rPr>
              <a:t>. In Harvard, there are separate  buses for code and data memory. </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TextShape 1"/>
          <p:cNvSpPr/>
          <p:nvPr/>
        </p:nvSpPr>
        <p:spPr>
          <a:xfrm>
            <a:off x="6673680" y="6165360"/>
            <a:ext cx="46983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01" name="CustomShape 2"/>
          <p:cNvSpPr/>
          <p:nvPr/>
        </p:nvSpPr>
        <p:spPr>
          <a:xfrm>
            <a:off x="1105560" y="900000"/>
            <a:ext cx="9987840" cy="3747240"/>
          </a:xfrm>
          <a:prstGeom prst="rect">
            <a:avLst/>
          </a:prstGeom>
          <a:noFill/>
          <a:ln w="0">
            <a:noFill/>
          </a:ln>
        </p:spPr>
        <p:style>
          <a:lnRef idx="0"/>
          <a:fillRef idx="0"/>
          <a:effectRef idx="0"/>
          <a:fontRef idx="minor"/>
        </p:style>
        <p:txBody>
          <a:bodyPr lIns="90000" rIns="90000" tIns="45000" bIns="45000" anchor="t">
            <a:spAutoFit/>
          </a:bodyPr>
          <a:p>
            <a:pPr marL="216000" indent="-216000" algn="just">
              <a:lnSpc>
                <a:spcPct val="100000"/>
              </a:lnSpc>
              <a:buClr>
                <a:srgbClr val="000000"/>
              </a:buClr>
              <a:buFont typeface="Wingdings" charset="2"/>
              <a:buChar char=""/>
            </a:pPr>
            <a:r>
              <a:rPr b="0" lang="en-US" sz="2400" spc="-1" strike="noStrike">
                <a:solidFill>
                  <a:srgbClr val="000000"/>
                </a:solidFill>
                <a:latin typeface="Times New Roman"/>
                <a:ea typeface="DejaVu Sans"/>
              </a:rPr>
              <a:t>When the CPU wants to execute the “LDR Rd,[Rx]” instruction, it puts Rx on the address bus of the data bus, and receives data through the data bus. For example, to execute “LDR R2,[R5]”, assuming that R5 = 0x40000200, the CPU puts the value of R5 on the address bus. The Memory puts the contents of location 0x40000200 on the data bus. </a:t>
            </a:r>
            <a:endParaRPr b="0" lang="en-IN" sz="24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400" spc="-1" strike="noStrike">
                <a:solidFill>
                  <a:srgbClr val="000000"/>
                </a:solidFill>
                <a:latin typeface="Times New Roman"/>
                <a:ea typeface="DejaVu Sans"/>
              </a:rPr>
              <a:t>The CPU gets the contents of location 0x40000200 through the data bus and brings into CPU and puts it in R2.</a:t>
            </a:r>
            <a:endParaRPr b="0" lang="en-IN" sz="24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400" spc="-1" strike="noStrike">
                <a:solidFill>
                  <a:srgbClr val="000000"/>
                </a:solidFill>
                <a:latin typeface="Times New Roman"/>
                <a:ea typeface="DejaVu Sans"/>
              </a:rPr>
              <a:t>The “STR Rx,[Rd]” instruction is executed similarly. The CPU puts Rd on the address bus and the contents of Rx on the data bus. The memory location whose address is on the address bus receives the contents of data bus.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CustomShape 1"/>
          <p:cNvSpPr/>
          <p:nvPr/>
        </p:nvSpPr>
        <p:spPr>
          <a:xfrm>
            <a:off x="1637640" y="349920"/>
            <a:ext cx="8841600" cy="6063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n-US" sz="3200" spc="-1" strike="noStrike">
                <a:solidFill>
                  <a:srgbClr val="000000"/>
                </a:solidFill>
                <a:latin typeface="Times New Roman"/>
                <a:ea typeface="DejaVu Sans"/>
              </a:rPr>
              <a:t>Addressing modes</a:t>
            </a:r>
            <a:endParaRPr b="0" lang="en-IN" sz="32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nSpc>
                <a:spcPct val="100000"/>
              </a:lnSpc>
            </a:pPr>
            <a:r>
              <a:rPr b="1" lang="pt-BR" sz="2400" spc="-1" strike="noStrike">
                <a:solidFill>
                  <a:srgbClr val="c9211e"/>
                </a:solidFill>
                <a:latin typeface="Times New Roman"/>
                <a:ea typeface="DejaVu Sans"/>
              </a:rPr>
              <a:t>Register to register (Register direct) </a:t>
            </a:r>
            <a:r>
              <a:rPr b="0" lang="pt-BR" sz="2400" spc="-1" strike="noStrike">
                <a:solidFill>
                  <a:srgbClr val="000000"/>
                </a:solidFill>
                <a:latin typeface="Times New Roman"/>
                <a:ea typeface="DejaVu Sans"/>
              </a:rPr>
              <a:t> MOV R0, R1</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nSpc>
                <a:spcPct val="100000"/>
              </a:lnSpc>
            </a:pPr>
            <a:r>
              <a:rPr b="1" lang="pt-BR" sz="2400" spc="-1" strike="noStrike">
                <a:solidFill>
                  <a:srgbClr val="c9211e"/>
                </a:solidFill>
                <a:latin typeface="Times New Roman"/>
                <a:ea typeface="DejaVu Sans"/>
              </a:rPr>
              <a:t>Absolute (Direct)</a:t>
            </a:r>
            <a:r>
              <a:rPr b="1"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LDR R0, MEM</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nSpc>
                <a:spcPct val="100000"/>
              </a:lnSpc>
            </a:pPr>
            <a:r>
              <a:rPr b="1" lang="en-US" sz="2400" spc="-1" strike="noStrike">
                <a:solidFill>
                  <a:srgbClr val="c9211e"/>
                </a:solidFill>
                <a:latin typeface="Times New Roman"/>
                <a:ea typeface="DejaVu Sans"/>
              </a:rPr>
              <a:t>Literal (Immediate)</a:t>
            </a:r>
            <a:r>
              <a:rPr b="0" lang="en-US" sz="2400" spc="-1" strike="noStrike">
                <a:solidFill>
                  <a:srgbClr val="000000"/>
                </a:solidFill>
                <a:latin typeface="Times New Roman"/>
                <a:ea typeface="DejaVu Sans"/>
              </a:rPr>
              <a:t> MOV R0, #15</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ADD R1, R2, #12</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nSpc>
                <a:spcPct val="100000"/>
              </a:lnSpc>
            </a:pPr>
            <a:r>
              <a:rPr b="1" lang="pt-BR" sz="2400" spc="-1" strike="noStrike">
                <a:solidFill>
                  <a:srgbClr val="c9211e"/>
                </a:solidFill>
                <a:latin typeface="Times New Roman"/>
                <a:ea typeface="DejaVu Sans"/>
              </a:rPr>
              <a:t>Indexed, base (Register indirect)</a:t>
            </a:r>
            <a:r>
              <a:rPr b="0" lang="pt-BR" sz="2400" spc="-1" strike="noStrike">
                <a:solidFill>
                  <a:srgbClr val="000000"/>
                </a:solidFill>
                <a:latin typeface="Times New Roman"/>
                <a:ea typeface="DejaVu Sans"/>
              </a:rPr>
              <a:t> LDR R0, [R1]</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nSpc>
                <a:spcPct val="100000"/>
              </a:lnSpc>
            </a:pPr>
            <a:r>
              <a:rPr b="1" lang="pt-BR" sz="2400" spc="-1" strike="noStrike">
                <a:solidFill>
                  <a:srgbClr val="c9211e"/>
                </a:solidFill>
                <a:latin typeface="Times New Roman"/>
                <a:ea typeface="DejaVu Sans"/>
              </a:rPr>
              <a:t>Pre-indexed, </a:t>
            </a:r>
            <a:r>
              <a:rPr b="1" lang="en-US" sz="2400" spc="-1" strike="noStrike">
                <a:solidFill>
                  <a:srgbClr val="c9211e"/>
                </a:solidFill>
                <a:latin typeface="Times New Roman"/>
                <a:ea typeface="DejaVu Sans"/>
              </a:rPr>
              <a:t>base with displacement (</a:t>
            </a:r>
            <a:r>
              <a:rPr b="1" lang="pt-BR" sz="2400" spc="-1" strike="noStrike">
                <a:solidFill>
                  <a:srgbClr val="c9211e"/>
                </a:solidFill>
                <a:latin typeface="Times New Roman"/>
                <a:ea typeface="DejaVu Sans"/>
              </a:rPr>
              <a:t>Register indirect </a:t>
            </a:r>
            <a:r>
              <a:rPr b="1" lang="en-US" sz="2400" spc="-1" strike="noStrike">
                <a:solidFill>
                  <a:srgbClr val="c9211e"/>
                </a:solidFill>
                <a:latin typeface="Times New Roman"/>
                <a:ea typeface="DejaVu Sans"/>
              </a:rPr>
              <a:t>with offset)</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LDR R0, [R1, #4]              ;Load R0 from [R1+4]</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LDR R0, [R1, #-4]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p:txBody>
      </p:sp>
      <p:sp>
        <p:nvSpPr>
          <p:cNvPr id="503" name="TextShape 2"/>
          <p:cNvSpPr/>
          <p:nvPr/>
        </p:nvSpPr>
        <p:spPr>
          <a:xfrm>
            <a:off x="6933240" y="6168960"/>
            <a:ext cx="47530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CustomShape 1"/>
          <p:cNvSpPr/>
          <p:nvPr/>
        </p:nvSpPr>
        <p:spPr>
          <a:xfrm>
            <a:off x="1214640" y="529560"/>
            <a:ext cx="9783360" cy="52102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pt-BR" sz="2400" spc="-1" strike="noStrike">
                <a:solidFill>
                  <a:srgbClr val="c9211e"/>
                </a:solidFill>
                <a:latin typeface="Times New Roman"/>
                <a:ea typeface="DejaVu Sans"/>
              </a:rPr>
              <a:t>Pre-indexed with </a:t>
            </a:r>
            <a:r>
              <a:rPr b="1" lang="en-US" sz="2400" spc="-1" strike="noStrike">
                <a:solidFill>
                  <a:srgbClr val="c9211e"/>
                </a:solidFill>
                <a:latin typeface="Times New Roman"/>
                <a:ea typeface="DejaVu Sans"/>
              </a:rPr>
              <a:t>autoindexing</a:t>
            </a:r>
            <a:r>
              <a:rPr b="1" lang="pt-BR" sz="2400" spc="-1" strike="noStrike">
                <a:solidFill>
                  <a:srgbClr val="c9211e"/>
                </a:solidFill>
                <a:latin typeface="Times New Roman"/>
                <a:ea typeface="DejaVu Sans"/>
              </a:rPr>
              <a:t> (Register indirect with </a:t>
            </a:r>
            <a:r>
              <a:rPr b="1" lang="en-US" sz="2400" spc="-1" strike="noStrike">
                <a:solidFill>
                  <a:srgbClr val="c9211e"/>
                </a:solidFill>
                <a:latin typeface="Times New Roman"/>
                <a:ea typeface="DejaVu Sans"/>
              </a:rPr>
              <a:t>pre-incrementing)</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LDR R0, [R1, #4]!          ; Load R0 from [R1+4], R1 = R1 +4</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gn="just">
              <a:lnSpc>
                <a:spcPct val="100000"/>
              </a:lnSpc>
            </a:pPr>
            <a:r>
              <a:rPr b="1" lang="en-US" sz="2400" spc="-1" strike="noStrike">
                <a:solidFill>
                  <a:srgbClr val="c9211e"/>
                </a:solidFill>
                <a:latin typeface="Times New Roman"/>
                <a:ea typeface="DejaVu Sans"/>
              </a:rPr>
              <a:t>Post-indexing with autoindexed (Register indirect with post-increment)</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LDR R0, [R1], #4</a:t>
            </a:r>
            <a:r>
              <a:rPr b="0" lang="pt-BR" sz="2400" spc="-1" strike="noStrike">
                <a:solidFill>
                  <a:srgbClr val="000000"/>
                </a:solidFill>
                <a:latin typeface="Times New Roman"/>
                <a:ea typeface="DejaVu Sans"/>
              </a:rPr>
              <a:t>                  ; Load R0 from [R1], R1 = R1 +4</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gn="just">
              <a:lnSpc>
                <a:spcPct val="100000"/>
              </a:lnSpc>
            </a:pPr>
            <a:r>
              <a:rPr b="1" lang="pt-BR" sz="2400" spc="-1" strike="noStrike">
                <a:solidFill>
                  <a:srgbClr val="c9211e"/>
                </a:solidFill>
                <a:latin typeface="Times New Roman"/>
                <a:ea typeface="DejaVu Sans"/>
              </a:rPr>
              <a:t>Double Reg indirect (</a:t>
            </a:r>
            <a:r>
              <a:rPr b="1" lang="en-US" sz="2400" spc="-1" strike="noStrike">
                <a:solidFill>
                  <a:srgbClr val="c9211e"/>
                </a:solidFill>
                <a:latin typeface="Times New Roman"/>
                <a:ea typeface="DejaVu Sans"/>
              </a:rPr>
              <a:t>Register indirect indexed)</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LDR R0, [R1, R2]         ; Load R0 from [R1 + R2]  </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gn="just">
              <a:lnSpc>
                <a:spcPct val="100000"/>
              </a:lnSpc>
            </a:pPr>
            <a:r>
              <a:rPr b="1" lang="pt-BR" sz="2400" spc="-1" strike="noStrike">
                <a:solidFill>
                  <a:srgbClr val="c9211e"/>
                </a:solidFill>
                <a:latin typeface="Times New Roman"/>
                <a:ea typeface="DejaVu Sans"/>
              </a:rPr>
              <a:t>Double Reg indirect </a:t>
            </a:r>
            <a:r>
              <a:rPr b="1" lang="en-US" sz="2400" spc="-1" strike="noStrike">
                <a:solidFill>
                  <a:srgbClr val="c9211e"/>
                </a:solidFill>
                <a:latin typeface="Times New Roman"/>
                <a:ea typeface="DejaVu Sans"/>
              </a:rPr>
              <a:t>with scaling</a:t>
            </a:r>
            <a:r>
              <a:rPr b="1" lang="pt-BR" sz="2400" spc="-1" strike="noStrike">
                <a:solidFill>
                  <a:srgbClr val="c9211e"/>
                </a:solidFill>
                <a:latin typeface="Times New Roman"/>
                <a:ea typeface="DejaVu Sans"/>
              </a:rPr>
              <a:t> (Register indirect </a:t>
            </a:r>
            <a:r>
              <a:rPr b="1" lang="en-US" sz="2400" spc="-1" strike="noStrike">
                <a:solidFill>
                  <a:srgbClr val="c9211e"/>
                </a:solidFill>
                <a:latin typeface="Times New Roman"/>
                <a:ea typeface="DejaVu Sans"/>
              </a:rPr>
              <a:t>indexed with scaling)</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LDR R0, [R1, r2, LSL #2]</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algn="just">
              <a:lnSpc>
                <a:spcPct val="100000"/>
              </a:lnSpc>
            </a:pPr>
            <a:r>
              <a:rPr b="1" lang="en-US" sz="2400" spc="-1" strike="noStrike">
                <a:solidFill>
                  <a:srgbClr val="c9211e"/>
                </a:solidFill>
                <a:latin typeface="Times New Roman"/>
                <a:ea typeface="DejaVu Sans"/>
              </a:rPr>
              <a:t>Program counter relative </a:t>
            </a:r>
            <a:r>
              <a:rPr b="0" lang="en-US" sz="2400" spc="-1" strike="noStrike">
                <a:solidFill>
                  <a:srgbClr val="000000"/>
                </a:solidFill>
                <a:latin typeface="Times New Roman"/>
                <a:ea typeface="DejaVu Sans"/>
              </a:rPr>
              <a:t> LDR R0, [PC, #offset]</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p:txBody>
      </p:sp>
      <p:sp>
        <p:nvSpPr>
          <p:cNvPr id="505" name="TextShape 2"/>
          <p:cNvSpPr/>
          <p:nvPr/>
        </p:nvSpPr>
        <p:spPr>
          <a:xfrm>
            <a:off x="6892200" y="6288120"/>
            <a:ext cx="47530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CustomShape 1"/>
          <p:cNvSpPr/>
          <p:nvPr/>
        </p:nvSpPr>
        <p:spPr>
          <a:xfrm>
            <a:off x="873360" y="1618200"/>
            <a:ext cx="10356480" cy="3381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Times New Roman"/>
                <a:ea typeface="DejaVu Sans"/>
              </a:rPr>
              <a:t>MOV Instruction</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MOV RD, op2</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op2 can be a register or 8 bit constant</a:t>
            </a: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1" lang="en-US" sz="2400" spc="-1" strike="noStrike">
                <a:solidFill>
                  <a:srgbClr val="c9211e"/>
                </a:solidFill>
                <a:latin typeface="Times New Roman"/>
                <a:ea typeface="DejaVu Sans"/>
              </a:rPr>
              <a:t>MOVT</a:t>
            </a:r>
            <a:r>
              <a:rPr b="0" lang="en-US" sz="2400" spc="-1" strike="noStrike">
                <a:solidFill>
                  <a:srgbClr val="000000"/>
                </a:solidFill>
                <a:latin typeface="Times New Roman"/>
                <a:ea typeface="DejaVu Sans"/>
              </a:rPr>
              <a:t> instruction that can load any value in the range </a:t>
            </a:r>
            <a:r>
              <a:rPr b="1" lang="en-US" sz="2400" spc="-1" strike="noStrike">
                <a:solidFill>
                  <a:srgbClr val="c9211e"/>
                </a:solidFill>
                <a:latin typeface="Times New Roman"/>
                <a:ea typeface="DejaVu Sans"/>
              </a:rPr>
              <a:t>0x0000 to 0xFFFF into the most significant half of a register</a:t>
            </a:r>
            <a:r>
              <a:rPr b="0" lang="en-US" sz="2400" spc="-1" strike="noStrike">
                <a:solidFill>
                  <a:srgbClr val="000000"/>
                </a:solidFill>
                <a:latin typeface="Times New Roman"/>
                <a:ea typeface="DejaVu Sans"/>
              </a:rPr>
              <a:t>, without altering the contents of the least significant half.</a:t>
            </a: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The </a:t>
            </a:r>
            <a:r>
              <a:rPr b="1" lang="en-US" sz="2400" spc="-1" strike="noStrike">
                <a:solidFill>
                  <a:srgbClr val="c9211e"/>
                </a:solidFill>
                <a:latin typeface="Times New Roman"/>
                <a:ea typeface="DejaVu Sans"/>
              </a:rPr>
              <a:t>LDR Rd,=const</a:t>
            </a:r>
            <a:r>
              <a:rPr b="0" lang="en-US" sz="2400" spc="-1" strike="noStrike">
                <a:solidFill>
                  <a:srgbClr val="000000"/>
                </a:solidFill>
                <a:latin typeface="Times New Roman"/>
                <a:ea typeface="DejaVu Sans"/>
              </a:rPr>
              <a:t> pseudo-instruction generates the most efficient single instruction to</a:t>
            </a:r>
            <a:r>
              <a:rPr b="1" lang="en-US" sz="2400" spc="-1" strike="noStrike">
                <a:solidFill>
                  <a:srgbClr val="c9211e"/>
                </a:solidFill>
                <a:latin typeface="Times New Roman"/>
                <a:ea typeface="DejaVu Sans"/>
              </a:rPr>
              <a:t> load any 32-bit number.</a:t>
            </a: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1" lang="en-US" sz="2400" spc="-1" strike="noStrike">
                <a:solidFill>
                  <a:srgbClr val="c9211e"/>
                </a:solidFill>
                <a:latin typeface="Times New Roman"/>
                <a:ea typeface="DejaVu Sans"/>
              </a:rPr>
              <a:t>MOV32</a:t>
            </a:r>
            <a:r>
              <a:rPr b="0" lang="en-US" sz="2400" spc="-1" strike="noStrike">
                <a:solidFill>
                  <a:srgbClr val="000000"/>
                </a:solidFill>
                <a:latin typeface="Times New Roman"/>
                <a:ea typeface="DejaVu Sans"/>
              </a:rPr>
              <a:t> instruction can also be used to load any 32-bit number.</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MOV32 R2, #5</a:t>
            </a:r>
            <a:endParaRPr b="0" lang="en-IN" sz="2400" spc="-1" strike="noStrike">
              <a:solidFill>
                <a:srgbClr val="000000"/>
              </a:solidFill>
              <a:latin typeface="Arial"/>
            </a:endParaRPr>
          </a:p>
        </p:txBody>
      </p:sp>
      <p:sp>
        <p:nvSpPr>
          <p:cNvPr id="507" name="TextShape 2"/>
          <p:cNvSpPr/>
          <p:nvPr/>
        </p:nvSpPr>
        <p:spPr>
          <a:xfrm>
            <a:off x="6905880" y="6124320"/>
            <a:ext cx="47394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TextShape 1"/>
          <p:cNvSpPr/>
          <p:nvPr/>
        </p:nvSpPr>
        <p:spPr>
          <a:xfrm>
            <a:off x="6973920" y="6403320"/>
            <a:ext cx="47120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09" name="CustomShape 2"/>
          <p:cNvSpPr/>
          <p:nvPr/>
        </p:nvSpPr>
        <p:spPr>
          <a:xfrm>
            <a:off x="4208400" y="555840"/>
            <a:ext cx="377316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3200" spc="-1" strike="noStrike">
                <a:solidFill>
                  <a:srgbClr val="000000"/>
                </a:solidFill>
                <a:latin typeface="LiberationSerif-Bold"/>
                <a:ea typeface="DejaVu Sans"/>
              </a:rPr>
              <a:t>ARM Data Format</a:t>
            </a:r>
            <a:endParaRPr b="0" lang="en-IN" sz="3200" spc="-1" strike="noStrike">
              <a:solidFill>
                <a:srgbClr val="000000"/>
              </a:solidFill>
              <a:latin typeface="Arial"/>
            </a:endParaRPr>
          </a:p>
        </p:txBody>
      </p:sp>
      <p:sp>
        <p:nvSpPr>
          <p:cNvPr id="510" name="CustomShape 3"/>
          <p:cNvSpPr/>
          <p:nvPr/>
        </p:nvSpPr>
        <p:spPr>
          <a:xfrm>
            <a:off x="837000" y="1140480"/>
            <a:ext cx="10283760" cy="5210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ARM data type</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ARM has four data types. They are bit, byte (8-bit), half-word (16-bit) and word (32 bit).</a:t>
            </a:r>
            <a:endParaRPr b="0" lang="en-IN" sz="2400" spc="-1" strike="noStrike">
              <a:solidFill>
                <a:srgbClr val="000000"/>
              </a:solidFill>
              <a:latin typeface="Arial"/>
            </a:endParaRPr>
          </a:p>
          <a:p>
            <a:pPr>
              <a:lnSpc>
                <a:spcPct val="100000"/>
              </a:lnSpc>
            </a:pPr>
            <a:r>
              <a:rPr b="1" lang="en-US" sz="2400" spc="-1" strike="noStrike">
                <a:solidFill>
                  <a:srgbClr val="000000"/>
                </a:solidFill>
                <a:latin typeface="Times New Roman"/>
                <a:ea typeface="DejaVu Sans"/>
              </a:rPr>
              <a:t>Data format representation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There are several ways to represent a byte of data in the ARM assembler. The numbers can be in hex, binary, decimal, or ASCII formats.  </a:t>
            </a:r>
            <a:endParaRPr b="0" lang="en-IN" sz="2400" spc="-1" strike="noStrike">
              <a:solidFill>
                <a:srgbClr val="000000"/>
              </a:solidFill>
              <a:latin typeface="Arial"/>
            </a:endParaRPr>
          </a:p>
          <a:p>
            <a:pPr>
              <a:lnSpc>
                <a:spcPct val="100000"/>
              </a:lnSpc>
            </a:pPr>
            <a:r>
              <a:rPr b="1" lang="en-US" sz="2400" spc="-1" strike="noStrike">
                <a:solidFill>
                  <a:srgbClr val="000000"/>
                </a:solidFill>
                <a:latin typeface="Times New Roman"/>
                <a:ea typeface="DejaVu Sans"/>
              </a:rPr>
              <a:t>Hex numbers</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To represent Hex numbers in an ARM assembler we put 0x (or 0X) in front of the number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R1,#0x99</a:t>
            </a:r>
            <a:endParaRPr b="0" lang="en-IN" sz="2400" spc="-1" strike="noStrike">
              <a:solidFill>
                <a:srgbClr val="000000"/>
              </a:solidFill>
              <a:latin typeface="Arial"/>
            </a:endParaRPr>
          </a:p>
          <a:p>
            <a:pPr>
              <a:lnSpc>
                <a:spcPct val="100000"/>
              </a:lnSpc>
            </a:pPr>
            <a:r>
              <a:rPr b="1" lang="en-US" sz="2400" spc="-1" strike="noStrike">
                <a:solidFill>
                  <a:srgbClr val="000000"/>
                </a:solidFill>
                <a:latin typeface="Times New Roman"/>
                <a:ea typeface="DejaVu Sans"/>
              </a:rPr>
              <a:t>Decimal numbers</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To indicate decimal numbers in some ARM assemblers such as Keil we simply use the decimal (e.g., 12) and nothing before or after it.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R7,#12</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TextShape 1"/>
          <p:cNvSpPr/>
          <p:nvPr/>
        </p:nvSpPr>
        <p:spPr>
          <a:xfrm>
            <a:off x="7083360" y="6247080"/>
            <a:ext cx="47257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12" name="CustomShape 2"/>
          <p:cNvSpPr/>
          <p:nvPr/>
        </p:nvSpPr>
        <p:spPr>
          <a:xfrm>
            <a:off x="491400" y="241200"/>
            <a:ext cx="10315440" cy="63075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i="1" lang="en-US" sz="2400" spc="-1" strike="noStrike">
                <a:solidFill>
                  <a:srgbClr val="000000"/>
                </a:solidFill>
                <a:latin typeface="LiberationSerif-BoldItalic"/>
                <a:ea typeface="DejaVu Sans"/>
              </a:rPr>
              <a:t>Binary numbers</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To represent </a:t>
            </a:r>
            <a:r>
              <a:rPr b="1" lang="en-US" sz="2400" spc="-1" strike="noStrike">
                <a:solidFill>
                  <a:srgbClr val="c9211e"/>
                </a:solidFill>
                <a:latin typeface="Times New Roman"/>
                <a:ea typeface="DejaVu Sans"/>
              </a:rPr>
              <a:t>binary numbers</a:t>
            </a:r>
            <a:r>
              <a:rPr b="0" lang="en-US" sz="2400" spc="-1" strike="noStrike">
                <a:solidFill>
                  <a:srgbClr val="000000"/>
                </a:solidFill>
                <a:latin typeface="Times New Roman"/>
                <a:ea typeface="DejaVu Sans"/>
              </a:rPr>
              <a:t> in an ARM assembler we put </a:t>
            </a:r>
            <a:r>
              <a:rPr b="1" lang="en-US" sz="2400" spc="-1" strike="noStrike">
                <a:solidFill>
                  <a:srgbClr val="c9211e"/>
                </a:solidFill>
                <a:latin typeface="Times New Roman"/>
                <a:ea typeface="DejaVu Sans"/>
              </a:rPr>
              <a:t>2_</a:t>
            </a:r>
            <a:r>
              <a:rPr b="0" lang="en-US" sz="2400" spc="-1" strike="noStrike">
                <a:solidFill>
                  <a:srgbClr val="000000"/>
                </a:solidFill>
                <a:latin typeface="Times New Roman"/>
                <a:ea typeface="DejaVu Sans"/>
              </a:rPr>
              <a:t> in front of the number.  </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MOV R6,#2_10011001</a:t>
            </a:r>
            <a:endParaRPr b="0" lang="en-IN" sz="2400" spc="-1" strike="noStrike">
              <a:solidFill>
                <a:srgbClr val="000000"/>
              </a:solidFill>
              <a:latin typeface="Arial"/>
            </a:endParaRPr>
          </a:p>
          <a:p>
            <a:pPr algn="just">
              <a:lnSpc>
                <a:spcPct val="100000"/>
              </a:lnSpc>
            </a:pPr>
            <a:r>
              <a:rPr b="1" i="1" lang="en-US" sz="2400" spc="-1" strike="noStrike">
                <a:solidFill>
                  <a:srgbClr val="000000"/>
                </a:solidFill>
                <a:latin typeface="Calibri"/>
                <a:ea typeface="DejaVu Sans"/>
              </a:rPr>
              <a:t>Numbers in any base between 2 and 9</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Calibri"/>
                <a:ea typeface="DejaVu Sans"/>
              </a:rPr>
              <a:t>To indicate a number in</a:t>
            </a:r>
            <a:r>
              <a:rPr b="1" lang="en-US" sz="2400" spc="-1" strike="noStrike">
                <a:solidFill>
                  <a:srgbClr val="c9211e"/>
                </a:solidFill>
                <a:latin typeface="Calibri"/>
                <a:ea typeface="DejaVu Sans"/>
              </a:rPr>
              <a:t> any base n</a:t>
            </a:r>
            <a:r>
              <a:rPr b="0" lang="en-US" sz="2400" spc="-1" strike="noStrike">
                <a:solidFill>
                  <a:srgbClr val="000000"/>
                </a:solidFill>
                <a:latin typeface="Calibri"/>
                <a:ea typeface="DejaVu Sans"/>
              </a:rPr>
              <a:t> between 2 and 9 in an ARM assembler we simply use the </a:t>
            </a:r>
            <a:r>
              <a:rPr b="1" lang="en-US" sz="2400" spc="-1" strike="noStrike">
                <a:solidFill>
                  <a:srgbClr val="c9211e"/>
                </a:solidFill>
                <a:latin typeface="Calibri"/>
                <a:ea typeface="DejaVu Sans"/>
              </a:rPr>
              <a:t>n_ in front of it.</a:t>
            </a:r>
            <a:endParaRPr b="0" lang="en-IN" sz="2400" spc="-1" strike="noStrike">
              <a:solidFill>
                <a:srgbClr val="000000"/>
              </a:solidFill>
              <a:latin typeface="Arial"/>
            </a:endParaRPr>
          </a:p>
          <a:p>
            <a:pPr algn="just">
              <a:lnSpc>
                <a:spcPct val="100000"/>
              </a:lnSpc>
            </a:pPr>
            <a:r>
              <a:rPr b="1" i="1" lang="en-US" sz="2400" spc="-1" strike="noStrike">
                <a:solidFill>
                  <a:srgbClr val="000000"/>
                </a:solidFill>
                <a:latin typeface="Calibri"/>
                <a:ea typeface="DejaVu Sans"/>
              </a:rPr>
              <a:t>ASCII characters</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Calibri"/>
                <a:ea typeface="DejaVu Sans"/>
              </a:rPr>
              <a:t>To represent </a:t>
            </a:r>
            <a:r>
              <a:rPr b="1" lang="en-US" sz="2400" spc="-1" strike="noStrike">
                <a:solidFill>
                  <a:srgbClr val="c9211e"/>
                </a:solidFill>
                <a:latin typeface="Calibri"/>
                <a:ea typeface="DejaVu Sans"/>
              </a:rPr>
              <a:t>ASCII data </a:t>
            </a:r>
            <a:r>
              <a:rPr b="0" lang="en-US" sz="2400" spc="-1" strike="noStrike">
                <a:solidFill>
                  <a:srgbClr val="000000"/>
                </a:solidFill>
                <a:latin typeface="Calibri"/>
                <a:ea typeface="DejaVu Sans"/>
              </a:rPr>
              <a:t>in an ARM assembler we use single quotes as follows:</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Calibri"/>
                <a:ea typeface="DejaVu Sans"/>
              </a:rPr>
              <a:t>LDR R3,#‘2’ ;R3 = 00110010 or 32 in hex.  ASCII of 2. </a:t>
            </a:r>
            <a:endParaRPr b="0" lang="en-IN" sz="2400" spc="-1" strike="noStrike">
              <a:solidFill>
                <a:srgbClr val="000000"/>
              </a:solidFill>
              <a:latin typeface="Arial"/>
            </a:endParaRPr>
          </a:p>
          <a:p>
            <a:pPr algn="just">
              <a:lnSpc>
                <a:spcPct val="100000"/>
              </a:lnSpc>
            </a:pPr>
            <a:r>
              <a:rPr b="1" lang="en-US" sz="2400" spc="-1" strike="noStrike">
                <a:solidFill>
                  <a:srgbClr val="c9211e"/>
                </a:solidFill>
                <a:latin typeface="Calibri"/>
                <a:ea typeface="DejaVu Sans"/>
              </a:rPr>
              <a:t>To represent a string, double quotes are used</a:t>
            </a:r>
            <a:r>
              <a:rPr b="0" lang="en-US" sz="2400" spc="-1" strike="noStrike">
                <a:solidFill>
                  <a:srgbClr val="000000"/>
                </a:solidFill>
                <a:latin typeface="Calibri"/>
                <a:ea typeface="DejaVu Sans"/>
              </a:rPr>
              <a:t>; and for defining ASCII strings (more than one character), we use the DCB directive.</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Calibri"/>
                <a:ea typeface="DejaVu Sans"/>
              </a:rPr>
              <a:t>The</a:t>
            </a:r>
            <a:r>
              <a:rPr b="1" lang="en-US" sz="2400" spc="-1" strike="noStrike">
                <a:solidFill>
                  <a:srgbClr val="c9211e"/>
                </a:solidFill>
                <a:latin typeface="Calibri"/>
                <a:ea typeface="DejaVu Sans"/>
              </a:rPr>
              <a:t> first column of each line is always considered as label.</a:t>
            </a:r>
            <a:r>
              <a:rPr b="0" lang="en-US" sz="2400" spc="-1" strike="noStrike">
                <a:solidFill>
                  <a:srgbClr val="000000"/>
                </a:solidFill>
                <a:latin typeface="Calibri"/>
                <a:ea typeface="DejaVu Sans"/>
              </a:rPr>
              <a:t> Thus, be careful to press a Tab at the beginning of each line that does not have label; otherwise, your instruction is considered as a label and an error message will appear when compiling.</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CustomShape 1"/>
          <p:cNvSpPr/>
          <p:nvPr/>
        </p:nvSpPr>
        <p:spPr>
          <a:xfrm>
            <a:off x="3204000" y="250200"/>
            <a:ext cx="611712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3200" spc="-1" strike="noStrike">
                <a:solidFill>
                  <a:srgbClr val="000000"/>
                </a:solidFill>
                <a:latin typeface="Times New Roman"/>
                <a:ea typeface="DejaVu Sans"/>
              </a:rPr>
              <a:t>Arithmetic and Logic Instructions</a:t>
            </a:r>
            <a:endParaRPr b="0" lang="en-IN" sz="3200" spc="-1" strike="noStrike">
              <a:solidFill>
                <a:srgbClr val="000000"/>
              </a:solidFill>
              <a:latin typeface="Arial"/>
            </a:endParaRPr>
          </a:p>
        </p:txBody>
      </p:sp>
      <p:pic>
        <p:nvPicPr>
          <p:cNvPr id="514" name="Picture 5" descr=""/>
          <p:cNvPicPr/>
          <p:nvPr/>
        </p:nvPicPr>
        <p:blipFill>
          <a:blip r:embed="rId1"/>
          <a:stretch/>
        </p:blipFill>
        <p:spPr>
          <a:xfrm>
            <a:off x="808200" y="853920"/>
            <a:ext cx="10437120" cy="4169880"/>
          </a:xfrm>
          <a:prstGeom prst="rect">
            <a:avLst/>
          </a:prstGeom>
          <a:ln w="0">
            <a:noFill/>
          </a:ln>
        </p:spPr>
      </p:pic>
      <p:sp>
        <p:nvSpPr>
          <p:cNvPr id="515" name="TextShape 2"/>
          <p:cNvSpPr/>
          <p:nvPr/>
        </p:nvSpPr>
        <p:spPr>
          <a:xfrm>
            <a:off x="6823800" y="6315480"/>
            <a:ext cx="50670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16" name="CustomShape 3"/>
          <p:cNvSpPr/>
          <p:nvPr/>
        </p:nvSpPr>
        <p:spPr>
          <a:xfrm>
            <a:off x="793440" y="5392080"/>
            <a:ext cx="1031256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If suffix S is used after the opcode, CPSR register will be effected by the result. Instructions without S executes without having any effect on the flags</a:t>
            </a:r>
            <a:endParaRPr b="0" lang="en-IN" sz="2400" spc="-1" strike="noStrike">
              <a:solidFill>
                <a:srgbClr val="000000"/>
              </a:solidFill>
              <a:latin typeface="Arial"/>
            </a:endParaRPr>
          </a:p>
        </p:txBody>
      </p:sp>
      <p:sp>
        <p:nvSpPr>
          <p:cNvPr id="517" name="CustomShape 4"/>
          <p:cNvSpPr/>
          <p:nvPr/>
        </p:nvSpPr>
        <p:spPr>
          <a:xfrm>
            <a:off x="3048120" y="5022720"/>
            <a:ext cx="64285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Arithmetic Instructions and Flag Bits for Unsigned Data</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19" name="CustomShape 2"/>
          <p:cNvSpPr/>
          <p:nvPr/>
        </p:nvSpPr>
        <p:spPr>
          <a:xfrm>
            <a:off x="950760" y="720000"/>
            <a:ext cx="10568880" cy="41130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Times New Roman"/>
                <a:ea typeface="DejaVu Sans"/>
              </a:rPr>
              <a:t>ADD Rd,Rn,Op2 </a:t>
            </a:r>
            <a:r>
              <a:rPr b="1" lang="en-US" sz="2400" spc="-1" strike="noStrike">
                <a:solidFill>
                  <a:srgbClr val="000000"/>
                </a:solidFill>
                <a:latin typeface="Times New Roman"/>
                <a:ea typeface="DejaVu Sans"/>
              </a:rPr>
              <a:t>	</a:t>
            </a:r>
            <a:r>
              <a:rPr b="1" lang="en-US" sz="2400" spc="-1" strike="noStrike">
                <a:solidFill>
                  <a:srgbClr val="000000"/>
                </a:solidFill>
                <a:latin typeface="Times New Roman"/>
                <a:ea typeface="DejaVu Sans"/>
              </a:rPr>
              <a:t>;Rd = Rn + Op2</a:t>
            </a: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Times New Roman"/>
                <a:ea typeface="DejaVu Sans"/>
              </a:rPr>
              <a:t>ADC Rd,Rn,Op2 </a:t>
            </a:r>
            <a:r>
              <a:rPr b="1" lang="en-US" sz="2400" spc="-1" strike="noStrike">
                <a:solidFill>
                  <a:srgbClr val="000000"/>
                </a:solidFill>
                <a:latin typeface="Times New Roman"/>
                <a:ea typeface="DejaVu Sans"/>
              </a:rPr>
              <a:t>	</a:t>
            </a:r>
            <a:r>
              <a:rPr b="1" lang="en-US" sz="2400" spc="-1" strike="noStrike">
                <a:solidFill>
                  <a:srgbClr val="000000"/>
                </a:solidFill>
                <a:latin typeface="Times New Roman"/>
                <a:ea typeface="DejaVu Sans"/>
              </a:rPr>
              <a:t>;Rd = Rn + Op2 + C</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400" spc="-1" strike="noStrike">
                <a:solidFill>
                  <a:srgbClr val="000000"/>
                </a:solidFill>
                <a:latin typeface="Times New Roman"/>
                <a:ea typeface="DejaVu Sans"/>
              </a:rPr>
              <a:t>The instructions ADD and ADC are used to add two operands. </a:t>
            </a:r>
            <a:r>
              <a:rPr b="1" lang="en-US" sz="2400" spc="-1" strike="noStrike">
                <a:solidFill>
                  <a:srgbClr val="000000"/>
                </a:solidFill>
                <a:latin typeface="Times New Roman"/>
                <a:ea typeface="DejaVu Sans"/>
              </a:rPr>
              <a:t>The destination operand must be a register.</a:t>
            </a:r>
            <a:r>
              <a:rPr b="0" lang="en-US" sz="2400" spc="-1" strike="noStrike">
                <a:solidFill>
                  <a:srgbClr val="000000"/>
                </a:solidFill>
                <a:latin typeface="Times New Roman"/>
                <a:ea typeface="DejaVu Sans"/>
              </a:rPr>
              <a:t> The </a:t>
            </a:r>
            <a:r>
              <a:rPr b="1" lang="en-US" sz="2400" spc="-1" strike="noStrike">
                <a:solidFill>
                  <a:srgbClr val="000000"/>
                </a:solidFill>
                <a:latin typeface="Times New Roman"/>
                <a:ea typeface="DejaVu Sans"/>
              </a:rPr>
              <a:t>Op2</a:t>
            </a:r>
            <a:r>
              <a:rPr b="0" lang="en-US" sz="2400" spc="-1" strike="noStrike">
                <a:solidFill>
                  <a:srgbClr val="000000"/>
                </a:solidFill>
                <a:latin typeface="Times New Roman"/>
                <a:ea typeface="DejaVu Sans"/>
              </a:rPr>
              <a:t> operand </a:t>
            </a:r>
            <a:r>
              <a:rPr b="1" lang="en-US" sz="2400" spc="-1" strike="noStrike">
                <a:solidFill>
                  <a:srgbClr val="000000"/>
                </a:solidFill>
                <a:latin typeface="Times New Roman"/>
                <a:ea typeface="DejaVu Sans"/>
              </a:rPr>
              <a:t>can be a register or immediate</a:t>
            </a:r>
            <a:r>
              <a:rPr b="0" lang="en-US" sz="2400" spc="-1" strike="noStrike">
                <a:solidFill>
                  <a:srgbClr val="000000"/>
                </a:solidFill>
                <a:latin typeface="Times New Roman"/>
                <a:ea typeface="DejaVu Sans"/>
              </a:rPr>
              <a:t>.</a:t>
            </a:r>
            <a:endParaRPr b="0" lang="en-IN" sz="24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Remember that memory-to-register or memory-to-memory arithmetic and logic operations are never allowed in ARM Assembly language since it is a RISC processor. </a:t>
            </a:r>
            <a:endParaRPr b="0" lang="en-IN" sz="2400" spc="-1" strike="noStrike">
              <a:solidFill>
                <a:srgbClr val="000000"/>
              </a:solidFill>
              <a:latin typeface="Arial"/>
            </a:endParaRPr>
          </a:p>
          <a:p>
            <a:pPr marL="216000" indent="-216000" algn="just">
              <a:lnSpc>
                <a:spcPct val="100000"/>
              </a:lnSpc>
              <a:buClr>
                <a:srgbClr val="000000"/>
              </a:buClr>
              <a:buFont typeface="Wingdings" charset="2"/>
              <a:buChar char=""/>
            </a:pPr>
            <a:r>
              <a:rPr b="0" lang="en-US" sz="2400" spc="-1" strike="noStrike">
                <a:solidFill>
                  <a:srgbClr val="000000"/>
                </a:solidFill>
                <a:latin typeface="Times New Roman"/>
                <a:ea typeface="DejaVu Sans"/>
              </a:rPr>
              <a:t>The instruction could change any of the Z, C, N, or V bits of the status flag register, as long as we use the ADDS or ADCS instead of ADD or ADC. ADC is used in the addition of multiword data. </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TextShape 1"/>
          <p:cNvSpPr/>
          <p:nvPr/>
        </p:nvSpPr>
        <p:spPr>
          <a:xfrm>
            <a:off x="6769440" y="6165360"/>
            <a:ext cx="48211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21" name="CustomShape 2"/>
          <p:cNvSpPr/>
          <p:nvPr/>
        </p:nvSpPr>
        <p:spPr>
          <a:xfrm>
            <a:off x="759600" y="524880"/>
            <a:ext cx="10943280" cy="4844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Times New Roman"/>
                <a:ea typeface="DejaVu Sans"/>
              </a:rPr>
              <a:t>SUB Rd,Rn,Op2 </a:t>
            </a:r>
            <a:r>
              <a:rPr b="1" lang="en-US" sz="2400" spc="-1" strike="noStrike">
                <a:solidFill>
                  <a:srgbClr val="000000"/>
                </a:solidFill>
                <a:latin typeface="Times New Roman"/>
                <a:ea typeface="DejaVu Sans"/>
              </a:rPr>
              <a:t>	</a:t>
            </a:r>
            <a:r>
              <a:rPr b="1" lang="en-US" sz="2400" spc="-1" strike="noStrike">
                <a:solidFill>
                  <a:srgbClr val="000000"/>
                </a:solidFill>
                <a:latin typeface="Times New Roman"/>
                <a:ea typeface="DejaVu Sans"/>
              </a:rPr>
              <a:t>;Rd = Rn - Op2</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In ARM SUB instruction is executed as follows:</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 </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1. Take the 2’s complement of the subtrahend (Op2 operand).</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2. Add it to the minuend (Rn operand).</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3. Place the result in destination Rd.</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4. Set the carry flag if there is a carry.</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These four steps are performed for every SUBS instruction by the internal hardware of the ARM CPU. It is after these four steps that the result is obtained and the flags are set. We must look at the carry flag (not the sign flag) to determine if the result is positive or negative. After the execution of SUBS, if C=1, the result is positive; if C = 0, the result is negative and the destination has the 2’s complement of the result.</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TextShape 1"/>
          <p:cNvSpPr/>
          <p:nvPr/>
        </p:nvSpPr>
        <p:spPr>
          <a:xfrm>
            <a:off x="6632640" y="6151680"/>
            <a:ext cx="46573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23" name="CustomShape 2"/>
          <p:cNvSpPr/>
          <p:nvPr/>
        </p:nvSpPr>
        <p:spPr>
          <a:xfrm>
            <a:off x="1446840" y="946800"/>
            <a:ext cx="8950680" cy="39290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800" spc="-1" strike="noStrike">
                <a:solidFill>
                  <a:srgbClr val="000000"/>
                </a:solidFill>
                <a:latin typeface="Times New Roman"/>
                <a:ea typeface="DejaVu Sans"/>
              </a:rPr>
              <a:t>Analyze the following instructions:</a:t>
            </a:r>
            <a:endParaRPr b="0" lang="en-IN" sz="2800" spc="-1" strike="noStrike">
              <a:solidFill>
                <a:srgbClr val="000000"/>
              </a:solidFill>
              <a:latin typeface="Arial"/>
            </a:endParaRPr>
          </a:p>
          <a:p>
            <a:pPr algn="just">
              <a:lnSpc>
                <a:spcPct val="100000"/>
              </a:lnSpc>
            </a:pPr>
            <a:r>
              <a:rPr b="0" lang="pt-BR" sz="2800" spc="-1" strike="noStrike">
                <a:solidFill>
                  <a:srgbClr val="008100"/>
                </a:solidFill>
                <a:latin typeface="Times New Roman"/>
                <a:ea typeface="DejaVu Sans"/>
              </a:rPr>
              <a:t>MOV R1,#0x4C ;R1 = 0x4C</a:t>
            </a:r>
            <a:endParaRPr b="0" lang="en-IN" sz="2800" spc="-1" strike="noStrike">
              <a:solidFill>
                <a:srgbClr val="000000"/>
              </a:solidFill>
              <a:latin typeface="Arial"/>
            </a:endParaRPr>
          </a:p>
          <a:p>
            <a:pPr algn="just">
              <a:lnSpc>
                <a:spcPct val="100000"/>
              </a:lnSpc>
            </a:pPr>
            <a:r>
              <a:rPr b="0" lang="pt-BR" sz="2800" spc="-1" strike="noStrike">
                <a:solidFill>
                  <a:srgbClr val="008100"/>
                </a:solidFill>
                <a:latin typeface="Times New Roman"/>
                <a:ea typeface="DejaVu Sans"/>
              </a:rPr>
              <a:t>MOV R2,#0x6E ;R2 = 0x6E</a:t>
            </a:r>
            <a:endParaRPr b="0" lang="en-IN" sz="2800" spc="-1" strike="noStrike">
              <a:solidFill>
                <a:srgbClr val="000000"/>
              </a:solidFill>
              <a:latin typeface="Arial"/>
            </a:endParaRPr>
          </a:p>
          <a:p>
            <a:pPr algn="just">
              <a:lnSpc>
                <a:spcPct val="100000"/>
              </a:lnSpc>
            </a:pPr>
            <a:r>
              <a:rPr b="0" lang="pt-BR" sz="2800" spc="-1" strike="noStrike">
                <a:solidFill>
                  <a:srgbClr val="008100"/>
                </a:solidFill>
                <a:latin typeface="Times New Roman"/>
                <a:ea typeface="DejaVu Sans"/>
              </a:rPr>
              <a:t>SUBS R0,R1,R2 ;R0 = R1 – R2</a:t>
            </a:r>
            <a:endParaRPr b="0" lang="en-IN" sz="2800" spc="-1" strike="noStrike">
              <a:solidFill>
                <a:srgbClr val="000000"/>
              </a:solidFill>
              <a:latin typeface="Arial"/>
            </a:endParaRPr>
          </a:p>
          <a:p>
            <a:pPr algn="just">
              <a:lnSpc>
                <a:spcPct val="100000"/>
              </a:lnSpc>
            </a:pPr>
            <a:r>
              <a:rPr b="1" lang="en-US" sz="2800" spc="-1" strike="noStrike">
                <a:solidFill>
                  <a:srgbClr val="000000"/>
                </a:solidFill>
                <a:latin typeface="LiberationSerif-Bold"/>
                <a:ea typeface="DejaVu Sans"/>
              </a:rPr>
              <a:t>Solution:</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Following are the steps for “SUB R0,R1,R2”:</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4C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0000004C</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a:t>
            </a:r>
            <a:r>
              <a:rPr b="0" lang="en-US" sz="2800" spc="-1" strike="noStrike">
                <a:solidFill>
                  <a:srgbClr val="000000"/>
                </a:solidFill>
                <a:latin typeface="Times New Roman"/>
                <a:ea typeface="DejaVu Sans"/>
              </a:rPr>
              <a:t>6E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 FFFFFF92 (2’s complement of 0x6E)</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22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0 FFFFFFDE (C = 0 step 4) result is negative</a:t>
            </a:r>
            <a:endParaRPr b="0" lang="en-IN"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TextShape 1"/>
          <p:cNvSpPr/>
          <p:nvPr/>
        </p:nvSpPr>
        <p:spPr>
          <a:xfrm>
            <a:off x="6864840" y="6247080"/>
            <a:ext cx="46573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25" name="CustomShape 2"/>
          <p:cNvSpPr/>
          <p:nvPr/>
        </p:nvSpPr>
        <p:spPr>
          <a:xfrm>
            <a:off x="1200960" y="2126160"/>
            <a:ext cx="9960840" cy="22842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Times New Roman"/>
                <a:ea typeface="DejaVu Sans"/>
              </a:rPr>
              <a:t>SBC Rd,Rn,Op2 </a:t>
            </a:r>
            <a:r>
              <a:rPr b="1" lang="en-US" sz="2400" spc="-1" strike="noStrike">
                <a:solidFill>
                  <a:srgbClr val="000000"/>
                </a:solidFill>
                <a:latin typeface="Times New Roman"/>
                <a:ea typeface="DejaVu Sans"/>
              </a:rPr>
              <a:t>	</a:t>
            </a:r>
            <a:r>
              <a:rPr b="1" lang="en-US" sz="2400" spc="-1" strike="noStrike">
                <a:solidFill>
                  <a:srgbClr val="000000"/>
                </a:solidFill>
                <a:latin typeface="Times New Roman"/>
                <a:ea typeface="DejaVu Sans"/>
              </a:rPr>
              <a:t>;Rd = Rn – Op2 – 1 + C</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This instruction is used for subtraction of multiword (data larger than 32-bit) numbers. In ARM the carry flag is not inverted after subtraction and carry flag is invert of borrow. To invert the carry flag while running the subtract with borrow instruction it is implemented</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as “Rd = Rn – Op2 – 1 + C”</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TextShape 1"/>
          <p:cNvSpPr/>
          <p:nvPr/>
        </p:nvSpPr>
        <p:spPr>
          <a:xfrm>
            <a:off x="7137720" y="6325560"/>
            <a:ext cx="46299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27" name="CustomShape 2"/>
          <p:cNvSpPr/>
          <p:nvPr/>
        </p:nvSpPr>
        <p:spPr>
          <a:xfrm>
            <a:off x="1561680" y="456480"/>
            <a:ext cx="9483120" cy="25290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000" spc="-1" strike="noStrike">
                <a:solidFill>
                  <a:srgbClr val="000000"/>
                </a:solidFill>
                <a:latin typeface="Times New Roman"/>
                <a:ea typeface="DejaVu Sans"/>
              </a:rPr>
              <a:t>LDR R0,=0xF62562FA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;R0 = 0xF62562FA,</a:t>
            </a:r>
            <a:endParaRPr b="0" lang="en-IN" sz="2000" spc="-1" strike="noStrike">
              <a:solidFill>
                <a:srgbClr val="000000"/>
              </a:solidFill>
              <a:latin typeface="Arial"/>
            </a:endParaRPr>
          </a:p>
          <a:p>
            <a:pPr algn="just">
              <a:lnSpc>
                <a:spcPct val="100000"/>
              </a:lnSpc>
            </a:pPr>
            <a:r>
              <a:rPr b="0" lang="pt-BR" sz="2000" spc="-1" strike="noStrike">
                <a:solidFill>
                  <a:srgbClr val="000000"/>
                </a:solidFill>
                <a:latin typeface="Times New Roman"/>
                <a:ea typeface="DejaVu Sans"/>
              </a:rPr>
              <a:t>LDR R1,=0xF412963B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;R1 = 0xF412963B</a:t>
            </a:r>
            <a:endParaRPr b="0" lang="en-IN" sz="2000" spc="-1" strike="noStrike">
              <a:solidFill>
                <a:srgbClr val="000000"/>
              </a:solidFill>
              <a:latin typeface="Arial"/>
            </a:endParaRPr>
          </a:p>
          <a:p>
            <a:pPr algn="just">
              <a:lnSpc>
                <a:spcPct val="100000"/>
              </a:lnSpc>
            </a:pPr>
            <a:r>
              <a:rPr b="0" lang="pt-BR" sz="2000" spc="-1" strike="noStrike">
                <a:solidFill>
                  <a:srgbClr val="000000"/>
                </a:solidFill>
                <a:latin typeface="Times New Roman"/>
                <a:ea typeface="DejaVu Sans"/>
              </a:rPr>
              <a:t>MOV R2,#0x21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;R2 = 0x21</a:t>
            </a:r>
            <a:endParaRPr b="0" lang="en-IN" sz="2000" spc="-1" strike="noStrike">
              <a:solidFill>
                <a:srgbClr val="000000"/>
              </a:solidFill>
              <a:latin typeface="Arial"/>
            </a:endParaRPr>
          </a:p>
          <a:p>
            <a:pPr algn="just">
              <a:lnSpc>
                <a:spcPct val="100000"/>
              </a:lnSpc>
            </a:pPr>
            <a:r>
              <a:rPr b="0" lang="pt-BR" sz="2000" spc="-1" strike="noStrike">
                <a:solidFill>
                  <a:srgbClr val="000000"/>
                </a:solidFill>
                <a:latin typeface="Times New Roman"/>
                <a:ea typeface="DejaVu Sans"/>
              </a:rPr>
              <a:t>MOV R3,#0x35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;R3 = 0x35</a:t>
            </a:r>
            <a:endParaRPr b="0" lang="en-IN" sz="2000" spc="-1" strike="noStrike">
              <a:solidFill>
                <a:srgbClr val="000000"/>
              </a:solidFill>
              <a:latin typeface="Arial"/>
            </a:endParaRPr>
          </a:p>
          <a:p>
            <a:pPr algn="just">
              <a:lnSpc>
                <a:spcPct val="100000"/>
              </a:lnSpc>
            </a:pPr>
            <a:r>
              <a:rPr b="0" lang="pt-BR" sz="2000" spc="-1" strike="noStrike">
                <a:solidFill>
                  <a:srgbClr val="000000"/>
                </a:solidFill>
                <a:latin typeface="Times New Roman"/>
                <a:ea typeface="DejaVu Sans"/>
              </a:rPr>
              <a:t>SUBS R5,R1,R0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;R5 = R1 – R0</a:t>
            </a:r>
            <a:endParaRPr b="0" lang="en-IN" sz="2000" spc="-1" strike="noStrike">
              <a:solidFill>
                <a:srgbClr val="000000"/>
              </a:solidFill>
              <a:latin typeface="Arial"/>
            </a:endParaRPr>
          </a:p>
          <a:p>
            <a:pPr algn="just">
              <a:lnSpc>
                <a:spcPct val="100000"/>
              </a:lnSpc>
            </a:pP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=0xF412963B – 0xF62562FA, and C = 0</a:t>
            </a:r>
            <a:endParaRPr b="0" lang="en-IN" sz="2000" spc="-1" strike="noStrike">
              <a:solidFill>
                <a:srgbClr val="000000"/>
              </a:solidFill>
              <a:latin typeface="Arial"/>
            </a:endParaRPr>
          </a:p>
          <a:p>
            <a:pPr algn="just">
              <a:lnSpc>
                <a:spcPct val="100000"/>
              </a:lnSpc>
            </a:pPr>
            <a:r>
              <a:rPr b="0" lang="pt-BR" sz="2000" spc="-1" strike="noStrike">
                <a:solidFill>
                  <a:srgbClr val="000000"/>
                </a:solidFill>
                <a:latin typeface="Times New Roman"/>
                <a:ea typeface="DejaVu Sans"/>
              </a:rPr>
              <a:t>SBC R6,R3,R2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	</a:t>
            </a:r>
            <a:r>
              <a:rPr b="0" lang="pt-BR" sz="2000" spc="-1" strike="noStrike">
                <a:solidFill>
                  <a:srgbClr val="000000"/>
                </a:solidFill>
                <a:latin typeface="Times New Roman"/>
                <a:ea typeface="DejaVu Sans"/>
              </a:rPr>
              <a:t>;R6 = R3 – R2 – 1 + C</a:t>
            </a:r>
            <a:endParaRPr b="0" lang="en-IN" sz="2000" spc="-1" strike="noStrike">
              <a:solidFill>
                <a:srgbClr val="000000"/>
              </a:solidFill>
              <a:latin typeface="Arial"/>
            </a:endParaRPr>
          </a:p>
          <a:p>
            <a:pPr algn="just">
              <a:lnSpc>
                <a:spcPct val="100000"/>
              </a:lnSpc>
            </a:pP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 0x35 – 0x21 – 1 + 0 = 0x13</a:t>
            </a:r>
            <a:endParaRPr b="0" lang="en-IN" sz="2000" spc="-1" strike="noStrike">
              <a:solidFill>
                <a:srgbClr val="000000"/>
              </a:solidFill>
              <a:latin typeface="Arial"/>
            </a:endParaRPr>
          </a:p>
        </p:txBody>
      </p:sp>
      <p:pic>
        <p:nvPicPr>
          <p:cNvPr id="528" name="Picture 4" descr=""/>
          <p:cNvPicPr/>
          <p:nvPr/>
        </p:nvPicPr>
        <p:blipFill>
          <a:blip r:embed="rId1"/>
          <a:stretch/>
        </p:blipFill>
        <p:spPr>
          <a:xfrm>
            <a:off x="689400" y="3425760"/>
            <a:ext cx="10771920" cy="301392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30" name="CustomShape 2"/>
          <p:cNvSpPr/>
          <p:nvPr/>
        </p:nvSpPr>
        <p:spPr>
          <a:xfrm>
            <a:off x="695880" y="682200"/>
            <a:ext cx="1039752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Times New Roman"/>
                <a:ea typeface="DejaVu Sans"/>
              </a:rPr>
              <a:t>RSB Rd,Rn,Op2 </a:t>
            </a:r>
            <a:r>
              <a:rPr b="1" lang="en-US" sz="2400" spc="-1" strike="noStrike">
                <a:solidFill>
                  <a:srgbClr val="000000"/>
                </a:solidFill>
                <a:latin typeface="Times New Roman"/>
                <a:ea typeface="DejaVu Sans"/>
              </a:rPr>
              <a:t>	</a:t>
            </a:r>
            <a:r>
              <a:rPr b="1" lang="en-US" sz="2400" spc="-1" strike="noStrike">
                <a:solidFill>
                  <a:srgbClr val="000000"/>
                </a:solidFill>
                <a:latin typeface="Times New Roman"/>
                <a:ea typeface="DejaVu Sans"/>
              </a:rPr>
              <a:t>	</a:t>
            </a:r>
            <a:r>
              <a:rPr b="1" lang="en-US" sz="2400" spc="-1" strike="noStrike">
                <a:solidFill>
                  <a:srgbClr val="000000"/>
                </a:solidFill>
                <a:latin typeface="Times New Roman"/>
                <a:ea typeface="DejaVu Sans"/>
              </a:rPr>
              <a:t>;Rd = Op2 – Rn</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This instruction can be used to get 2’s complement of a 32-bit operand</a:t>
            </a:r>
            <a:endParaRPr b="0" lang="en-IN" sz="2400" spc="-1" strike="noStrike">
              <a:solidFill>
                <a:srgbClr val="000000"/>
              </a:solidFill>
              <a:latin typeface="Arial"/>
            </a:endParaRPr>
          </a:p>
        </p:txBody>
      </p:sp>
      <p:sp>
        <p:nvSpPr>
          <p:cNvPr id="531" name="CustomShape 3"/>
          <p:cNvSpPr/>
          <p:nvPr/>
        </p:nvSpPr>
        <p:spPr>
          <a:xfrm>
            <a:off x="695880" y="2191320"/>
            <a:ext cx="609372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MOV R1,#0x1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;R1=1</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RSB R0,R1,#0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;R0= 0 – R1 = 0 – 1</a:t>
            </a:r>
            <a:endParaRPr b="0" lang="en-IN" sz="2400" spc="-1" strike="noStrike">
              <a:solidFill>
                <a:srgbClr val="000000"/>
              </a:solidFill>
              <a:latin typeface="Arial"/>
            </a:endParaRPr>
          </a:p>
        </p:txBody>
      </p:sp>
      <p:sp>
        <p:nvSpPr>
          <p:cNvPr id="532" name="CustomShape 4"/>
          <p:cNvSpPr/>
          <p:nvPr/>
        </p:nvSpPr>
        <p:spPr>
          <a:xfrm>
            <a:off x="837000" y="3364920"/>
            <a:ext cx="10665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This is one way to get a fixed value of 0xFFFFFFFF in a register.   R0=0xFFFFFFFF.</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TextShape 1"/>
          <p:cNvSpPr/>
          <p:nvPr/>
        </p:nvSpPr>
        <p:spPr>
          <a:xfrm>
            <a:off x="6919560" y="6342840"/>
            <a:ext cx="46983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34" name="CustomShape 2"/>
          <p:cNvSpPr/>
          <p:nvPr/>
        </p:nvSpPr>
        <p:spPr>
          <a:xfrm>
            <a:off x="1191600" y="501120"/>
            <a:ext cx="690948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nl-NL" sz="2400" spc="-1" strike="noStrike">
                <a:solidFill>
                  <a:srgbClr val="000000"/>
                </a:solidFill>
                <a:latin typeface="Times New Roman"/>
                <a:ea typeface="DejaVu Sans"/>
              </a:rPr>
              <a:t>RSC Rd,Rn,Op2 </a:t>
            </a:r>
            <a:r>
              <a:rPr b="1" lang="nl-NL" sz="2400" spc="-1" strike="noStrike">
                <a:solidFill>
                  <a:srgbClr val="000000"/>
                </a:solidFill>
                <a:latin typeface="Times New Roman"/>
                <a:ea typeface="DejaVu Sans"/>
              </a:rPr>
              <a:t>	</a:t>
            </a:r>
            <a:r>
              <a:rPr b="1" lang="nl-NL" sz="2400" spc="-1" strike="noStrike">
                <a:solidFill>
                  <a:srgbClr val="000000"/>
                </a:solidFill>
                <a:latin typeface="Times New Roman"/>
                <a:ea typeface="DejaVu Sans"/>
              </a:rPr>
              <a:t>	</a:t>
            </a:r>
            <a:r>
              <a:rPr b="1" lang="nl-NL" sz="2400" spc="-1" strike="noStrike">
                <a:solidFill>
                  <a:srgbClr val="000000"/>
                </a:solidFill>
                <a:latin typeface="Times New Roman"/>
                <a:ea typeface="DejaVu Sans"/>
              </a:rPr>
              <a:t>;Rd = Op2 – Rn – 1 + C</a:t>
            </a:r>
            <a:endParaRPr b="0" lang="en-IN" sz="2400" spc="-1" strike="noStrike">
              <a:solidFill>
                <a:srgbClr val="000000"/>
              </a:solidFill>
              <a:latin typeface="Arial"/>
            </a:endParaRPr>
          </a:p>
        </p:txBody>
      </p:sp>
      <p:sp>
        <p:nvSpPr>
          <p:cNvPr id="535" name="CustomShape 3"/>
          <p:cNvSpPr/>
          <p:nvPr/>
        </p:nvSpPr>
        <p:spPr>
          <a:xfrm>
            <a:off x="900720" y="1070280"/>
            <a:ext cx="1020636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000" spc="-1" strike="noStrike">
                <a:solidFill>
                  <a:srgbClr val="000000"/>
                </a:solidFill>
                <a:latin typeface="Times New Roman"/>
                <a:ea typeface="DejaVu Sans"/>
              </a:rPr>
              <a:t>This instruction can be used to get the 2’s complement of the 64-bit operand.</a:t>
            </a:r>
            <a:endParaRPr b="0" lang="en-IN" sz="2000" spc="-1" strike="noStrike">
              <a:solidFill>
                <a:srgbClr val="000000"/>
              </a:solidFill>
              <a:latin typeface="Arial"/>
            </a:endParaRPr>
          </a:p>
        </p:txBody>
      </p:sp>
      <p:sp>
        <p:nvSpPr>
          <p:cNvPr id="536" name="CustomShape 4"/>
          <p:cNvSpPr/>
          <p:nvPr/>
        </p:nvSpPr>
        <p:spPr>
          <a:xfrm>
            <a:off x="1091880" y="2134440"/>
            <a:ext cx="9919800" cy="3381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Show how to create 2’s complement of a 64-bit data in R0 and R1 register. The R0 hold the lower 32-bit.</a:t>
            </a:r>
            <a:endParaRPr b="0" lang="en-IN" sz="2400" spc="-1" strike="noStrike">
              <a:solidFill>
                <a:srgbClr val="000000"/>
              </a:solidFill>
              <a:latin typeface="Arial"/>
            </a:endParaRPr>
          </a:p>
          <a:p>
            <a:pPr algn="just">
              <a:lnSpc>
                <a:spcPct val="100000"/>
              </a:lnSpc>
            </a:pPr>
            <a:r>
              <a:rPr b="1" lang="en-US" sz="2400" spc="-1" strike="noStrike">
                <a:solidFill>
                  <a:srgbClr val="000000"/>
                </a:solidFill>
                <a:latin typeface="LiberationSerif-Bold"/>
                <a:ea typeface="DejaVu Sans"/>
              </a:rPr>
              <a:t>Solution:</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LDR R0,=0xF62562FA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;R0 = 0xF62562FA</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LDR R1,=0xF812963B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;R1 = 0xF812963B</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RSB R5,R0,#0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;R5 = 0 – R0</a:t>
            </a:r>
            <a:endParaRPr b="0" lang="en-IN" sz="2400" spc="-1" strike="noStrike">
              <a:solidFill>
                <a:srgbClr val="000000"/>
              </a:solidFill>
              <a:latin typeface="Arial"/>
            </a:endParaRPr>
          </a:p>
          <a:p>
            <a:pPr algn="just">
              <a:lnSpc>
                <a:spcPct val="100000"/>
              </a:lnSpc>
            </a:pPr>
            <a:r>
              <a:rPr b="0" lang="it-IT" sz="2400" spc="-1" strike="noStrike">
                <a:solidFill>
                  <a:srgbClr val="000000"/>
                </a:solidFill>
                <a:latin typeface="Times New Roman"/>
                <a:ea typeface="DejaVu Sans"/>
              </a:rPr>
              <a:t>	</a:t>
            </a:r>
            <a:r>
              <a:rPr b="0" lang="it-IT" sz="2400" spc="-1" strike="noStrike">
                <a:solidFill>
                  <a:srgbClr val="000000"/>
                </a:solidFill>
                <a:latin typeface="Times New Roman"/>
                <a:ea typeface="DejaVu Sans"/>
              </a:rPr>
              <a:t>	</a:t>
            </a:r>
            <a:r>
              <a:rPr b="0" lang="it-IT" sz="2400" spc="-1" strike="noStrike">
                <a:solidFill>
                  <a:srgbClr val="000000"/>
                </a:solidFill>
                <a:latin typeface="Times New Roman"/>
                <a:ea typeface="DejaVu Sans"/>
              </a:rPr>
              <a:t>	</a:t>
            </a:r>
            <a:r>
              <a:rPr b="0" lang="it-IT" sz="2400" spc="-1" strike="noStrike">
                <a:solidFill>
                  <a:srgbClr val="000000"/>
                </a:solidFill>
                <a:latin typeface="Times New Roman"/>
                <a:ea typeface="DejaVu Sans"/>
              </a:rPr>
              <a:t>; = 0 – 0xF62562FA = 9DA9D06 and C = 0</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RSC R6,R1,#0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;R6 = 0 – R1 – 1 + C</a:t>
            </a:r>
            <a:endParaRPr b="0" lang="en-IN" sz="2400" spc="-1" strike="noStrike">
              <a:solidFill>
                <a:srgbClr val="000000"/>
              </a:solidFill>
              <a:latin typeface="Arial"/>
            </a:endParaRPr>
          </a:p>
          <a:p>
            <a:pPr algn="just">
              <a:lnSpc>
                <a:spcPct val="100000"/>
              </a:lnSpc>
            </a:pPr>
            <a:r>
              <a:rPr b="0" lang="it-IT" sz="2400" spc="-1" strike="noStrike">
                <a:solidFill>
                  <a:srgbClr val="000000"/>
                </a:solidFill>
                <a:latin typeface="Times New Roman"/>
                <a:ea typeface="DejaVu Sans"/>
              </a:rPr>
              <a:t>	</a:t>
            </a:r>
            <a:r>
              <a:rPr b="0" lang="it-IT" sz="2400" spc="-1" strike="noStrike">
                <a:solidFill>
                  <a:srgbClr val="000000"/>
                </a:solidFill>
                <a:latin typeface="Times New Roman"/>
                <a:ea typeface="DejaVu Sans"/>
              </a:rPr>
              <a:t>	</a:t>
            </a:r>
            <a:r>
              <a:rPr b="0" lang="it-IT" sz="2400" spc="-1" strike="noStrike">
                <a:solidFill>
                  <a:srgbClr val="000000"/>
                </a:solidFill>
                <a:latin typeface="Times New Roman"/>
                <a:ea typeface="DejaVu Sans"/>
              </a:rPr>
              <a:t>	</a:t>
            </a:r>
            <a:r>
              <a:rPr b="0" lang="it-IT" sz="2400" spc="-1" strike="noStrike">
                <a:solidFill>
                  <a:srgbClr val="000000"/>
                </a:solidFill>
                <a:latin typeface="Times New Roman"/>
                <a:ea typeface="DejaVu Sans"/>
              </a:rPr>
              <a:t>; = 0 – 0xF812963B – 1 + 0 = 7ED69C4</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TextShape 1"/>
          <p:cNvSpPr/>
          <p:nvPr/>
        </p:nvSpPr>
        <p:spPr>
          <a:xfrm>
            <a:off x="6864840" y="6138000"/>
            <a:ext cx="47800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38" name="CustomShape 2"/>
          <p:cNvSpPr/>
          <p:nvPr/>
        </p:nvSpPr>
        <p:spPr>
          <a:xfrm>
            <a:off x="432000" y="364680"/>
            <a:ext cx="678636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400" spc="-1" strike="noStrike">
                <a:solidFill>
                  <a:srgbClr val="000000"/>
                </a:solidFill>
                <a:latin typeface="LiberationSerif-Bold"/>
                <a:ea typeface="DejaVu Sans"/>
              </a:rPr>
              <a:t>Multiplication of unsigned numbers in ARM</a:t>
            </a:r>
            <a:endParaRPr b="0" lang="en-IN" sz="2400" spc="-1" strike="noStrike">
              <a:solidFill>
                <a:srgbClr val="000000"/>
              </a:solidFill>
              <a:latin typeface="Arial"/>
            </a:endParaRPr>
          </a:p>
        </p:txBody>
      </p:sp>
      <p:pic>
        <p:nvPicPr>
          <p:cNvPr id="539" name="Picture 3" descr=""/>
          <p:cNvPicPr/>
          <p:nvPr/>
        </p:nvPicPr>
        <p:blipFill>
          <a:blip r:embed="rId1"/>
          <a:stretch/>
        </p:blipFill>
        <p:spPr>
          <a:xfrm>
            <a:off x="1066320" y="1236600"/>
            <a:ext cx="9836280" cy="2751120"/>
          </a:xfrm>
          <a:prstGeom prst="rect">
            <a:avLst/>
          </a:prstGeom>
          <a:ln w="0">
            <a:noFill/>
          </a:ln>
        </p:spPr>
      </p:pic>
      <p:sp>
        <p:nvSpPr>
          <p:cNvPr id="540" name="CustomShape 3"/>
          <p:cNvSpPr/>
          <p:nvPr/>
        </p:nvSpPr>
        <p:spPr>
          <a:xfrm>
            <a:off x="1066320" y="4400280"/>
            <a:ext cx="983628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MUL Rd,Rn,Op2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;Rd = Rn × Op2</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All the operands must be in registers. Immediate value is not allowed as an operand. </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TextShape 1"/>
          <p:cNvSpPr/>
          <p:nvPr/>
        </p:nvSpPr>
        <p:spPr>
          <a:xfrm>
            <a:off x="7028640" y="6245280"/>
            <a:ext cx="45756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42" name="CustomShape 2"/>
          <p:cNvSpPr/>
          <p:nvPr/>
        </p:nvSpPr>
        <p:spPr>
          <a:xfrm>
            <a:off x="1233000" y="557640"/>
            <a:ext cx="972432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UMULL (unsigned multiply long)</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UMULL RdLo,RdHi,Rn,Op2</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;RdHi:RdLo = Rn × Op2</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In unsigned long multiplication, the operands must be in registers. After the multiplication, the destination registers will contain the result. Notice that the left most register, RdLo, will hold the lower word and the higher portion beyond 32-bit is saved in the second register, RdHi.</a:t>
            </a:r>
            <a:endParaRPr b="0" lang="en-IN" sz="2400" spc="-1" strike="noStrike">
              <a:solidFill>
                <a:srgbClr val="000000"/>
              </a:solidFill>
              <a:latin typeface="Arial"/>
            </a:endParaRPr>
          </a:p>
        </p:txBody>
      </p:sp>
      <p:sp>
        <p:nvSpPr>
          <p:cNvPr id="543" name="CustomShape 3"/>
          <p:cNvSpPr/>
          <p:nvPr/>
        </p:nvSpPr>
        <p:spPr>
          <a:xfrm>
            <a:off x="1065600" y="2995200"/>
            <a:ext cx="693540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400" spc="-1" strike="noStrike">
                <a:solidFill>
                  <a:srgbClr val="000000"/>
                </a:solidFill>
                <a:latin typeface="LiberationSerif-Bold"/>
                <a:ea typeface="DejaVu Sans"/>
              </a:rPr>
              <a:t>Multiply and Accumulate Instruction in ARM</a:t>
            </a:r>
            <a:endParaRPr b="0" lang="en-IN" sz="2400" spc="-1" strike="noStrike">
              <a:solidFill>
                <a:srgbClr val="000000"/>
              </a:solidFill>
              <a:latin typeface="Arial"/>
            </a:endParaRPr>
          </a:p>
        </p:txBody>
      </p:sp>
      <p:sp>
        <p:nvSpPr>
          <p:cNvPr id="544" name="CustomShape 4"/>
          <p:cNvSpPr/>
          <p:nvPr/>
        </p:nvSpPr>
        <p:spPr>
          <a:xfrm>
            <a:off x="1233000" y="3567960"/>
            <a:ext cx="9724320" cy="2649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MLA Rd,Rm,Rs,Rn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;Rd = Rm × Rs + Rn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In multiplication and add, the operands must be in registers. After the multiplication and add, the destination register will contain the result.</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Notice that multiply and add can produce a result greater than 32-bit, if the MLA instruction is used, the destination register will hold the lower word (32-bit) and the portion beyond 32-bit is dropped.</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46" name="CustomShape 2"/>
          <p:cNvSpPr/>
          <p:nvPr/>
        </p:nvSpPr>
        <p:spPr>
          <a:xfrm>
            <a:off x="1123560" y="594000"/>
            <a:ext cx="10242720" cy="1918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a-DK" sz="2400" spc="-1" strike="noStrike">
                <a:solidFill>
                  <a:srgbClr val="000000"/>
                </a:solidFill>
                <a:latin typeface="Times New Roman"/>
                <a:ea typeface="DejaVu Sans"/>
              </a:rPr>
              <a:t>UMLAL RdLo,RdHi,Rn,Op2 </a:t>
            </a:r>
            <a:r>
              <a:rPr b="0" lang="da-DK" sz="2400" spc="-1" strike="noStrike">
                <a:solidFill>
                  <a:srgbClr val="000000"/>
                </a:solidFill>
                <a:latin typeface="Times New Roman"/>
                <a:ea typeface="DejaVu Sans"/>
              </a:rPr>
              <a:t>	</a:t>
            </a:r>
            <a:r>
              <a:rPr b="0" lang="da-DK" sz="2400" spc="-1" strike="noStrike">
                <a:solidFill>
                  <a:srgbClr val="000000"/>
                </a:solidFill>
                <a:latin typeface="Times New Roman"/>
                <a:ea typeface="DejaVu Sans"/>
              </a:rPr>
              <a:t>;RdHi:RdLo = Rn × Op2 + RdHi:RdLo</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In multiplication and add, the operands must be in registers. Notice that the addend and the high word of the destination use the same registers, the two left most registers in the instruction. It means that the contents of the registers which have the addend will be changed after execution of UMLAL instruction.</a:t>
            </a:r>
            <a:endParaRPr b="0" lang="en-IN" sz="2400" spc="-1" strike="noStrike">
              <a:solidFill>
                <a:srgbClr val="000000"/>
              </a:solidFill>
              <a:latin typeface="Arial"/>
            </a:endParaRPr>
          </a:p>
        </p:txBody>
      </p:sp>
      <p:sp>
        <p:nvSpPr>
          <p:cNvPr id="547" name="CustomShape 3"/>
          <p:cNvSpPr/>
          <p:nvPr/>
        </p:nvSpPr>
        <p:spPr>
          <a:xfrm>
            <a:off x="1123560" y="3288960"/>
            <a:ext cx="1002456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Division of unsigned numbers in ARM</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It is done using repeated subtraction</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pic>
        <p:nvPicPr>
          <p:cNvPr id="549" name="Picture 5" descr=""/>
          <p:cNvPicPr/>
          <p:nvPr/>
        </p:nvPicPr>
        <p:blipFill>
          <a:blip r:embed="rId1"/>
          <a:stretch/>
        </p:blipFill>
        <p:spPr>
          <a:xfrm>
            <a:off x="2131200" y="1215720"/>
            <a:ext cx="8027280" cy="1085400"/>
          </a:xfrm>
          <a:prstGeom prst="rect">
            <a:avLst/>
          </a:prstGeom>
          <a:ln w="0">
            <a:noFill/>
          </a:ln>
        </p:spPr>
      </p:pic>
      <p:sp>
        <p:nvSpPr>
          <p:cNvPr id="550" name="CustomShape 2"/>
          <p:cNvSpPr/>
          <p:nvPr/>
        </p:nvSpPr>
        <p:spPr>
          <a:xfrm>
            <a:off x="2389320" y="2555280"/>
            <a:ext cx="626436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General Formation of Data Processing Instructions</a:t>
            </a:r>
            <a:endParaRPr b="0" lang="en-IN" sz="1800" spc="-1" strike="noStrike">
              <a:solidFill>
                <a:srgbClr val="000000"/>
              </a:solidFill>
              <a:latin typeface="Arial"/>
            </a:endParaRPr>
          </a:p>
        </p:txBody>
      </p:sp>
      <p:pic>
        <p:nvPicPr>
          <p:cNvPr id="551" name="Picture 7" descr=""/>
          <p:cNvPicPr/>
          <p:nvPr/>
        </p:nvPicPr>
        <p:blipFill>
          <a:blip r:embed="rId2"/>
          <a:stretch/>
        </p:blipFill>
        <p:spPr>
          <a:xfrm>
            <a:off x="2131200" y="3495960"/>
            <a:ext cx="8211600" cy="969120"/>
          </a:xfrm>
          <a:prstGeom prst="rect">
            <a:avLst/>
          </a:prstGeom>
          <a:ln w="0">
            <a:noFill/>
          </a:ln>
        </p:spPr>
      </p:pic>
      <p:sp>
        <p:nvSpPr>
          <p:cNvPr id="552" name="CustomShape 3"/>
          <p:cNvSpPr/>
          <p:nvPr/>
        </p:nvSpPr>
        <p:spPr>
          <a:xfrm>
            <a:off x="4667760" y="4741920"/>
            <a:ext cx="272304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ADD Instruction Formation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pic>
        <p:nvPicPr>
          <p:cNvPr id="554" name="Picture 4" descr=""/>
          <p:cNvPicPr/>
          <p:nvPr/>
        </p:nvPicPr>
        <p:blipFill>
          <a:blip r:embed="rId1"/>
          <a:stretch/>
        </p:blipFill>
        <p:spPr>
          <a:xfrm>
            <a:off x="2309400" y="885960"/>
            <a:ext cx="8020080" cy="921600"/>
          </a:xfrm>
          <a:prstGeom prst="rect">
            <a:avLst/>
          </a:prstGeom>
          <a:ln w="0">
            <a:noFill/>
          </a:ln>
        </p:spPr>
      </p:pic>
      <p:sp>
        <p:nvSpPr>
          <p:cNvPr id="555" name="CustomShape 2"/>
          <p:cNvSpPr/>
          <p:nvPr/>
        </p:nvSpPr>
        <p:spPr>
          <a:xfrm>
            <a:off x="4815360" y="2000520"/>
            <a:ext cx="273240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 </a:t>
            </a:r>
            <a:r>
              <a:rPr b="1" lang="en-US" sz="1800" spc="-1" strike="noStrike">
                <a:solidFill>
                  <a:srgbClr val="5b9bd5"/>
                </a:solidFill>
                <a:latin typeface="Calibri"/>
                <a:ea typeface="Calibri"/>
              </a:rPr>
              <a:t>SUB Instruction Formation</a:t>
            </a:r>
            <a:endParaRPr b="0" lang="en-IN" sz="1800" spc="-1" strike="noStrike">
              <a:solidFill>
                <a:srgbClr val="000000"/>
              </a:solidFill>
              <a:latin typeface="Arial"/>
            </a:endParaRPr>
          </a:p>
        </p:txBody>
      </p:sp>
      <p:pic>
        <p:nvPicPr>
          <p:cNvPr id="556" name="Picture 6" descr=""/>
          <p:cNvPicPr/>
          <p:nvPr/>
        </p:nvPicPr>
        <p:blipFill>
          <a:blip r:embed="rId2"/>
          <a:stretch/>
        </p:blipFill>
        <p:spPr>
          <a:xfrm>
            <a:off x="2604600" y="2934360"/>
            <a:ext cx="7931880" cy="1014120"/>
          </a:xfrm>
          <a:prstGeom prst="rect">
            <a:avLst/>
          </a:prstGeom>
          <a:ln w="0">
            <a:noFill/>
          </a:ln>
        </p:spPr>
      </p:pic>
      <p:sp>
        <p:nvSpPr>
          <p:cNvPr id="557" name="CustomShape 3"/>
          <p:cNvSpPr/>
          <p:nvPr/>
        </p:nvSpPr>
        <p:spPr>
          <a:xfrm>
            <a:off x="5260680" y="4330080"/>
            <a:ext cx="295164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5b9bd5"/>
                </a:solidFill>
                <a:latin typeface="Calibri"/>
                <a:ea typeface="Calibri"/>
              </a:rPr>
              <a:t>Branch Instruction Formation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TextShape 1"/>
          <p:cNvSpPr/>
          <p:nvPr/>
        </p:nvSpPr>
        <p:spPr>
          <a:xfrm>
            <a:off x="6728400" y="6274440"/>
            <a:ext cx="47120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59" name="CustomShape 2"/>
          <p:cNvSpPr/>
          <p:nvPr/>
        </p:nvSpPr>
        <p:spPr>
          <a:xfrm>
            <a:off x="991080" y="473760"/>
            <a:ext cx="3380040" cy="516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800" spc="-1" strike="noStrike">
                <a:solidFill>
                  <a:srgbClr val="000000"/>
                </a:solidFill>
                <a:latin typeface="LiberationSerif-Bold"/>
                <a:ea typeface="DejaVu Sans"/>
              </a:rPr>
              <a:t>Logic Instructions</a:t>
            </a:r>
            <a:endParaRPr b="0" lang="en-IN" sz="2800" spc="-1" strike="noStrike">
              <a:solidFill>
                <a:srgbClr val="000000"/>
              </a:solidFill>
              <a:latin typeface="Arial"/>
            </a:endParaRPr>
          </a:p>
        </p:txBody>
      </p:sp>
      <p:pic>
        <p:nvPicPr>
          <p:cNvPr id="560" name="Picture 5" descr=""/>
          <p:cNvPicPr/>
          <p:nvPr/>
        </p:nvPicPr>
        <p:blipFill>
          <a:blip r:embed="rId1"/>
          <a:stretch/>
        </p:blipFill>
        <p:spPr>
          <a:xfrm>
            <a:off x="735120" y="1726200"/>
            <a:ext cx="10014120" cy="2161440"/>
          </a:xfrm>
          <a:prstGeom prst="rect">
            <a:avLst/>
          </a:prstGeom>
          <a:ln w="0">
            <a:noFill/>
          </a:ln>
        </p:spPr>
      </p:pic>
      <p:sp>
        <p:nvSpPr>
          <p:cNvPr id="561" name="CustomShape 3"/>
          <p:cNvSpPr/>
          <p:nvPr/>
        </p:nvSpPr>
        <p:spPr>
          <a:xfrm>
            <a:off x="503280" y="4168080"/>
            <a:ext cx="11190600" cy="1919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000" spc="-1" strike="noStrike">
                <a:solidFill>
                  <a:srgbClr val="000000"/>
                </a:solidFill>
                <a:latin typeface="Times New Roman"/>
                <a:ea typeface="DejaVu Sans"/>
              </a:rPr>
              <a:t>AND Rd, Rn, Op2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;Rd = Rn ANDed Op2</a:t>
            </a:r>
            <a:endParaRPr b="0" lang="en-IN" sz="2000" spc="-1" strike="noStrike">
              <a:solidFill>
                <a:srgbClr val="000000"/>
              </a:solidFill>
              <a:latin typeface="Arial"/>
            </a:endParaRPr>
          </a:p>
          <a:p>
            <a:pPr>
              <a:lnSpc>
                <a:spcPct val="100000"/>
              </a:lnSpc>
            </a:pPr>
            <a:r>
              <a:rPr b="0" lang="da-DK" sz="2000" spc="-1" strike="noStrike">
                <a:solidFill>
                  <a:srgbClr val="000000"/>
                </a:solidFill>
                <a:latin typeface="Times New Roman"/>
                <a:ea typeface="DejaVu Sans"/>
              </a:rPr>
              <a:t>ORR Rd, Rn, Op2</a:t>
            </a:r>
            <a:r>
              <a:rPr b="0" lang="da-DK" sz="2000" spc="-1" strike="noStrike">
                <a:solidFill>
                  <a:srgbClr val="000000"/>
                </a:solidFill>
                <a:latin typeface="Times New Roman"/>
                <a:ea typeface="DejaVu Sans"/>
              </a:rPr>
              <a:t>	</a:t>
            </a:r>
            <a:r>
              <a:rPr b="0" lang="da-DK" sz="2000" spc="-1" strike="noStrike">
                <a:solidFill>
                  <a:srgbClr val="000000"/>
                </a:solidFill>
                <a:latin typeface="Times New Roman"/>
                <a:ea typeface="DejaVu Sans"/>
              </a:rPr>
              <a:t>	</a:t>
            </a:r>
            <a:r>
              <a:rPr b="0" lang="da-DK" sz="2000" spc="-1" strike="noStrike">
                <a:solidFill>
                  <a:srgbClr val="000000"/>
                </a:solidFill>
                <a:latin typeface="Times New Roman"/>
                <a:ea typeface="DejaVu Sans"/>
              </a:rPr>
              <a:t>;Rd = Rn ORed Op2</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EOR Rd,Rn,Op2</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;Rd = Rn Ex-ORed with Op2</a:t>
            </a: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BIC Rd,Rn,Op2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;clear certain bits of Rn specified by the Op2 and place the result in Rd</a:t>
            </a:r>
            <a:endParaRPr b="0" lang="en-IN" sz="2000" spc="-1" strike="noStrike">
              <a:solidFill>
                <a:srgbClr val="000000"/>
              </a:solidFill>
              <a:latin typeface="Arial"/>
            </a:endParaRPr>
          </a:p>
          <a:p>
            <a:pPr>
              <a:lnSpc>
                <a:spcPct val="100000"/>
              </a:lnSpc>
            </a:pPr>
            <a:endParaRPr b="0" lang="en-IN" sz="2000" spc="-1" strike="noStrike">
              <a:solidFill>
                <a:srgbClr val="000000"/>
              </a:solidFill>
              <a:latin typeface="Arial"/>
            </a:endParaRPr>
          </a:p>
          <a:p>
            <a:pPr>
              <a:lnSpc>
                <a:spcPct val="100000"/>
              </a:lnSpc>
            </a:pPr>
            <a:r>
              <a:rPr b="0" lang="en-US" sz="2000" spc="-1" strike="noStrike">
                <a:solidFill>
                  <a:srgbClr val="000000"/>
                </a:solidFill>
                <a:latin typeface="Times New Roman"/>
                <a:ea typeface="DejaVu Sans"/>
              </a:rPr>
              <a:t>In all these instructions Op2 can be register or immediate value</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TextShape 1"/>
          <p:cNvSpPr/>
          <p:nvPr/>
        </p:nvSpPr>
        <p:spPr>
          <a:xfrm>
            <a:off x="6878520" y="6329160"/>
            <a:ext cx="48211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63" name="CustomShape 2"/>
          <p:cNvSpPr/>
          <p:nvPr/>
        </p:nvSpPr>
        <p:spPr>
          <a:xfrm>
            <a:off x="605160" y="313200"/>
            <a:ext cx="10065240" cy="1918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The BIC (bit clear) instruction is used to clear the selected bits of the Rn register. The selected bits are held by Op2. The bits that are HIGH in Op2 will be cleared and bits with LOW will be left unchanged. In reality, the BIC instruction performs AND operation on Rn register with the complement of Op2 and places the result in destination register</a:t>
            </a:r>
            <a:endParaRPr b="0" lang="en-IN" sz="2400" spc="-1" strike="noStrike">
              <a:solidFill>
                <a:srgbClr val="000000"/>
              </a:solidFill>
              <a:latin typeface="Arial"/>
            </a:endParaRPr>
          </a:p>
        </p:txBody>
      </p:sp>
      <p:sp>
        <p:nvSpPr>
          <p:cNvPr id="564" name="CustomShape 3"/>
          <p:cNvSpPr/>
          <p:nvPr/>
        </p:nvSpPr>
        <p:spPr>
          <a:xfrm>
            <a:off x="605160" y="2252160"/>
            <a:ext cx="971064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MOV R1,#0x0F</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R2,#0xAA</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BIC R3,R2,R1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;now R3 = 0xAA ANDed with 0xF0 = 0xA0</a:t>
            </a:r>
            <a:endParaRPr b="0" lang="en-IN" sz="2400" spc="-1" strike="noStrike">
              <a:solidFill>
                <a:srgbClr val="000000"/>
              </a:solidFill>
              <a:latin typeface="Arial"/>
            </a:endParaRPr>
          </a:p>
        </p:txBody>
      </p:sp>
      <p:sp>
        <p:nvSpPr>
          <p:cNvPr id="565" name="CustomShape 4"/>
          <p:cNvSpPr/>
          <p:nvPr/>
        </p:nvSpPr>
        <p:spPr>
          <a:xfrm>
            <a:off x="605160" y="3464640"/>
            <a:ext cx="10065240" cy="3015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MVN Rd, Rn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;move negative of Rn to Rd</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The MVN (move negative) instruction is used to generate one’s complement of an operand. For example, the instruction “MVN R2,#0” will make R2=0xFFFFFFFF. Look at the following example:</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LDR R2,=0xAAAAAAAA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;R2 = 0xAAAAAAAA</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MVN R2,R2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;R2 = 0x55555555</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It must be noted that the instruction “MVN Rd,#0” is widely used to load the fixed value of 0xFFFFFFFF into destination register.</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CustomShape 1"/>
          <p:cNvSpPr/>
          <p:nvPr/>
        </p:nvSpPr>
        <p:spPr>
          <a:xfrm>
            <a:off x="1037160" y="1100160"/>
            <a:ext cx="10069920" cy="4204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i="1" lang="en-US" sz="1800" spc="-1" strike="noStrike">
                <a:solidFill>
                  <a:srgbClr val="000000"/>
                </a:solidFill>
                <a:latin typeface="LiberationSerif-BoldItalic"/>
                <a:ea typeface="DejaVu Sans"/>
              </a:rPr>
              <a:t>Comparison of unsigned numbers</a:t>
            </a:r>
            <a:endParaRPr b="0" lang="en-IN" sz="1800" spc="-1" strike="noStrike">
              <a:solidFill>
                <a:srgbClr val="000000"/>
              </a:solidFill>
              <a:latin typeface="Arial"/>
            </a:endParaRPr>
          </a:p>
          <a:p>
            <a:pPr algn="just">
              <a:lnSpc>
                <a:spcPct val="100000"/>
              </a:lnSpc>
            </a:pPr>
            <a:endParaRPr b="0" lang="en-IN" sz="1800" spc="-1" strike="noStrike">
              <a:solidFill>
                <a:srgbClr val="000000"/>
              </a:solidFill>
              <a:latin typeface="Arial"/>
            </a:endParaRPr>
          </a:p>
          <a:p>
            <a:pPr algn="just">
              <a:lnSpc>
                <a:spcPct val="100000"/>
              </a:lnSpc>
            </a:pPr>
            <a:r>
              <a:rPr b="0" lang="en-US" sz="1800" spc="-1" strike="noStrike">
                <a:solidFill>
                  <a:srgbClr val="000000"/>
                </a:solidFill>
                <a:latin typeface="Times New Roman"/>
                <a:ea typeface="DejaVu Sans"/>
              </a:rPr>
              <a:t>CMP Rn,Op2 ;compare Rn with Op2 and set the flags</a:t>
            </a:r>
            <a:endParaRPr b="0" lang="en-IN" sz="1800" spc="-1" strike="noStrike">
              <a:solidFill>
                <a:srgbClr val="000000"/>
              </a:solidFill>
              <a:latin typeface="Arial"/>
            </a:endParaRPr>
          </a:p>
          <a:p>
            <a:pPr algn="just">
              <a:lnSpc>
                <a:spcPct val="100000"/>
              </a:lnSpc>
            </a:pPr>
            <a:endParaRPr b="0" lang="en-IN" sz="1800" spc="-1" strike="noStrike">
              <a:solidFill>
                <a:srgbClr val="000000"/>
              </a:solidFill>
              <a:latin typeface="Arial"/>
            </a:endParaRPr>
          </a:p>
          <a:p>
            <a:pPr marL="285840" indent="-285480" algn="just">
              <a:lnSpc>
                <a:spcPct val="100000"/>
              </a:lnSpc>
              <a:buClr>
                <a:srgbClr val="000000"/>
              </a:buClr>
              <a:buFont typeface="Arial"/>
              <a:buChar char="•"/>
            </a:pPr>
            <a:r>
              <a:rPr b="0" lang="en-US" sz="1800" spc="-1" strike="noStrike">
                <a:solidFill>
                  <a:srgbClr val="000000"/>
                </a:solidFill>
                <a:latin typeface="Times New Roman"/>
                <a:ea typeface="DejaVu Sans"/>
              </a:rPr>
              <a:t>The CMP instruction compares two operands and changes the flags according to the result of the comparison. The operands themselves remain unchanged.  The second source operands can be a register or an immediate value not larger than 0xFF. </a:t>
            </a:r>
            <a:endParaRPr b="0" lang="en-IN" sz="1800" spc="-1" strike="noStrike">
              <a:solidFill>
                <a:srgbClr val="000000"/>
              </a:solidFill>
              <a:latin typeface="Arial"/>
            </a:endParaRPr>
          </a:p>
          <a:p>
            <a:pPr marL="285840" indent="-285480" algn="just">
              <a:lnSpc>
                <a:spcPct val="100000"/>
              </a:lnSpc>
              <a:buClr>
                <a:srgbClr val="000000"/>
              </a:buClr>
              <a:buFont typeface="Arial"/>
              <a:buChar char="•"/>
            </a:pPr>
            <a:r>
              <a:rPr b="0" lang="en-US" sz="1800" spc="-1" strike="noStrike">
                <a:solidFill>
                  <a:srgbClr val="000000"/>
                </a:solidFill>
                <a:latin typeface="Times New Roman"/>
                <a:ea typeface="DejaVu Sans"/>
              </a:rPr>
              <a:t>It must be emphasized that “CMP Rn,Op2” instruction is really a subtract operation. Op2 is subtracted from Rn (Rn – Op2) and the result is discarded and flags are set accordingly. </a:t>
            </a:r>
            <a:endParaRPr b="0" lang="en-IN" sz="1800" spc="-1" strike="noStrike">
              <a:solidFill>
                <a:srgbClr val="000000"/>
              </a:solidFill>
              <a:latin typeface="Arial"/>
            </a:endParaRPr>
          </a:p>
          <a:p>
            <a:pPr marL="285840" indent="-285480" algn="just">
              <a:lnSpc>
                <a:spcPct val="100000"/>
              </a:lnSpc>
              <a:buClr>
                <a:srgbClr val="000000"/>
              </a:buClr>
              <a:buFont typeface="Arial"/>
              <a:buChar char="•"/>
            </a:pPr>
            <a:r>
              <a:rPr b="0" lang="en-US" sz="1800" spc="-1" strike="noStrike">
                <a:solidFill>
                  <a:srgbClr val="000000"/>
                </a:solidFill>
                <a:latin typeface="Times New Roman"/>
                <a:ea typeface="DejaVu Sans"/>
              </a:rPr>
              <a:t>Although all the C, S, Z, and V flags reflect the result of the comparison, only C and Z are used for unsigned numbers, as shown below:</a:t>
            </a:r>
            <a:endParaRPr b="0" lang="en-IN" sz="1800" spc="-1" strike="noStrike">
              <a:solidFill>
                <a:srgbClr val="000000"/>
              </a:solidFill>
              <a:latin typeface="Arial"/>
            </a:endParaRPr>
          </a:p>
          <a:p>
            <a:pPr algn="just">
              <a:lnSpc>
                <a:spcPct val="100000"/>
              </a:lnSpc>
            </a:pP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C            Z</a:t>
            </a:r>
            <a:endParaRPr b="0" lang="en-IN" sz="1800" spc="-1" strike="noStrike">
              <a:solidFill>
                <a:srgbClr val="000000"/>
              </a:solidFill>
              <a:latin typeface="Arial"/>
            </a:endParaRPr>
          </a:p>
          <a:p>
            <a:pPr algn="ctr">
              <a:lnSpc>
                <a:spcPct val="100000"/>
              </a:lnSpc>
            </a:pPr>
            <a:r>
              <a:rPr b="1" lang="en-US" sz="1800" spc="-1" strike="noStrike">
                <a:solidFill>
                  <a:srgbClr val="000000"/>
                </a:solidFill>
                <a:latin typeface="LiberationSerif-Bold"/>
                <a:ea typeface="DejaVu Sans"/>
              </a:rPr>
              <a:t>Rn &gt; Op2             </a:t>
            </a:r>
            <a:r>
              <a:rPr b="0" lang="en-US" sz="1800" spc="-1" strike="noStrike">
                <a:solidFill>
                  <a:srgbClr val="000000"/>
                </a:solidFill>
                <a:latin typeface="Times New Roman"/>
                <a:ea typeface="DejaVu Sans"/>
              </a:rPr>
              <a:t>1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0</a:t>
            </a:r>
            <a:endParaRPr b="0" lang="en-IN" sz="1800" spc="-1" strike="noStrike">
              <a:solidFill>
                <a:srgbClr val="000000"/>
              </a:solidFill>
              <a:latin typeface="Arial"/>
            </a:endParaRPr>
          </a:p>
          <a:p>
            <a:pPr algn="ctr">
              <a:lnSpc>
                <a:spcPct val="100000"/>
              </a:lnSpc>
            </a:pPr>
            <a:r>
              <a:rPr b="1" lang="en-US" sz="1800" spc="-1" strike="noStrike">
                <a:solidFill>
                  <a:srgbClr val="000000"/>
                </a:solidFill>
                <a:latin typeface="LiberationSerif-Bold"/>
                <a:ea typeface="DejaVu Sans"/>
              </a:rPr>
              <a:t>Rn = Op2 </a:t>
            </a:r>
            <a:r>
              <a:rPr b="1" lang="en-US" sz="1800" spc="-1" strike="noStrike">
                <a:solidFill>
                  <a:srgbClr val="000000"/>
                </a:solidFill>
                <a:latin typeface="LiberationSerif-Bold"/>
                <a:ea typeface="DejaVu Sans"/>
              </a:rPr>
              <a:t>	</a:t>
            </a:r>
            <a:r>
              <a:rPr b="0" lang="en-US" sz="1800" spc="-1" strike="noStrike">
                <a:solidFill>
                  <a:srgbClr val="000000"/>
                </a:solidFill>
                <a:latin typeface="Times New Roman"/>
                <a:ea typeface="DejaVu Sans"/>
              </a:rPr>
              <a:t>1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1</a:t>
            </a:r>
            <a:endParaRPr b="0" lang="en-IN" sz="1800" spc="-1" strike="noStrike">
              <a:solidFill>
                <a:srgbClr val="000000"/>
              </a:solidFill>
              <a:latin typeface="Arial"/>
            </a:endParaRPr>
          </a:p>
          <a:p>
            <a:pPr algn="ctr">
              <a:lnSpc>
                <a:spcPct val="100000"/>
              </a:lnSpc>
            </a:pPr>
            <a:r>
              <a:rPr b="1" lang="en-US" sz="1800" spc="-1" strike="noStrike">
                <a:solidFill>
                  <a:srgbClr val="000000"/>
                </a:solidFill>
                <a:latin typeface="LiberationSerif-Bold"/>
                <a:ea typeface="DejaVu Sans"/>
              </a:rPr>
              <a:t>Rn &lt; Op2 </a:t>
            </a:r>
            <a:r>
              <a:rPr b="1" lang="en-US" sz="1800" spc="-1" strike="noStrike">
                <a:solidFill>
                  <a:srgbClr val="000000"/>
                </a:solidFill>
                <a:latin typeface="LiberationSerif-Bold"/>
                <a:ea typeface="DejaVu Sans"/>
              </a:rPr>
              <a:t>	</a:t>
            </a:r>
            <a:r>
              <a:rPr b="0" lang="en-US" sz="1800" spc="-1" strike="noStrike">
                <a:solidFill>
                  <a:srgbClr val="000000"/>
                </a:solidFill>
                <a:latin typeface="Times New Roman"/>
                <a:ea typeface="DejaVu Sans"/>
              </a:rPr>
              <a:t>0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0</a:t>
            </a:r>
            <a:endParaRPr b="0" lang="en-IN" sz="1800" spc="-1" strike="noStrike">
              <a:solidFill>
                <a:srgbClr val="000000"/>
              </a:solidFill>
              <a:latin typeface="Arial"/>
            </a:endParaRPr>
          </a:p>
        </p:txBody>
      </p:sp>
      <p:sp>
        <p:nvSpPr>
          <p:cNvPr id="567" name="TextShape 2"/>
          <p:cNvSpPr/>
          <p:nvPr/>
        </p:nvSpPr>
        <p:spPr>
          <a:xfrm>
            <a:off x="7014960" y="6260760"/>
            <a:ext cx="4643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CustomShape 1"/>
          <p:cNvSpPr/>
          <p:nvPr/>
        </p:nvSpPr>
        <p:spPr>
          <a:xfrm>
            <a:off x="1137240" y="1485360"/>
            <a:ext cx="9792360" cy="2009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LDR R1,=0x35F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;R1 = 0x35F</a:t>
            </a:r>
            <a:endParaRPr b="0" lang="en-IN" sz="1800" spc="-1" strike="noStrike">
              <a:solidFill>
                <a:srgbClr val="000000"/>
              </a:solidFill>
              <a:latin typeface="Arial"/>
            </a:endParaRPr>
          </a:p>
          <a:p>
            <a:pPr>
              <a:lnSpc>
                <a:spcPct val="100000"/>
              </a:lnSpc>
            </a:pPr>
            <a:endParaRPr b="0" lang="en-IN" sz="1800" spc="-1" strike="noStrike">
              <a:solidFill>
                <a:srgbClr val="000000"/>
              </a:solidFill>
              <a:latin typeface="Arial"/>
            </a:endParaRPr>
          </a:p>
          <a:p>
            <a:pPr>
              <a:lnSpc>
                <a:spcPct val="100000"/>
              </a:lnSpc>
            </a:pP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LDR R2,=0xCCC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;R2 = 0xCCC</a:t>
            </a:r>
            <a:endParaRPr b="0" lang="en-IN" sz="1800" spc="-1" strike="noStrike">
              <a:solidFill>
                <a:srgbClr val="000000"/>
              </a:solidFill>
              <a:latin typeface="Arial"/>
            </a:endParaRPr>
          </a:p>
          <a:p>
            <a:pPr>
              <a:lnSpc>
                <a:spcPct val="100000"/>
              </a:lnSpc>
            </a:pP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CMP R1,R2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;compare 0x35F with 0xCCC</a:t>
            </a:r>
            <a:endParaRPr b="0" lang="en-IN" sz="1800" spc="-1" strike="noStrike">
              <a:solidFill>
                <a:srgbClr val="000000"/>
              </a:solidFill>
              <a:latin typeface="Arial"/>
            </a:endParaRPr>
          </a:p>
          <a:p>
            <a:pPr>
              <a:lnSpc>
                <a:spcPct val="100000"/>
              </a:lnSpc>
            </a:pP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BCC OVER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;branch if C = 0</a:t>
            </a:r>
            <a:endParaRPr b="0" lang="en-IN" sz="1800" spc="-1" strike="noStrike">
              <a:solidFill>
                <a:srgbClr val="000000"/>
              </a:solidFill>
              <a:latin typeface="Arial"/>
            </a:endParaRPr>
          </a:p>
          <a:p>
            <a:pPr>
              <a:lnSpc>
                <a:spcPct val="100000"/>
              </a:lnSpc>
            </a:pP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MOV R1,#0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;if C = 1, then clear R1</a:t>
            </a:r>
            <a:endParaRPr b="0" lang="en-IN" sz="1800" spc="-1" strike="noStrike">
              <a:solidFill>
                <a:srgbClr val="000000"/>
              </a:solidFill>
              <a:latin typeface="Arial"/>
            </a:endParaRPr>
          </a:p>
          <a:p>
            <a:pPr>
              <a:lnSpc>
                <a:spcPct val="100000"/>
              </a:lnSpc>
            </a:pPr>
            <a:r>
              <a:rPr b="0" lang="pt-BR" sz="1800" spc="-1" strike="noStrike">
                <a:solidFill>
                  <a:srgbClr val="000000"/>
                </a:solidFill>
                <a:latin typeface="Times New Roman"/>
                <a:ea typeface="DejaVu Sans"/>
              </a:rPr>
              <a:t>OVER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ADD R2,R2,#1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	</a:t>
            </a:r>
            <a:r>
              <a:rPr b="0" lang="pt-BR" sz="1800" spc="-1" strike="noStrike">
                <a:solidFill>
                  <a:srgbClr val="000000"/>
                </a:solidFill>
                <a:latin typeface="Times New Roman"/>
                <a:ea typeface="DejaVu Sans"/>
              </a:rPr>
              <a:t>;R2 = R2 + 1 = 0xCCC + 1 = 0xCCD</a:t>
            </a:r>
            <a:endParaRPr b="0" lang="en-IN" sz="1800" spc="-1" strike="noStrike">
              <a:solidFill>
                <a:srgbClr val="000000"/>
              </a:solidFill>
              <a:latin typeface="Arial"/>
            </a:endParaRPr>
          </a:p>
        </p:txBody>
      </p:sp>
      <p:sp>
        <p:nvSpPr>
          <p:cNvPr id="569" name="TextShape 2"/>
          <p:cNvSpPr/>
          <p:nvPr/>
        </p:nvSpPr>
        <p:spPr>
          <a:xfrm>
            <a:off x="6933240" y="6301800"/>
            <a:ext cx="47257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0" name="Picture 3" descr=""/>
          <p:cNvPicPr/>
          <p:nvPr/>
        </p:nvPicPr>
        <p:blipFill>
          <a:blip r:embed="rId1"/>
          <a:stretch/>
        </p:blipFill>
        <p:spPr>
          <a:xfrm>
            <a:off x="3179880" y="531360"/>
            <a:ext cx="5866200" cy="4003920"/>
          </a:xfrm>
          <a:prstGeom prst="rect">
            <a:avLst/>
          </a:prstGeom>
          <a:ln w="0">
            <a:noFill/>
          </a:ln>
        </p:spPr>
      </p:pic>
      <p:sp>
        <p:nvSpPr>
          <p:cNvPr id="571" name="CustomShape 1"/>
          <p:cNvSpPr/>
          <p:nvPr/>
        </p:nvSpPr>
        <p:spPr>
          <a:xfrm>
            <a:off x="3863520" y="4804560"/>
            <a:ext cx="416808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Flag Bits Affected by Different Instructions</a:t>
            </a:r>
            <a:endParaRPr b="0" lang="en-IN" sz="1800" spc="-1" strike="noStrike">
              <a:solidFill>
                <a:srgbClr val="000000"/>
              </a:solidFill>
              <a:latin typeface="Arial"/>
            </a:endParaRPr>
          </a:p>
        </p:txBody>
      </p:sp>
      <p:sp>
        <p:nvSpPr>
          <p:cNvPr id="572" name="TextShape 2"/>
          <p:cNvSpPr/>
          <p:nvPr/>
        </p:nvSpPr>
        <p:spPr>
          <a:xfrm>
            <a:off x="6782760" y="6288120"/>
            <a:ext cx="49168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TextShape 1"/>
          <p:cNvSpPr/>
          <p:nvPr/>
        </p:nvSpPr>
        <p:spPr>
          <a:xfrm>
            <a:off x="6782760" y="6165360"/>
            <a:ext cx="46573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74" name="CustomShape 2"/>
          <p:cNvSpPr/>
          <p:nvPr/>
        </p:nvSpPr>
        <p:spPr>
          <a:xfrm>
            <a:off x="1108080" y="514800"/>
            <a:ext cx="397584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400" spc="-1" strike="noStrike">
                <a:solidFill>
                  <a:srgbClr val="000000"/>
                </a:solidFill>
                <a:latin typeface="LiberationSerif-Bold"/>
                <a:ea typeface="DejaVu Sans"/>
              </a:rPr>
              <a:t>Rotate and Barrel Shifter</a:t>
            </a:r>
            <a:endParaRPr b="0" lang="en-IN" sz="2400" spc="-1" strike="noStrike">
              <a:solidFill>
                <a:srgbClr val="000000"/>
              </a:solidFill>
              <a:latin typeface="Arial"/>
            </a:endParaRPr>
          </a:p>
        </p:txBody>
      </p:sp>
      <p:sp>
        <p:nvSpPr>
          <p:cNvPr id="575" name="CustomShape 3"/>
          <p:cNvSpPr/>
          <p:nvPr/>
        </p:nvSpPr>
        <p:spPr>
          <a:xfrm>
            <a:off x="1320120" y="1943640"/>
            <a:ext cx="10120320" cy="30157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we can perform the shift and rotate operations as part of other instructions such as MOV</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The process instructions can be used in one of the following forms:</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1. opcode Rd, Rn, Rs (e.g. ADD R1,R2,R3)</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2. opcode Rd, Rn, immediateValue (e.g. ADD R2,R3,#5)</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ARM is able to shift or rotate the second argument before using it as the argument.</a:t>
            </a:r>
            <a:endParaRPr b="0" lang="en-IN" sz="2400" spc="-1" strike="noStrike">
              <a:solidFill>
                <a:srgbClr val="000000"/>
              </a:solidFill>
              <a:latin typeface="Arial"/>
            </a:endParaRPr>
          </a:p>
        </p:txBody>
      </p:sp>
      <p:sp>
        <p:nvSpPr>
          <p:cNvPr id="576" name="CustomShape 4"/>
          <p:cNvSpPr/>
          <p:nvPr/>
        </p:nvSpPr>
        <p:spPr>
          <a:xfrm>
            <a:off x="1191600" y="2131560"/>
            <a:ext cx="9983880" cy="459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78" name="CustomShape 2"/>
          <p:cNvSpPr/>
          <p:nvPr/>
        </p:nvSpPr>
        <p:spPr>
          <a:xfrm>
            <a:off x="894960" y="514800"/>
            <a:ext cx="372132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i="1" lang="en-US" sz="2400" spc="-1" strike="noStrike">
                <a:solidFill>
                  <a:srgbClr val="000000"/>
                </a:solidFill>
                <a:latin typeface="LiberationSerif-BoldItalic"/>
                <a:ea typeface="DejaVu Sans"/>
              </a:rPr>
              <a:t>LSR</a:t>
            </a:r>
            <a:r>
              <a:rPr b="1" i="1" lang="en-US" sz="2400" spc="-1" strike="noStrike">
                <a:solidFill>
                  <a:srgbClr val="000000"/>
                </a:solidFill>
                <a:latin typeface="LiberationSerif-BoldItalic"/>
                <a:ea typeface="DejaVu Sans"/>
              </a:rPr>
              <a:t>	</a:t>
            </a:r>
            <a:r>
              <a:rPr b="1" i="1" lang="en-US" sz="2400" spc="-1" strike="noStrike">
                <a:solidFill>
                  <a:srgbClr val="000000"/>
                </a:solidFill>
                <a:latin typeface="LiberationSerif-BoldItalic"/>
                <a:ea typeface="DejaVu Sans"/>
              </a:rPr>
              <a:t>Logical Shift Right</a:t>
            </a:r>
            <a:endParaRPr b="0" lang="en-IN" sz="2400" spc="-1" strike="noStrike">
              <a:solidFill>
                <a:srgbClr val="000000"/>
              </a:solidFill>
              <a:latin typeface="Arial"/>
            </a:endParaRPr>
          </a:p>
        </p:txBody>
      </p:sp>
      <p:pic>
        <p:nvPicPr>
          <p:cNvPr id="579" name="Picture 3" descr=""/>
          <p:cNvPicPr/>
          <p:nvPr/>
        </p:nvPicPr>
        <p:blipFill>
          <a:blip r:embed="rId1"/>
          <a:stretch/>
        </p:blipFill>
        <p:spPr>
          <a:xfrm>
            <a:off x="3778200" y="1133640"/>
            <a:ext cx="3995640" cy="936000"/>
          </a:xfrm>
          <a:prstGeom prst="rect">
            <a:avLst/>
          </a:prstGeom>
          <a:ln w="0">
            <a:noFill/>
          </a:ln>
        </p:spPr>
      </p:pic>
      <p:sp>
        <p:nvSpPr>
          <p:cNvPr id="580" name="CustomShape 3"/>
          <p:cNvSpPr/>
          <p:nvPr/>
        </p:nvSpPr>
        <p:spPr>
          <a:xfrm>
            <a:off x="990720" y="2339640"/>
            <a:ext cx="10103040" cy="11869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BR" sz="2400" spc="-1" strike="noStrike">
                <a:solidFill>
                  <a:srgbClr val="000000"/>
                </a:solidFill>
                <a:latin typeface="Times New Roman"/>
                <a:ea typeface="DejaVu Sans"/>
              </a:rPr>
              <a:t>MOV R0,#0x9A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;R0 = 0x9A</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MOVS R1,R0,LSR #3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;shift R0 to right 3 times</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;and then move (copy) the result to R1</a:t>
            </a:r>
            <a:endParaRPr b="0" lang="en-IN" sz="2400" spc="-1" strike="noStrike">
              <a:solidFill>
                <a:srgbClr val="000000"/>
              </a:solidFill>
              <a:latin typeface="Arial"/>
            </a:endParaRPr>
          </a:p>
        </p:txBody>
      </p:sp>
      <p:sp>
        <p:nvSpPr>
          <p:cNvPr id="581" name="CustomShape 4"/>
          <p:cNvSpPr/>
          <p:nvPr/>
        </p:nvSpPr>
        <p:spPr>
          <a:xfrm>
            <a:off x="666360" y="3807720"/>
            <a:ext cx="108568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MOV R0,#0x9A</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R2,#0x03</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MOV R1,R0,LSR R2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;shift R0 to right R2 times </a:t>
            </a:r>
            <a:r>
              <a:rPr b="0" lang="en-US" sz="2400" spc="-1" strike="noStrike">
                <a:solidFill>
                  <a:srgbClr val="000000"/>
                </a:solidFill>
                <a:latin typeface="Times New Roman"/>
                <a:ea typeface="DejaVu Sans"/>
              </a:rPr>
              <a:t>and move the result to R1</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TextShape 1"/>
          <p:cNvSpPr/>
          <p:nvPr/>
        </p:nvSpPr>
        <p:spPr>
          <a:xfrm>
            <a:off x="6537240" y="6069600"/>
            <a:ext cx="48758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pic>
        <p:nvPicPr>
          <p:cNvPr id="583" name="Picture 2" descr=""/>
          <p:cNvPicPr/>
          <p:nvPr/>
        </p:nvPicPr>
        <p:blipFill>
          <a:blip r:embed="rId1"/>
          <a:stretch/>
        </p:blipFill>
        <p:spPr>
          <a:xfrm>
            <a:off x="3570840" y="1146240"/>
            <a:ext cx="4421520" cy="911520"/>
          </a:xfrm>
          <a:prstGeom prst="rect">
            <a:avLst/>
          </a:prstGeom>
          <a:ln w="0">
            <a:noFill/>
          </a:ln>
        </p:spPr>
      </p:pic>
      <p:sp>
        <p:nvSpPr>
          <p:cNvPr id="584" name="CustomShape 2"/>
          <p:cNvSpPr/>
          <p:nvPr/>
        </p:nvSpPr>
        <p:spPr>
          <a:xfrm>
            <a:off x="884520" y="514800"/>
            <a:ext cx="352188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i="1" lang="en-US" sz="2400" spc="-1" strike="noStrike">
                <a:solidFill>
                  <a:srgbClr val="000000"/>
                </a:solidFill>
                <a:latin typeface="LiberationSerif-BoldItalic"/>
                <a:ea typeface="DejaVu Sans"/>
              </a:rPr>
              <a:t>LSL</a:t>
            </a:r>
            <a:r>
              <a:rPr b="1" i="1" lang="en-US" sz="2400" spc="-1" strike="noStrike">
                <a:solidFill>
                  <a:srgbClr val="000000"/>
                </a:solidFill>
                <a:latin typeface="LiberationSerif-BoldItalic"/>
                <a:ea typeface="DejaVu Sans"/>
              </a:rPr>
              <a:t>	</a:t>
            </a:r>
            <a:r>
              <a:rPr b="1" i="1" lang="en-US" sz="2400" spc="-1" strike="noStrike">
                <a:solidFill>
                  <a:srgbClr val="000000"/>
                </a:solidFill>
                <a:latin typeface="LiberationSerif-BoldItalic"/>
                <a:ea typeface="DejaVu Sans"/>
              </a:rPr>
              <a:t>Logical Shift Left</a:t>
            </a:r>
            <a:endParaRPr b="0" lang="en-IN" sz="2400" spc="-1" strike="noStrike">
              <a:solidFill>
                <a:srgbClr val="000000"/>
              </a:solidFill>
              <a:latin typeface="Arial"/>
            </a:endParaRPr>
          </a:p>
        </p:txBody>
      </p:sp>
      <p:sp>
        <p:nvSpPr>
          <p:cNvPr id="585" name="CustomShape 3"/>
          <p:cNvSpPr/>
          <p:nvPr/>
        </p:nvSpPr>
        <p:spPr>
          <a:xfrm>
            <a:off x="846000" y="2478240"/>
            <a:ext cx="6093720" cy="821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LDR R1,=0x0F000006</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MOVS R2,R1,LSL #8</a:t>
            </a:r>
            <a:endParaRPr b="0" lang="en-IN" sz="2400" spc="-1" strike="noStrike">
              <a:solidFill>
                <a:srgbClr val="000000"/>
              </a:solidFill>
              <a:latin typeface="Arial"/>
            </a:endParaRPr>
          </a:p>
        </p:txBody>
      </p:sp>
      <p:sp>
        <p:nvSpPr>
          <p:cNvPr id="586" name="CustomShape 4"/>
          <p:cNvSpPr/>
          <p:nvPr/>
        </p:nvSpPr>
        <p:spPr>
          <a:xfrm>
            <a:off x="846000" y="3561840"/>
            <a:ext cx="609372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LDR R1,=0x0F000006</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R0,#0x08</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R2,R1,LSL R0</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TextShape 1"/>
          <p:cNvSpPr/>
          <p:nvPr/>
        </p:nvSpPr>
        <p:spPr>
          <a:xfrm>
            <a:off x="6755760" y="6124320"/>
            <a:ext cx="48621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pic>
        <p:nvPicPr>
          <p:cNvPr id="588" name="Picture 2" descr=""/>
          <p:cNvPicPr/>
          <p:nvPr/>
        </p:nvPicPr>
        <p:blipFill>
          <a:blip r:embed="rId1"/>
          <a:stretch/>
        </p:blipFill>
        <p:spPr>
          <a:xfrm>
            <a:off x="460080" y="1037160"/>
            <a:ext cx="11269800" cy="2422800"/>
          </a:xfrm>
          <a:prstGeom prst="rect">
            <a:avLst/>
          </a:prstGeom>
          <a:ln w="0">
            <a:noFill/>
          </a:ln>
        </p:spPr>
      </p:pic>
      <p:sp>
        <p:nvSpPr>
          <p:cNvPr id="589" name="CustomShape 2"/>
          <p:cNvSpPr/>
          <p:nvPr/>
        </p:nvSpPr>
        <p:spPr>
          <a:xfrm>
            <a:off x="2733840" y="3722040"/>
            <a:ext cx="672228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2400" spc="-1" strike="noStrike">
                <a:solidFill>
                  <a:srgbClr val="000000"/>
                </a:solidFill>
                <a:latin typeface="Calibri"/>
                <a:ea typeface="Calibri"/>
              </a:rPr>
              <a:t>Logic Shift operations for unsigned numbers in ARM</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TextShape 1"/>
          <p:cNvSpPr/>
          <p:nvPr/>
        </p:nvSpPr>
        <p:spPr>
          <a:xfrm>
            <a:off x="6400800" y="6196680"/>
            <a:ext cx="50803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91" name="CustomShape 2"/>
          <p:cNvSpPr/>
          <p:nvPr/>
        </p:nvSpPr>
        <p:spPr>
          <a:xfrm>
            <a:off x="990720" y="662760"/>
            <a:ext cx="609372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i="1" lang="en-US" sz="2400" spc="-1" strike="noStrike">
                <a:solidFill>
                  <a:srgbClr val="000000"/>
                </a:solidFill>
                <a:latin typeface="LiberationSerif-BoldItalic"/>
                <a:ea typeface="DejaVu Sans"/>
              </a:rPr>
              <a:t>ASR (arithmetic shift right)</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Rn,Op2, ASR count</a:t>
            </a:r>
            <a:endParaRPr b="0" lang="en-IN" sz="2400" spc="-1" strike="noStrike">
              <a:solidFill>
                <a:srgbClr val="000000"/>
              </a:solidFill>
              <a:latin typeface="Arial"/>
            </a:endParaRPr>
          </a:p>
        </p:txBody>
      </p:sp>
      <p:pic>
        <p:nvPicPr>
          <p:cNvPr id="592" name="Picture 3" descr=""/>
          <p:cNvPicPr/>
          <p:nvPr/>
        </p:nvPicPr>
        <p:blipFill>
          <a:blip r:embed="rId1"/>
          <a:stretch/>
        </p:blipFill>
        <p:spPr>
          <a:xfrm>
            <a:off x="2664720" y="2052000"/>
            <a:ext cx="7091280" cy="1369800"/>
          </a:xfrm>
          <a:prstGeom prst="rect">
            <a:avLst/>
          </a:prstGeom>
          <a:ln w="0">
            <a:noFill/>
          </a:ln>
        </p:spPr>
      </p:pic>
      <p:sp>
        <p:nvSpPr>
          <p:cNvPr id="593" name="CustomShape 3"/>
          <p:cNvSpPr/>
          <p:nvPr/>
        </p:nvSpPr>
        <p:spPr>
          <a:xfrm>
            <a:off x="990720" y="3612600"/>
            <a:ext cx="999360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2400" spc="-1" strike="noStrike">
                <a:solidFill>
                  <a:srgbClr val="000000"/>
                </a:solidFill>
                <a:latin typeface="Times New Roman"/>
                <a:ea typeface="DejaVu Sans"/>
              </a:rPr>
              <a:t>MOV R0,#-10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;R0 = -10 = 0xFFFFFFF6</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R3,R0,ASR #1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;R0 is arithmetic shifted right once</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;R3 = 0xFFFFFFFB = -5</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595" name="CustomShape 2"/>
          <p:cNvSpPr/>
          <p:nvPr/>
        </p:nvSpPr>
        <p:spPr>
          <a:xfrm>
            <a:off x="889560" y="501120"/>
            <a:ext cx="289836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400" spc="-1" strike="noStrike">
                <a:solidFill>
                  <a:srgbClr val="000000"/>
                </a:solidFill>
                <a:latin typeface="LiberationSerif-Bold"/>
                <a:ea typeface="DejaVu Sans"/>
              </a:rPr>
              <a:t>ROR (rotate right)</a:t>
            </a:r>
            <a:endParaRPr b="0" lang="en-IN" sz="2400" spc="-1" strike="noStrike">
              <a:solidFill>
                <a:srgbClr val="000000"/>
              </a:solidFill>
              <a:latin typeface="Arial"/>
            </a:endParaRPr>
          </a:p>
        </p:txBody>
      </p:sp>
      <p:pic>
        <p:nvPicPr>
          <p:cNvPr id="596" name="Picture 3" descr=""/>
          <p:cNvPicPr/>
          <p:nvPr/>
        </p:nvPicPr>
        <p:blipFill>
          <a:blip r:embed="rId1"/>
          <a:stretch/>
        </p:blipFill>
        <p:spPr>
          <a:xfrm>
            <a:off x="3829680" y="1159920"/>
            <a:ext cx="4662000" cy="1424880"/>
          </a:xfrm>
          <a:prstGeom prst="rect">
            <a:avLst/>
          </a:prstGeom>
          <a:ln w="0">
            <a:noFill/>
          </a:ln>
        </p:spPr>
      </p:pic>
      <p:sp>
        <p:nvSpPr>
          <p:cNvPr id="597" name="CustomShape 3"/>
          <p:cNvSpPr/>
          <p:nvPr/>
        </p:nvSpPr>
        <p:spPr>
          <a:xfrm>
            <a:off x="781920" y="2926440"/>
            <a:ext cx="6093720" cy="821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MOV R1,#0x36</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MOVS R1,R1,ROR #1</a:t>
            </a:r>
            <a:endParaRPr b="0" lang="en-IN" sz="2400" spc="-1" strike="noStrike">
              <a:solidFill>
                <a:srgbClr val="000000"/>
              </a:solidFill>
              <a:latin typeface="Arial"/>
            </a:endParaRPr>
          </a:p>
        </p:txBody>
      </p:sp>
      <p:sp>
        <p:nvSpPr>
          <p:cNvPr id="598" name="CustomShape 4"/>
          <p:cNvSpPr/>
          <p:nvPr/>
        </p:nvSpPr>
        <p:spPr>
          <a:xfrm>
            <a:off x="948240" y="4096800"/>
            <a:ext cx="609372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MOV R1,#0x36</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 R0,#3</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MOVS R1,R1,ROR R0</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TextShape 1"/>
          <p:cNvSpPr/>
          <p:nvPr/>
        </p:nvSpPr>
        <p:spPr>
          <a:xfrm>
            <a:off x="6810120" y="6179040"/>
            <a:ext cx="48895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600" name="CustomShape 2"/>
          <p:cNvSpPr/>
          <p:nvPr/>
        </p:nvSpPr>
        <p:spPr>
          <a:xfrm>
            <a:off x="1152000" y="528480"/>
            <a:ext cx="180108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400" spc="-1" strike="noStrike">
                <a:solidFill>
                  <a:srgbClr val="000000"/>
                </a:solidFill>
                <a:latin typeface="LiberationSerif-Bold"/>
                <a:ea typeface="DejaVu Sans"/>
              </a:rPr>
              <a:t>Rotate left</a:t>
            </a:r>
            <a:endParaRPr b="0" lang="en-IN" sz="2400" spc="-1" strike="noStrike">
              <a:solidFill>
                <a:srgbClr val="000000"/>
              </a:solidFill>
              <a:latin typeface="Arial"/>
            </a:endParaRPr>
          </a:p>
        </p:txBody>
      </p:sp>
      <p:sp>
        <p:nvSpPr>
          <p:cNvPr id="601" name="CustomShape 3"/>
          <p:cNvSpPr/>
          <p:nvPr/>
        </p:nvSpPr>
        <p:spPr>
          <a:xfrm>
            <a:off x="1342080" y="1471680"/>
            <a:ext cx="991512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There is no rotate left option in ARM since one can use the rotate right (ROR) to do the job. That means instead of rotating left n bits we can use rotate right 32–n bits to do the job of rotate left. Using this method does not give us the proper carry if actual instruction of ROL was available</a:t>
            </a:r>
            <a:endParaRPr b="0" lang="en-IN" sz="2400" spc="-1" strike="noStrike">
              <a:solidFill>
                <a:srgbClr val="000000"/>
              </a:solidFill>
              <a:latin typeface="Arial"/>
            </a:endParaRPr>
          </a:p>
        </p:txBody>
      </p:sp>
      <p:sp>
        <p:nvSpPr>
          <p:cNvPr id="602" name="CustomShape 4"/>
          <p:cNvSpPr/>
          <p:nvPr/>
        </p:nvSpPr>
        <p:spPr>
          <a:xfrm>
            <a:off x="1342080" y="3594600"/>
            <a:ext cx="971064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LDR R0,=0x00000072</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;R0 = 0000 0000 0000 0000 0000 0000 0111 0010</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MOVS R0,R0,ROR #31</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;R0 = 0000 0000 0000 0000 0000 0000 1110 0100 C=0</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TextShape 1"/>
          <p:cNvSpPr/>
          <p:nvPr/>
        </p:nvSpPr>
        <p:spPr>
          <a:xfrm>
            <a:off x="6987600" y="6379560"/>
            <a:ext cx="47667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604" name="CustomShape 2"/>
          <p:cNvSpPr/>
          <p:nvPr/>
        </p:nvSpPr>
        <p:spPr>
          <a:xfrm>
            <a:off x="718560" y="569520"/>
            <a:ext cx="484920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400" spc="-1" strike="noStrike">
                <a:solidFill>
                  <a:srgbClr val="000000"/>
                </a:solidFill>
                <a:latin typeface="LiberationSerif-Bold"/>
                <a:ea typeface="DejaVu Sans"/>
              </a:rPr>
              <a:t>RRX rotate right through carry</a:t>
            </a:r>
            <a:endParaRPr b="0" lang="en-IN" sz="2400" spc="-1" strike="noStrike">
              <a:solidFill>
                <a:srgbClr val="000000"/>
              </a:solidFill>
              <a:latin typeface="Arial"/>
            </a:endParaRPr>
          </a:p>
        </p:txBody>
      </p:sp>
      <p:pic>
        <p:nvPicPr>
          <p:cNvPr id="605" name="Picture 3" descr=""/>
          <p:cNvPicPr/>
          <p:nvPr/>
        </p:nvPicPr>
        <p:blipFill>
          <a:blip r:embed="rId1"/>
          <a:stretch/>
        </p:blipFill>
        <p:spPr>
          <a:xfrm>
            <a:off x="3541320" y="1337400"/>
            <a:ext cx="5029200" cy="1317240"/>
          </a:xfrm>
          <a:prstGeom prst="rect">
            <a:avLst/>
          </a:prstGeom>
          <a:ln w="0">
            <a:noFill/>
          </a:ln>
        </p:spPr>
      </p:pic>
      <p:sp>
        <p:nvSpPr>
          <p:cNvPr id="606" name="CustomShape 3"/>
          <p:cNvSpPr/>
          <p:nvPr/>
        </p:nvSpPr>
        <p:spPr>
          <a:xfrm>
            <a:off x="829080" y="2963160"/>
            <a:ext cx="10037880" cy="3381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400" spc="-1" strike="noStrike">
                <a:solidFill>
                  <a:srgbClr val="000000"/>
                </a:solidFill>
                <a:latin typeface="Times New Roman"/>
                <a:ea typeface="DejaVu Sans"/>
              </a:rPr>
              <a:t>In RRX the LSB is moved to C and C is moved to the MSB. In reality, C flag acts as if it is part of the operand. That means the RRX is like 33-bit register since the C flag is 33rd bit. The RRX takes no arguments and the number of times an operand to be rotated is fixed at one.</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;assume C=0</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MOV R2,#0x26</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;R2 = 0000 0000 0000 0000 0000 0000 0010 0110</a:t>
            </a:r>
            <a:endParaRPr b="0" lang="en-IN" sz="2400" spc="-1" strike="noStrike">
              <a:solidFill>
                <a:srgbClr val="000000"/>
              </a:solidFill>
              <a:latin typeface="Arial"/>
            </a:endParaRPr>
          </a:p>
          <a:p>
            <a:pPr algn="just">
              <a:lnSpc>
                <a:spcPct val="100000"/>
              </a:lnSpc>
            </a:pPr>
            <a:r>
              <a:rPr b="0" lang="en-US" sz="2400" spc="-1" strike="noStrike">
                <a:solidFill>
                  <a:srgbClr val="000000"/>
                </a:solidFill>
                <a:latin typeface="Times New Roman"/>
                <a:ea typeface="DejaVu Sans"/>
              </a:rPr>
              <a:t>MOVS R2,R2,RRX</a:t>
            </a:r>
            <a:endParaRPr b="0" lang="en-IN" sz="2400" spc="-1" strike="noStrike">
              <a:solidFill>
                <a:srgbClr val="000000"/>
              </a:solidFill>
              <a:latin typeface="Arial"/>
            </a:endParaRPr>
          </a:p>
          <a:p>
            <a:pPr algn="just">
              <a:lnSpc>
                <a:spcPct val="100000"/>
              </a:lnSpc>
            </a:pPr>
            <a:r>
              <a:rPr b="0" lang="pt-BR" sz="2400" spc="-1" strike="noStrike">
                <a:solidFill>
                  <a:srgbClr val="000000"/>
                </a:solidFill>
                <a:latin typeface="Times New Roman"/>
                <a:ea typeface="DejaVu Sans"/>
              </a:rPr>
              <a:t>;R2 = 0000 0000 0000 0000 0000 0000 0001 0011 C=0</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pic>
        <p:nvPicPr>
          <p:cNvPr id="608" name="Picture 2" descr=""/>
          <p:cNvPicPr/>
          <p:nvPr/>
        </p:nvPicPr>
        <p:blipFill>
          <a:blip r:embed="rId1"/>
          <a:stretch/>
        </p:blipFill>
        <p:spPr>
          <a:xfrm>
            <a:off x="878400" y="1091880"/>
            <a:ext cx="10433160" cy="1554120"/>
          </a:xfrm>
          <a:prstGeom prst="rect">
            <a:avLst/>
          </a:prstGeom>
          <a:ln w="0">
            <a:noFill/>
          </a:ln>
        </p:spPr>
      </p:pic>
      <p:sp>
        <p:nvSpPr>
          <p:cNvPr id="609" name="CustomShape 2"/>
          <p:cNvSpPr/>
          <p:nvPr/>
        </p:nvSpPr>
        <p:spPr>
          <a:xfrm>
            <a:off x="3582000" y="2793960"/>
            <a:ext cx="475308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pPr>
            <a:r>
              <a:rPr b="1" lang="en-US" sz="1800" spc="-1" strike="noStrike">
                <a:solidFill>
                  <a:srgbClr val="000000"/>
                </a:solidFill>
                <a:latin typeface="Calibri"/>
                <a:ea typeface="Calibri"/>
              </a:rPr>
              <a:t>Rotate operations for unsigned numbers in ARM</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TextShape 1"/>
          <p:cNvSpPr/>
          <p:nvPr/>
        </p:nvSpPr>
        <p:spPr>
          <a:xfrm>
            <a:off x="6714720" y="6233400"/>
            <a:ext cx="48621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611" name="CustomShape 2"/>
          <p:cNvSpPr/>
          <p:nvPr/>
        </p:nvSpPr>
        <p:spPr>
          <a:xfrm>
            <a:off x="781920" y="501120"/>
            <a:ext cx="5317200" cy="516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800" spc="-1" strike="noStrike">
                <a:solidFill>
                  <a:srgbClr val="000000"/>
                </a:solidFill>
                <a:latin typeface="LiberationSerif-Bold"/>
                <a:ea typeface="DejaVu Sans"/>
              </a:rPr>
              <a:t>Shift and Rotate Instructions</a:t>
            </a:r>
            <a:endParaRPr b="0" lang="en-IN" sz="2800" spc="-1" strike="noStrike">
              <a:solidFill>
                <a:srgbClr val="000000"/>
              </a:solidFill>
              <a:latin typeface="Arial"/>
            </a:endParaRPr>
          </a:p>
        </p:txBody>
      </p:sp>
      <p:sp>
        <p:nvSpPr>
          <p:cNvPr id="612" name="CustomShape 3"/>
          <p:cNvSpPr/>
          <p:nvPr/>
        </p:nvSpPr>
        <p:spPr>
          <a:xfrm>
            <a:off x="891720" y="1310040"/>
            <a:ext cx="996984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Calibri"/>
                <a:ea typeface="DejaVu Sans"/>
              </a:rPr>
              <a:t>In ARM Cortex M all the above shift and rotate instructions can be used as independent instructions</a:t>
            </a:r>
            <a:endParaRPr b="0" lang="en-IN" sz="2400" spc="-1" strike="noStrike">
              <a:solidFill>
                <a:srgbClr val="000000"/>
              </a:solidFill>
              <a:latin typeface="Arial"/>
            </a:endParaRPr>
          </a:p>
        </p:txBody>
      </p:sp>
      <p:sp>
        <p:nvSpPr>
          <p:cNvPr id="613" name="CustomShape 4"/>
          <p:cNvSpPr/>
          <p:nvPr/>
        </p:nvSpPr>
        <p:spPr>
          <a:xfrm>
            <a:off x="1159560" y="2427120"/>
            <a:ext cx="2239920" cy="1186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400" spc="-1" strike="noStrike">
                <a:solidFill>
                  <a:srgbClr val="000000"/>
                </a:solidFill>
                <a:latin typeface="Times New Roman"/>
                <a:ea typeface="DejaVu Sans"/>
              </a:rPr>
              <a:t>LSL Rd, Rm, Rn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Calibri"/>
                <a:ea typeface="DejaVu Sans"/>
              </a:rPr>
              <a:t>LSL R0,R2,#8</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Calibri"/>
                <a:ea typeface="DejaVu Sans"/>
              </a:rPr>
              <a:t>LSL R2,R0,R1</a:t>
            </a:r>
            <a:endParaRPr b="0" lang="en-IN" sz="2400" spc="-1" strike="noStrike">
              <a:solidFill>
                <a:srgbClr val="000000"/>
              </a:solidFill>
              <a:latin typeface="Arial"/>
            </a:endParaRPr>
          </a:p>
        </p:txBody>
      </p:sp>
      <p:sp>
        <p:nvSpPr>
          <p:cNvPr id="614" name="CustomShape 5"/>
          <p:cNvSpPr/>
          <p:nvPr/>
        </p:nvSpPr>
        <p:spPr>
          <a:xfrm>
            <a:off x="1177200" y="3818160"/>
            <a:ext cx="2421360" cy="1186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400" spc="-1" strike="noStrike">
                <a:solidFill>
                  <a:srgbClr val="000000"/>
                </a:solidFill>
                <a:latin typeface="Times New Roman"/>
                <a:ea typeface="DejaVu Sans"/>
              </a:rPr>
              <a:t>LSLS Rd, Rm, Rn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Calibri"/>
                <a:ea typeface="DejaVu Sans"/>
              </a:rPr>
              <a:t>LSLS R0,R2,#8</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Calibri"/>
                <a:ea typeface="DejaVu Sans"/>
              </a:rPr>
              <a:t>LSLS R2,R0,R1</a:t>
            </a:r>
            <a:endParaRPr b="0" lang="en-IN" sz="2400" spc="-1" strike="noStrike">
              <a:solidFill>
                <a:srgbClr val="000000"/>
              </a:solidFill>
              <a:latin typeface="Arial"/>
            </a:endParaRPr>
          </a:p>
        </p:txBody>
      </p:sp>
      <p:sp>
        <p:nvSpPr>
          <p:cNvPr id="615" name="CustomShape 6"/>
          <p:cNvSpPr/>
          <p:nvPr/>
        </p:nvSpPr>
        <p:spPr>
          <a:xfrm>
            <a:off x="4925880" y="2610360"/>
            <a:ext cx="39837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Similarly, LSR and ROR</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LSR Rd, Rm, Rn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LSRS Rd, Rm, Rn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ROR Rd, Rm, Rn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RORS Rd, Rm, Rn</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617" name="CustomShape 2"/>
          <p:cNvSpPr/>
          <p:nvPr/>
        </p:nvSpPr>
        <p:spPr>
          <a:xfrm>
            <a:off x="1150920" y="604080"/>
            <a:ext cx="1022904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RRX Rd,Rm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;Rd=rotate Rm right 1 bit position</a:t>
            </a:r>
            <a:endParaRPr b="0" lang="en-IN" sz="2400" spc="-1" strike="noStrike">
              <a:solidFill>
                <a:srgbClr val="000000"/>
              </a:solidFill>
              <a:latin typeface="Arial"/>
            </a:endParaRPr>
          </a:p>
          <a:p>
            <a:pPr>
              <a:lnSpc>
                <a:spcPct val="100000"/>
              </a:lnSpc>
            </a:pPr>
            <a:r>
              <a:rPr b="1" i="1" lang="en-US" sz="2400" spc="-1" strike="noStrike">
                <a:solidFill>
                  <a:srgbClr val="000000"/>
                </a:solidFill>
                <a:latin typeface="LiberationSerif-BoldItalic"/>
                <a:ea typeface="DejaVu Sans"/>
              </a:rPr>
              <a:t>Function: </a:t>
            </a:r>
            <a:r>
              <a:rPr b="0" lang="en-US" sz="2400" spc="-1" strike="noStrike">
                <a:solidFill>
                  <a:srgbClr val="000000"/>
                </a:solidFill>
                <a:latin typeface="Times New Roman"/>
                <a:ea typeface="DejaVu Sans"/>
              </a:rPr>
              <a:t>Each bit of Rm register is shifted from left to right one bit. The RRX does not update the flags.</a:t>
            </a:r>
            <a:endParaRPr b="0" lang="en-IN" sz="2400" spc="-1" strike="noStrike">
              <a:solidFill>
                <a:srgbClr val="000000"/>
              </a:solidFill>
              <a:latin typeface="Arial"/>
            </a:endParaRPr>
          </a:p>
        </p:txBody>
      </p:sp>
      <p:sp>
        <p:nvSpPr>
          <p:cNvPr id="618" name="CustomShape 3"/>
          <p:cNvSpPr/>
          <p:nvPr/>
        </p:nvSpPr>
        <p:spPr>
          <a:xfrm>
            <a:off x="1150920" y="2141640"/>
            <a:ext cx="9983520" cy="4113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000000"/>
                </a:solidFill>
                <a:latin typeface="Times New Roman"/>
                <a:ea typeface="DejaVu Sans"/>
              </a:rPr>
              <a:t>LDR R2,=0x00000002</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RRX R0,R2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;R0=R2 is shifted right one bit</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;now, R0=0x00000001</a:t>
            </a:r>
            <a:endParaRPr b="0" lang="en-IN" sz="2400" spc="-1" strike="noStrike">
              <a:solidFill>
                <a:srgbClr val="000000"/>
              </a:solidFill>
              <a:latin typeface="Arial"/>
            </a:endParaRPr>
          </a:p>
          <a:p>
            <a:pPr>
              <a:lnSpc>
                <a:spcPct val="100000"/>
              </a:lnSpc>
            </a:pPr>
            <a:r>
              <a:rPr b="1" lang="en-US" sz="2400" spc="-1" strike="noStrike">
                <a:solidFill>
                  <a:srgbClr val="000000"/>
                </a:solidFill>
                <a:latin typeface="LiberationSerif-Bold"/>
                <a:ea typeface="DejaVu Sans"/>
              </a:rPr>
              <a:t>RRXS Rotate Right with extend (update the flags)</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RRXS Rd,Rm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;Rd=rotate Rm right 1 bit position</a:t>
            </a:r>
            <a:endParaRPr b="0" lang="en-IN" sz="2400" spc="-1" strike="noStrike">
              <a:solidFill>
                <a:srgbClr val="000000"/>
              </a:solidFill>
              <a:latin typeface="Arial"/>
            </a:endParaRPr>
          </a:p>
          <a:p>
            <a:pPr>
              <a:lnSpc>
                <a:spcPct val="100000"/>
              </a:lnSpc>
            </a:pPr>
            <a:r>
              <a:rPr b="1" i="1" lang="en-US" sz="2400" spc="-1" strike="noStrike">
                <a:solidFill>
                  <a:srgbClr val="000000"/>
                </a:solidFill>
                <a:latin typeface="LiberationSerif-BoldItalic"/>
                <a:ea typeface="DejaVu Sans"/>
              </a:rPr>
              <a:t>Function: </a:t>
            </a:r>
            <a:r>
              <a:rPr b="0" lang="en-US" sz="2400" spc="-1" strike="noStrike">
                <a:solidFill>
                  <a:srgbClr val="000000"/>
                </a:solidFill>
                <a:latin typeface="Times New Roman"/>
                <a:ea typeface="DejaVu Sans"/>
              </a:rPr>
              <a:t>Each bit of Rm register is shifted from left to right one bit. The RRXS updates the flags.</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LDR R2,=0x00000002</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RRXS R0,R2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;R0=R2 is shifted right one bit</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;now, R0=0x00000001</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CustomShape 1"/>
          <p:cNvSpPr/>
          <p:nvPr/>
        </p:nvSpPr>
        <p:spPr>
          <a:xfrm>
            <a:off x="3048120" y="1166760"/>
            <a:ext cx="6093720" cy="447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ffffff"/>
                </a:solidFill>
                <a:latin typeface="Times New Roman"/>
                <a:ea typeface="DejaVu Sans"/>
              </a:rPr>
              <a:t>{cond} Suffix Tested Status Flags Description</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EQ </a:t>
            </a:r>
            <a:r>
              <a:rPr b="0" lang="en-US" sz="1800" spc="-1" strike="noStrike">
                <a:solidFill>
                  <a:srgbClr val="000000"/>
                </a:solidFill>
                <a:latin typeface="Times New Roman"/>
                <a:ea typeface="DejaVu Sans"/>
              </a:rPr>
              <a:t>Z set equal</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NE </a:t>
            </a:r>
            <a:r>
              <a:rPr b="0" lang="en-US" sz="1800" spc="-1" strike="noStrike">
                <a:solidFill>
                  <a:srgbClr val="000000"/>
                </a:solidFill>
                <a:latin typeface="Times New Roman"/>
                <a:ea typeface="DejaVu Sans"/>
              </a:rPr>
              <a:t>Z clear not equal</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CS/HS </a:t>
            </a:r>
            <a:r>
              <a:rPr b="0" lang="en-US" sz="1800" spc="-1" strike="noStrike">
                <a:solidFill>
                  <a:srgbClr val="000000"/>
                </a:solidFill>
                <a:latin typeface="Times New Roman"/>
                <a:ea typeface="DejaVu Sans"/>
              </a:rPr>
              <a:t>C set unsigned higher or same</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CC/LO </a:t>
            </a:r>
            <a:r>
              <a:rPr b="0" lang="en-US" sz="1800" spc="-1" strike="noStrike">
                <a:solidFill>
                  <a:srgbClr val="000000"/>
                </a:solidFill>
                <a:latin typeface="Times New Roman"/>
                <a:ea typeface="DejaVu Sans"/>
              </a:rPr>
              <a:t>C clear unsigned lower</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MI </a:t>
            </a:r>
            <a:r>
              <a:rPr b="0" lang="en-US" sz="1800" spc="-1" strike="noStrike">
                <a:solidFill>
                  <a:srgbClr val="000000"/>
                </a:solidFill>
                <a:latin typeface="Times New Roman"/>
                <a:ea typeface="DejaVu Sans"/>
              </a:rPr>
              <a:t>N set negative</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PL </a:t>
            </a:r>
            <a:r>
              <a:rPr b="0" lang="en-US" sz="1800" spc="-1" strike="noStrike">
                <a:solidFill>
                  <a:srgbClr val="000000"/>
                </a:solidFill>
                <a:latin typeface="Times New Roman"/>
                <a:ea typeface="DejaVu Sans"/>
              </a:rPr>
              <a:t>N clear positive or zero</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VS </a:t>
            </a:r>
            <a:r>
              <a:rPr b="0" lang="en-US" sz="1800" spc="-1" strike="noStrike">
                <a:solidFill>
                  <a:srgbClr val="000000"/>
                </a:solidFill>
                <a:latin typeface="Times New Roman"/>
                <a:ea typeface="DejaVu Sans"/>
              </a:rPr>
              <a:t>V set overflow</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VC </a:t>
            </a:r>
            <a:r>
              <a:rPr b="0" lang="en-US" sz="1800" spc="-1" strike="noStrike">
                <a:solidFill>
                  <a:srgbClr val="000000"/>
                </a:solidFill>
                <a:latin typeface="Times New Roman"/>
                <a:ea typeface="DejaVu Sans"/>
              </a:rPr>
              <a:t>V clear no overflow</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HI </a:t>
            </a:r>
            <a:r>
              <a:rPr b="0" lang="en-US" sz="1800" spc="-1" strike="noStrike">
                <a:solidFill>
                  <a:srgbClr val="000000"/>
                </a:solidFill>
                <a:latin typeface="Times New Roman"/>
                <a:ea typeface="DejaVu Sans"/>
              </a:rPr>
              <a:t>C set and Z clear unsigned higher</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LS </a:t>
            </a:r>
            <a:r>
              <a:rPr b="0" lang="en-US" sz="1800" spc="-1" strike="noStrike">
                <a:solidFill>
                  <a:srgbClr val="000000"/>
                </a:solidFill>
                <a:latin typeface="Times New Roman"/>
                <a:ea typeface="DejaVu Sans"/>
              </a:rPr>
              <a:t>C clear or Z set unsigned lower or same</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GE </a:t>
            </a:r>
            <a:r>
              <a:rPr b="0" lang="en-US" sz="1800" spc="-1" strike="noStrike">
                <a:solidFill>
                  <a:srgbClr val="000000"/>
                </a:solidFill>
                <a:latin typeface="Times New Roman"/>
                <a:ea typeface="DejaVu Sans"/>
              </a:rPr>
              <a:t>N equals V signed greater or equal</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LT </a:t>
            </a:r>
            <a:r>
              <a:rPr b="0" lang="en-US" sz="1800" spc="-1" strike="noStrike">
                <a:solidFill>
                  <a:srgbClr val="000000"/>
                </a:solidFill>
                <a:latin typeface="Times New Roman"/>
                <a:ea typeface="DejaVu Sans"/>
              </a:rPr>
              <a:t>N not equal to V signed less than</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GT </a:t>
            </a:r>
            <a:r>
              <a:rPr b="0" lang="en-US" sz="1800" spc="-1" strike="noStrike">
                <a:solidFill>
                  <a:srgbClr val="000000"/>
                </a:solidFill>
                <a:latin typeface="Times New Roman"/>
                <a:ea typeface="DejaVu Sans"/>
              </a:rPr>
              <a:t>Z clear AND (N equals V) signed greater than</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LE </a:t>
            </a:r>
            <a:r>
              <a:rPr b="0" lang="en-US" sz="1800" spc="-1" strike="noStrike">
                <a:solidFill>
                  <a:srgbClr val="000000"/>
                </a:solidFill>
                <a:latin typeface="Times New Roman"/>
                <a:ea typeface="DejaVu Sans"/>
              </a:rPr>
              <a:t>Z set OR (N not equal to V) signed less than or equal</a:t>
            </a:r>
            <a:endParaRPr b="0" lang="en-IN" sz="1800" spc="-1" strike="noStrike">
              <a:solidFill>
                <a:srgbClr val="000000"/>
              </a:solidFill>
              <a:latin typeface="Arial"/>
            </a:endParaRPr>
          </a:p>
          <a:p>
            <a:pPr>
              <a:lnSpc>
                <a:spcPct val="100000"/>
              </a:lnSpc>
            </a:pPr>
            <a:r>
              <a:rPr b="1" lang="en-US" sz="1800" spc="-1" strike="noStrike">
                <a:solidFill>
                  <a:srgbClr val="000000"/>
                </a:solidFill>
                <a:latin typeface="Times New Roman"/>
                <a:ea typeface="DejaVu Sans"/>
              </a:rPr>
              <a:t>AL </a:t>
            </a:r>
            <a:r>
              <a:rPr b="0" lang="en-US" sz="1800" spc="-1" strike="noStrike">
                <a:solidFill>
                  <a:srgbClr val="000000"/>
                </a:solidFill>
                <a:latin typeface="Times New Roman"/>
                <a:ea typeface="DejaVu Sans"/>
              </a:rPr>
              <a:t>(ignored) always (usually omitted)</a:t>
            </a:r>
            <a:endParaRPr b="0" lang="en-IN" sz="1800" spc="-1" strike="noStrike">
              <a:solidFill>
                <a:srgbClr val="000000"/>
              </a:solidFill>
              <a:latin typeface="Arial"/>
            </a:endParaRPr>
          </a:p>
        </p:txBody>
      </p:sp>
      <p:sp>
        <p:nvSpPr>
          <p:cNvPr id="620" name="TextShape 2"/>
          <p:cNvSpPr/>
          <p:nvPr/>
        </p:nvSpPr>
        <p:spPr>
          <a:xfrm>
            <a:off x="6837480" y="6301800"/>
            <a:ext cx="48211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1" name="Picture 2" descr=""/>
          <p:cNvPicPr/>
          <p:nvPr/>
        </p:nvPicPr>
        <p:blipFill>
          <a:blip r:embed="rId1"/>
          <a:stretch/>
        </p:blipFill>
        <p:spPr>
          <a:xfrm>
            <a:off x="3150720" y="350640"/>
            <a:ext cx="6676920" cy="4162320"/>
          </a:xfrm>
          <a:prstGeom prst="rect">
            <a:avLst/>
          </a:prstGeom>
          <a:ln w="0">
            <a:noFill/>
          </a:ln>
        </p:spPr>
      </p:pic>
      <p:sp>
        <p:nvSpPr>
          <p:cNvPr id="622" name="CustomShape 1"/>
          <p:cNvSpPr/>
          <p:nvPr/>
        </p:nvSpPr>
        <p:spPr>
          <a:xfrm>
            <a:off x="3688920" y="5049720"/>
            <a:ext cx="464796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Aft>
                <a:spcPts val="1001"/>
              </a:spcAft>
              <a:tabLst>
                <a:tab algn="l" pos="0"/>
              </a:tabLst>
            </a:pPr>
            <a:r>
              <a:rPr b="1" lang="en-US" sz="1800" spc="-1" strike="noStrike">
                <a:solidFill>
                  <a:srgbClr val="5b9bd5"/>
                </a:solidFill>
                <a:latin typeface="Calibri"/>
                <a:ea typeface="Calibri"/>
              </a:rPr>
              <a:t>ARM Branch (Jump) Instructions Using Flag Bits</a:t>
            </a:r>
            <a:endParaRPr b="0" lang="en-IN" sz="1800" spc="-1" strike="noStrike">
              <a:solidFill>
                <a:srgbClr val="000000"/>
              </a:solidFill>
              <a:latin typeface="Arial"/>
            </a:endParaRPr>
          </a:p>
        </p:txBody>
      </p:sp>
      <p:sp>
        <p:nvSpPr>
          <p:cNvPr id="623" name="TextShape 2"/>
          <p:cNvSpPr/>
          <p:nvPr/>
        </p:nvSpPr>
        <p:spPr>
          <a:xfrm>
            <a:off x="6905880" y="6301800"/>
            <a:ext cx="479376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TextShape 1"/>
          <p:cNvSpPr/>
          <p:nvPr/>
        </p:nvSpPr>
        <p:spPr>
          <a:xfrm>
            <a:off x="4038480" y="6356520"/>
            <a:ext cx="411264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625" name="CustomShape 2"/>
          <p:cNvSpPr/>
          <p:nvPr/>
        </p:nvSpPr>
        <p:spPr>
          <a:xfrm>
            <a:off x="1155240" y="1982520"/>
            <a:ext cx="10083600" cy="3381480"/>
          </a:xfrm>
          <a:prstGeom prst="rect">
            <a:avLst/>
          </a:prstGeom>
          <a:noFill/>
          <a:ln w="0">
            <a:noFill/>
          </a:ln>
        </p:spPr>
        <p:style>
          <a:lnRef idx="0"/>
          <a:fillRef idx="0"/>
          <a:effectRef idx="0"/>
          <a:fontRef idx="minor"/>
        </p:style>
        <p:txBody>
          <a:bodyPr lIns="90000" rIns="90000" tIns="45000" bIns="45000" anchor="t">
            <a:spAutoFit/>
          </a:bodyPr>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If we do not add a condition after an instruction, it will be executed unconditionally because the default is not to check the flags and execute unconditionally.</a:t>
            </a: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If we want an i</a:t>
            </a:r>
            <a:r>
              <a:rPr b="0" lang="en-US" sz="2400" spc="-1" strike="noStrike">
                <a:solidFill>
                  <a:srgbClr val="c9211e"/>
                </a:solidFill>
                <a:latin typeface="Times New Roman"/>
                <a:ea typeface="DejaVu Sans"/>
              </a:rPr>
              <a:t>nstruction to be executed only when a condition is met</a:t>
            </a:r>
            <a:r>
              <a:rPr b="0" lang="en-US" sz="2400" spc="-1" strike="noStrike">
                <a:solidFill>
                  <a:srgbClr val="000000"/>
                </a:solidFill>
                <a:latin typeface="Times New Roman"/>
                <a:ea typeface="DejaVu Sans"/>
              </a:rPr>
              <a:t>, we put the condition syntax right after the instruction.</a:t>
            </a: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This feature of ARM allows the execution of an instruction conditionally based on the status of </a:t>
            </a:r>
            <a:r>
              <a:rPr b="0" lang="en-US" sz="2400" spc="-1" strike="noStrike">
                <a:solidFill>
                  <a:srgbClr val="c9211e"/>
                </a:solidFill>
                <a:latin typeface="Times New Roman"/>
                <a:ea typeface="DejaVu Sans"/>
              </a:rPr>
              <a:t>Z, C, V and N flags.</a:t>
            </a:r>
            <a:r>
              <a:rPr b="0" lang="en-US" sz="2400" spc="-1" strike="noStrike">
                <a:solidFill>
                  <a:srgbClr val="000000"/>
                </a:solidFill>
                <a:latin typeface="Times New Roman"/>
                <a:ea typeface="DejaVu Sans"/>
              </a:rPr>
              <a:t> To do that, the ARM instructions have set aside the </a:t>
            </a:r>
            <a:r>
              <a:rPr b="0" lang="en-US" sz="2400" spc="-1" strike="noStrike">
                <a:solidFill>
                  <a:srgbClr val="c9211e"/>
                </a:solidFill>
                <a:latin typeface="Times New Roman"/>
                <a:ea typeface="DejaVu Sans"/>
              </a:rPr>
              <a:t>most significant 4 bits of the instruction field</a:t>
            </a:r>
            <a:r>
              <a:rPr b="0" lang="en-US" sz="2400" spc="-1" strike="noStrike">
                <a:solidFill>
                  <a:srgbClr val="000000"/>
                </a:solidFill>
                <a:latin typeface="Times New Roman"/>
                <a:ea typeface="DejaVu Sans"/>
              </a:rPr>
              <a:t> for the conditions.  The 4 bits gives us 16 possible conditions.  </a:t>
            </a:r>
            <a:endParaRPr b="0" lang="en-IN" sz="2400" spc="-1" strike="noStrike">
              <a:solidFill>
                <a:srgbClr val="000000"/>
              </a:solidFill>
              <a:latin typeface="Arial"/>
            </a:endParaRPr>
          </a:p>
        </p:txBody>
      </p:sp>
      <p:sp>
        <p:nvSpPr>
          <p:cNvPr id="626" name="CustomShape 3"/>
          <p:cNvSpPr/>
          <p:nvPr/>
        </p:nvSpPr>
        <p:spPr>
          <a:xfrm>
            <a:off x="909720" y="501480"/>
            <a:ext cx="4058280" cy="516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800" spc="-1" strike="noStrike">
                <a:solidFill>
                  <a:srgbClr val="c9211e"/>
                </a:solidFill>
                <a:latin typeface="LiberationSerif-Bold"/>
                <a:ea typeface="DejaVu Sans"/>
              </a:rPr>
              <a:t>Conditional Execution</a:t>
            </a:r>
            <a:endParaRPr b="0" lang="en-IN" sz="2800" spc="-1" strike="noStrike">
              <a:solidFill>
                <a:srgbClr val="c9211e"/>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7" name="" descr=""/>
          <p:cNvPicPr/>
          <p:nvPr/>
        </p:nvPicPr>
        <p:blipFill>
          <a:blip r:embed="rId1"/>
          <a:stretch/>
        </p:blipFill>
        <p:spPr>
          <a:xfrm>
            <a:off x="1440000" y="1800000"/>
            <a:ext cx="9540000" cy="2520000"/>
          </a:xfrm>
          <a:prstGeom prst="rect">
            <a:avLst/>
          </a:prstGeom>
          <a:ln w="0">
            <a:noFill/>
          </a:ln>
        </p:spPr>
      </p:pic>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8" name="" descr=""/>
          <p:cNvPicPr/>
          <p:nvPr/>
        </p:nvPicPr>
        <p:blipFill>
          <a:blip r:embed="rId1"/>
          <a:stretch/>
        </p:blipFill>
        <p:spPr>
          <a:xfrm>
            <a:off x="2880000" y="445320"/>
            <a:ext cx="6075720" cy="3334680"/>
          </a:xfrm>
          <a:prstGeom prst="rect">
            <a:avLst/>
          </a:prstGeom>
          <a:ln w="0">
            <a:noFill/>
          </a:ln>
        </p:spPr>
      </p:pic>
      <p:pic>
        <p:nvPicPr>
          <p:cNvPr id="629" name="" descr=""/>
          <p:cNvPicPr/>
          <p:nvPr/>
        </p:nvPicPr>
        <p:blipFill>
          <a:blip r:embed="rId2"/>
          <a:stretch/>
        </p:blipFill>
        <p:spPr>
          <a:xfrm>
            <a:off x="3003840" y="3807360"/>
            <a:ext cx="5951880" cy="2132640"/>
          </a:xfrm>
          <a:prstGeom prst="rect">
            <a:avLst/>
          </a:prstGeom>
          <a:ln w="0">
            <a:noFill/>
          </a:ln>
        </p:spPr>
      </p:pic>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TextShape 1"/>
          <p:cNvSpPr/>
          <p:nvPr/>
        </p:nvSpPr>
        <p:spPr>
          <a:xfrm>
            <a:off x="6714720" y="6288120"/>
            <a:ext cx="46846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631" name="CustomShape 2"/>
          <p:cNvSpPr/>
          <p:nvPr/>
        </p:nvSpPr>
        <p:spPr>
          <a:xfrm>
            <a:off x="643680" y="548640"/>
            <a:ext cx="10902240" cy="4113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c9211e"/>
                </a:solidFill>
                <a:latin typeface="Times New Roman"/>
                <a:ea typeface="DejaVu Sans"/>
              </a:rPr>
              <a:t>To make an instruction conditional, simply we put the condition syntax in front of it.  </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MOV R1,#10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;R1 = 10</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MOV R2,#12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;R2 = 12</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CMP R2,R1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;compare 12 with 10, Z = 0 because they are not equal</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MOVEQ R4,#20 ;this line is not executed because the condition EQ is not met</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TextShape 5"/>
          <p:cNvSpPr/>
          <p:nvPr/>
        </p:nvSpPr>
        <p:spPr>
          <a:xfrm>
            <a:off x="6714720" y="6288120"/>
            <a:ext cx="46846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
        <p:nvSpPr>
          <p:cNvPr id="633" name="CustomShape 7"/>
          <p:cNvSpPr/>
          <p:nvPr/>
        </p:nvSpPr>
        <p:spPr>
          <a:xfrm>
            <a:off x="643680" y="548640"/>
            <a:ext cx="10902240" cy="6307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IN" sz="2400" spc="-1" strike="noStrike">
                <a:solidFill>
                  <a:srgbClr val="000000"/>
                </a:solidFill>
                <a:latin typeface="Arial"/>
                <a:ea typeface="DejaVu Sans"/>
              </a:rPr>
              <a:t>The following code adds 10 to R1 if it is not zero:</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CMP R1,#0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;compare R1 with 0</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ADDNE R1,R1,#10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;this line is executed if Z = 0 (if in the last CMP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;operands were not equal)</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Note that we can add both S and condition to syntax of an instruction. It is common to put S after the condition. See the following examples:</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ADDNES R1,R1,#10</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;this line is executed and set the flags if Z = 0</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One advantage of using conditional execution is it saves time in the execution of an</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instruction by avoiding branch penalty.</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CustomShape 1"/>
          <p:cNvSpPr/>
          <p:nvPr/>
        </p:nvSpPr>
        <p:spPr>
          <a:xfrm>
            <a:off x="4231440" y="705960"/>
            <a:ext cx="31543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1800" spc="-1" strike="noStrike">
                <a:solidFill>
                  <a:srgbClr val="000000"/>
                </a:solidFill>
                <a:latin typeface="LiberationSerif-Bold"/>
                <a:ea typeface="DejaVu Sans"/>
              </a:rPr>
              <a:t>BCD and ASCII Conversion</a:t>
            </a:r>
            <a:endParaRPr b="0" lang="en-IN" sz="1800" spc="-1" strike="noStrike">
              <a:solidFill>
                <a:srgbClr val="000000"/>
              </a:solidFill>
              <a:latin typeface="Arial"/>
            </a:endParaRPr>
          </a:p>
        </p:txBody>
      </p:sp>
      <p:sp>
        <p:nvSpPr>
          <p:cNvPr id="635" name="CustomShape 2"/>
          <p:cNvSpPr/>
          <p:nvPr/>
        </p:nvSpPr>
        <p:spPr>
          <a:xfrm>
            <a:off x="1383120" y="1606680"/>
            <a:ext cx="1927800" cy="1461240"/>
          </a:xfrm>
          <a:prstGeom prst="rect">
            <a:avLst/>
          </a:prstGeom>
          <a:noFill/>
          <a:ln w="0">
            <a:noFill/>
          </a:ln>
        </p:spPr>
        <p:style>
          <a:lnRef idx="0"/>
          <a:fillRef idx="0"/>
          <a:effectRef idx="0"/>
          <a:fontRef idx="minor"/>
        </p:style>
        <p:txBody>
          <a:bodyPr wrap="none" lIns="90000" rIns="90000" tIns="45000" bIns="45000" anchor="t">
            <a:spAutoFit/>
          </a:bodyPr>
          <a:p>
            <a:pPr marL="343080" indent="-342720">
              <a:lnSpc>
                <a:spcPct val="100000"/>
              </a:lnSpc>
              <a:buClr>
                <a:srgbClr val="000000"/>
              </a:buClr>
              <a:buFont typeface="StarSymbol"/>
              <a:buAutoNum type="arabicParenR"/>
            </a:pPr>
            <a:r>
              <a:rPr b="0" lang="en-US" sz="1800" spc="-1" strike="noStrike">
                <a:solidFill>
                  <a:srgbClr val="000000"/>
                </a:solidFill>
                <a:latin typeface="Times New Roman"/>
                <a:ea typeface="DejaVu Sans"/>
              </a:rPr>
              <a:t>unpacked BCD</a:t>
            </a:r>
            <a:endParaRPr b="0" lang="en-IN" sz="1800" spc="-1" strike="noStrike">
              <a:solidFill>
                <a:srgbClr val="000000"/>
              </a:solidFill>
              <a:latin typeface="Arial"/>
            </a:endParaRPr>
          </a:p>
          <a:p>
            <a:pPr>
              <a:lnSpc>
                <a:spcPct val="100000"/>
              </a:lnSpc>
            </a:pPr>
            <a:r>
              <a:rPr b="0" lang="en-US" sz="1800" spc="-1" strike="noStrike">
                <a:solidFill>
                  <a:srgbClr val="000000"/>
                </a:solidFill>
                <a:latin typeface="Times New Roman"/>
                <a:ea typeface="DejaVu Sans"/>
              </a:rPr>
              <a:t> </a:t>
            </a:r>
            <a:endParaRPr b="0" lang="en-IN" sz="1800" spc="-1" strike="noStrike">
              <a:solidFill>
                <a:srgbClr val="000000"/>
              </a:solidFill>
              <a:latin typeface="Arial"/>
            </a:endParaRPr>
          </a:p>
          <a:p>
            <a:pPr>
              <a:lnSpc>
                <a:spcPct val="100000"/>
              </a:lnSpc>
            </a:pPr>
            <a:r>
              <a:rPr b="0" lang="en-US" sz="1800" spc="-1" strike="noStrike">
                <a:solidFill>
                  <a:srgbClr val="000000"/>
                </a:solidFill>
                <a:latin typeface="Times New Roman"/>
                <a:ea typeface="DejaVu Sans"/>
              </a:rPr>
              <a:t>(2) packed BCD.</a:t>
            </a:r>
            <a:endParaRPr b="0" lang="en-IN" sz="1800" spc="-1" strike="noStrike">
              <a:solidFill>
                <a:srgbClr val="000000"/>
              </a:solidFill>
              <a:latin typeface="Arial"/>
            </a:endParaRPr>
          </a:p>
          <a:p>
            <a:pPr>
              <a:lnSpc>
                <a:spcPct val="100000"/>
              </a:lnSpc>
            </a:pPr>
            <a:endParaRPr b="0" lang="en-IN" sz="1800" spc="-1" strike="noStrike">
              <a:solidFill>
                <a:srgbClr val="000000"/>
              </a:solidFill>
              <a:latin typeface="Arial"/>
            </a:endParaRPr>
          </a:p>
          <a:p>
            <a:pPr>
              <a:lnSpc>
                <a:spcPct val="100000"/>
              </a:lnSpc>
            </a:pPr>
            <a:r>
              <a:rPr b="0" lang="en-US" sz="1800" spc="-1" strike="noStrike">
                <a:solidFill>
                  <a:srgbClr val="000000"/>
                </a:solidFill>
                <a:latin typeface="Times New Roman"/>
                <a:ea typeface="DejaVu Sans"/>
              </a:rPr>
              <a:t>(3) </a:t>
            </a:r>
            <a:r>
              <a:rPr b="0" lang="en-US" sz="1800" spc="-1" strike="noStrike">
                <a:solidFill>
                  <a:srgbClr val="000000"/>
                </a:solidFill>
                <a:latin typeface="Calibri"/>
                <a:ea typeface="DejaVu Sans"/>
              </a:rPr>
              <a:t>ASCII numbers</a:t>
            </a:r>
            <a:endParaRPr b="0" lang="en-IN" sz="1800" spc="-1" strike="noStrike">
              <a:solidFill>
                <a:srgbClr val="000000"/>
              </a:solidFill>
              <a:latin typeface="Arial"/>
            </a:endParaRPr>
          </a:p>
        </p:txBody>
      </p:sp>
      <p:sp>
        <p:nvSpPr>
          <p:cNvPr id="636" name="TextShape 3"/>
          <p:cNvSpPr/>
          <p:nvPr/>
        </p:nvSpPr>
        <p:spPr>
          <a:xfrm>
            <a:off x="7083360" y="6301800"/>
            <a:ext cx="48895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CustomShape 1"/>
          <p:cNvSpPr/>
          <p:nvPr/>
        </p:nvSpPr>
        <p:spPr>
          <a:xfrm>
            <a:off x="981360" y="473760"/>
            <a:ext cx="385236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3200" spc="-1" strike="noStrike">
                <a:solidFill>
                  <a:srgbClr val="000000"/>
                </a:solidFill>
                <a:latin typeface="Times New Roman"/>
                <a:ea typeface="DejaVu Sans"/>
              </a:rPr>
              <a:t>BL (branch and link)</a:t>
            </a:r>
            <a:endParaRPr b="0" lang="en-IN" sz="3200" spc="-1" strike="noStrike">
              <a:solidFill>
                <a:srgbClr val="000000"/>
              </a:solidFill>
              <a:latin typeface="Arial"/>
            </a:endParaRPr>
          </a:p>
        </p:txBody>
      </p:sp>
      <p:sp>
        <p:nvSpPr>
          <p:cNvPr id="638" name="CustomShape 2"/>
          <p:cNvSpPr/>
          <p:nvPr/>
        </p:nvSpPr>
        <p:spPr>
          <a:xfrm>
            <a:off x="731160" y="1463400"/>
            <a:ext cx="10078920" cy="4478760"/>
          </a:xfrm>
          <a:prstGeom prst="rect">
            <a:avLst/>
          </a:prstGeom>
          <a:noFill/>
          <a:ln w="0">
            <a:noFill/>
          </a:ln>
        </p:spPr>
        <p:style>
          <a:lnRef idx="0"/>
          <a:fillRef idx="0"/>
          <a:effectRef idx="0"/>
          <a:fontRef idx="minor"/>
        </p:style>
        <p:txBody>
          <a:bodyPr lIns="90000" rIns="90000" tIns="45000" bIns="45000" anchor="t">
            <a:spAutoFit/>
          </a:bodyPr>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Subroutines are often used to perform tasks that need to be performed frequently.  </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In the ARM there is only one instruction for call and that is BL (branch and link). </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To use BL instruction for call, we must leave the R14 register unused since that is where the ARM CPU stores the address of the next instruction where it returns to resume executing the program.</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ARM automatically saves in the link register (LR), the R14, the address of the instruction immediately below the BL. </a:t>
            </a:r>
            <a:endParaRPr b="0" lang="en-IN" sz="2400" spc="-1" strike="noStrike">
              <a:solidFill>
                <a:srgbClr val="000000"/>
              </a:solidFill>
              <a:latin typeface="Arial"/>
            </a:endParaRPr>
          </a:p>
        </p:txBody>
      </p:sp>
      <p:sp>
        <p:nvSpPr>
          <p:cNvPr id="639" name="TextShape 3"/>
          <p:cNvSpPr/>
          <p:nvPr/>
        </p:nvSpPr>
        <p:spPr>
          <a:xfrm>
            <a:off x="6742080" y="6210360"/>
            <a:ext cx="49438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CustomShape 1"/>
          <p:cNvSpPr/>
          <p:nvPr/>
        </p:nvSpPr>
        <p:spPr>
          <a:xfrm>
            <a:off x="1009800" y="1410840"/>
            <a:ext cx="10315440" cy="3502440"/>
          </a:xfrm>
          <a:prstGeom prst="rect">
            <a:avLst/>
          </a:prstGeom>
          <a:noFill/>
          <a:ln w="0">
            <a:noFill/>
          </a:ln>
        </p:spPr>
        <p:style>
          <a:lnRef idx="0"/>
          <a:fillRef idx="0"/>
          <a:effectRef idx="0"/>
          <a:fontRef idx="minor"/>
        </p:style>
        <p:txBody>
          <a:bodyPr lIns="90000" rIns="90000" tIns="45000" bIns="45000" anchor="t">
            <a:spAutoFit/>
          </a:bodyPr>
          <a:p>
            <a:pPr marL="343080" indent="-342720" algn="just">
              <a:lnSpc>
                <a:spcPct val="100000"/>
              </a:lnSpc>
              <a:buClr>
                <a:srgbClr val="000000"/>
              </a:buClr>
              <a:buFont typeface="Arial"/>
              <a:buChar char="•"/>
            </a:pPr>
            <a:r>
              <a:rPr b="0" lang="en-US" sz="2800" spc="-1" strike="noStrike">
                <a:solidFill>
                  <a:srgbClr val="000000"/>
                </a:solidFill>
                <a:latin typeface="Calibri"/>
                <a:ea typeface="DejaVu Sans"/>
              </a:rPr>
              <a:t>When a subroutine is called by the BL instruction, control is transferred to that subroutine, and the processor saves the PC (program counter) in the R14 register and begins to fetch instructions from the new location. </a:t>
            </a:r>
            <a:endParaRPr b="0" lang="en-IN" sz="2800" spc="-1" strike="noStrike">
              <a:solidFill>
                <a:srgbClr val="000000"/>
              </a:solidFill>
              <a:latin typeface="Arial"/>
            </a:endParaRPr>
          </a:p>
          <a:p>
            <a:pPr algn="just">
              <a:lnSpc>
                <a:spcPct val="100000"/>
              </a:lnSpc>
            </a:pPr>
            <a:endParaRPr b="0" lang="en-IN" sz="2800" spc="-1" strike="noStrike">
              <a:solidFill>
                <a:srgbClr val="000000"/>
              </a:solidFill>
              <a:latin typeface="Arial"/>
            </a:endParaRPr>
          </a:p>
          <a:p>
            <a:pPr marL="343080" indent="-342720" algn="just">
              <a:lnSpc>
                <a:spcPct val="100000"/>
              </a:lnSpc>
              <a:buClr>
                <a:srgbClr val="000000"/>
              </a:buClr>
              <a:buFont typeface="Arial"/>
              <a:buChar char="•"/>
            </a:pPr>
            <a:r>
              <a:rPr b="0" lang="en-US" sz="2800" spc="-1" strike="noStrike">
                <a:solidFill>
                  <a:srgbClr val="000000"/>
                </a:solidFill>
                <a:latin typeface="Calibri"/>
                <a:ea typeface="DejaVu Sans"/>
              </a:rPr>
              <a:t>After finishing execution of the subroutine, we must use “BX LR“ instruction to transfer control back to the caller. Every subroutine needs “BX LR” as the last instruction for return address.</a:t>
            </a:r>
            <a:endParaRPr b="0" lang="en-IN" sz="2800" spc="-1" strike="noStrike">
              <a:solidFill>
                <a:srgbClr val="000000"/>
              </a:solidFill>
              <a:latin typeface="Arial"/>
            </a:endParaRPr>
          </a:p>
        </p:txBody>
      </p:sp>
      <p:sp>
        <p:nvSpPr>
          <p:cNvPr id="641" name="TextShape 2"/>
          <p:cNvSpPr/>
          <p:nvPr/>
        </p:nvSpPr>
        <p:spPr>
          <a:xfrm>
            <a:off x="6632640" y="6165360"/>
            <a:ext cx="46926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CustomShape 1"/>
          <p:cNvSpPr/>
          <p:nvPr/>
        </p:nvSpPr>
        <p:spPr>
          <a:xfrm>
            <a:off x="969120" y="1235160"/>
            <a:ext cx="10165320" cy="44787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LiberationSerif-Bold"/>
                <a:ea typeface="DejaVu Sans"/>
              </a:rPr>
              <a:t>Branching beyond 32M byte limit</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To branch beyond the address space of 32M bytes, we use BX (branch and exchange) instruction. </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The “BX Rn” instruction uses register Rn to hold target address. Since Rn can be any of the R0–R14 registers and they are 32-bit registers, the “BX Rn” instruction can land anywhere in the 4G bytes address space of the ARM. </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In the instruction “BX R2” the R2 is loaded into the program counter (R15) and CPU starts to fetch instructions from the target address pointed to by R15, the program counter.  </a:t>
            </a:r>
            <a:endParaRPr b="0" lang="en-IN" sz="2400" spc="-1" strike="noStrike">
              <a:solidFill>
                <a:srgbClr val="000000"/>
              </a:solidFill>
              <a:latin typeface="Arial"/>
            </a:endParaRPr>
          </a:p>
        </p:txBody>
      </p:sp>
      <p:sp>
        <p:nvSpPr>
          <p:cNvPr id="643" name="TextShape 2"/>
          <p:cNvSpPr/>
          <p:nvPr/>
        </p:nvSpPr>
        <p:spPr>
          <a:xfrm>
            <a:off x="6987600" y="6260760"/>
            <a:ext cx="49302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CustomShape 1"/>
          <p:cNvSpPr/>
          <p:nvPr/>
        </p:nvSpPr>
        <p:spPr>
          <a:xfrm>
            <a:off x="819000" y="556560"/>
            <a:ext cx="9810720" cy="5576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LiberationSerif-Bold"/>
                <a:ea typeface="DejaVu Sans"/>
              </a:rPr>
              <a:t>TST (Test)</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TST Rn,Op2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;Rn AND with Op2 and flag bits are updated</a:t>
            </a:r>
            <a:endParaRPr b="0" lang="en-IN" sz="2400" spc="-1" strike="noStrike">
              <a:solidFill>
                <a:srgbClr val="000000"/>
              </a:solidFill>
              <a:latin typeface="Arial"/>
            </a:endParaRPr>
          </a:p>
          <a:p>
            <a:pPr>
              <a:lnSpc>
                <a:spcPct val="100000"/>
              </a:lnSpc>
            </a:pP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The TST instruction is used to test the contents of register to see if any bit is set to HIGH.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After the operands are ANDed together the flags are updated.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After the TST instruction if result is zero, then Z flag is raised and one can use BEQ (branch equal) to make decision.  </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example:</a:t>
            </a:r>
            <a:endParaRPr b="0" lang="en-IN" sz="2400" spc="-1" strike="noStrike">
              <a:solidFill>
                <a:srgbClr val="000000"/>
              </a:solidFill>
              <a:latin typeface="Arial"/>
            </a:endParaRPr>
          </a:p>
          <a:p>
            <a:pPr>
              <a:lnSpc>
                <a:spcPct val="100000"/>
              </a:lnSpc>
            </a:pP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MOV R0,#0x04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;R0=00000100 in binary</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LDR R1,=myport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;port address</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OVER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LDRB R2,[R1]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;load R2 from myport</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TST R2,R0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;is bit 2 HIGH?</a:t>
            </a:r>
            <a:endParaRPr b="0" lang="en-IN" sz="2400" spc="-1" strike="noStrike">
              <a:solidFill>
                <a:srgbClr val="000000"/>
              </a:solidFill>
              <a:latin typeface="Arial"/>
            </a:endParaRPr>
          </a:p>
          <a:p>
            <a:pPr>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BEQ OVER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;keep checking</a:t>
            </a:r>
            <a:endParaRPr b="0" lang="en-IN" sz="2400" spc="-1" strike="noStrike">
              <a:solidFill>
                <a:srgbClr val="000000"/>
              </a:solidFill>
              <a:latin typeface="Arial"/>
            </a:endParaRPr>
          </a:p>
        </p:txBody>
      </p:sp>
      <p:sp>
        <p:nvSpPr>
          <p:cNvPr id="645" name="TextShape 2"/>
          <p:cNvSpPr/>
          <p:nvPr/>
        </p:nvSpPr>
        <p:spPr>
          <a:xfrm>
            <a:off x="6728400" y="6329160"/>
            <a:ext cx="483480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CustomShape 1"/>
          <p:cNvSpPr/>
          <p:nvPr/>
        </p:nvSpPr>
        <p:spPr>
          <a:xfrm>
            <a:off x="1283040" y="1387800"/>
            <a:ext cx="9319320" cy="26492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en-US" sz="2800" spc="-1" strike="noStrike">
                <a:solidFill>
                  <a:srgbClr val="000000"/>
                </a:solidFill>
                <a:latin typeface="Times New Roman"/>
                <a:ea typeface="DejaVu Sans"/>
              </a:rPr>
              <a:t>In TST,  the Op2 can be an immediate value of less than 0xFF.  </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example:</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LDR R1,=myport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;port address</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OVER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LDRB R2,[R1]</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;load R2 from myport</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TST R2,#0x04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;is bit 2 HIGH?</a:t>
            </a:r>
            <a:endParaRPr b="0" lang="en-IN" sz="2800" spc="-1" strike="noStrike">
              <a:solidFill>
                <a:srgbClr val="000000"/>
              </a:solidFill>
              <a:latin typeface="Arial"/>
            </a:endParaRPr>
          </a:p>
          <a:p>
            <a:pPr algn="just">
              <a:lnSpc>
                <a:spcPct val="100000"/>
              </a:lnSpc>
            </a:pP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BEQ OVER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	</a:t>
            </a:r>
            <a:r>
              <a:rPr b="0" lang="en-US" sz="2800" spc="-1" strike="noStrike">
                <a:solidFill>
                  <a:srgbClr val="000000"/>
                </a:solidFill>
                <a:latin typeface="Times New Roman"/>
                <a:ea typeface="DejaVu Sans"/>
              </a:rPr>
              <a:t>;keep checking</a:t>
            </a:r>
            <a:endParaRPr b="0" lang="en-IN" sz="2800" spc="-1" strike="noStrike">
              <a:solidFill>
                <a:srgbClr val="000000"/>
              </a:solidFill>
              <a:latin typeface="Arial"/>
            </a:endParaRPr>
          </a:p>
        </p:txBody>
      </p:sp>
      <p:sp>
        <p:nvSpPr>
          <p:cNvPr id="647" name="TextShape 2"/>
          <p:cNvSpPr/>
          <p:nvPr/>
        </p:nvSpPr>
        <p:spPr>
          <a:xfrm>
            <a:off x="6496200" y="6247080"/>
            <a:ext cx="505332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CustomShape 1"/>
          <p:cNvSpPr/>
          <p:nvPr/>
        </p:nvSpPr>
        <p:spPr>
          <a:xfrm>
            <a:off x="859680" y="117720"/>
            <a:ext cx="10383840" cy="66733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en-US" sz="2400" spc="-1" strike="noStrike">
                <a:solidFill>
                  <a:srgbClr val="000000"/>
                </a:solidFill>
                <a:latin typeface="LiberationSerif-Bold"/>
                <a:ea typeface="DejaVu Sans"/>
              </a:rPr>
              <a:t>TEQ (test equal)</a:t>
            </a: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TEQ Rn,Op2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;Rn EX-ORed with Op2 and flag bits are set</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The TEQ instruction is used to test to see if the contents of two registers are equal.</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After the source operands are Ex-ORed together the flag bits are set according to the result. </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343080" indent="-342720" algn="just">
              <a:lnSpc>
                <a:spcPct val="100000"/>
              </a:lnSpc>
              <a:buClr>
                <a:srgbClr val="000000"/>
              </a:buClr>
              <a:buFont typeface="Arial"/>
              <a:buChar char="•"/>
            </a:pPr>
            <a:r>
              <a:rPr b="0" lang="en-US" sz="2400" spc="-1" strike="noStrike">
                <a:solidFill>
                  <a:srgbClr val="000000"/>
                </a:solidFill>
                <a:latin typeface="Times New Roman"/>
                <a:ea typeface="DejaVu Sans"/>
              </a:rPr>
              <a:t>After the TEQ instruction if result is 0, then Z flag is raised and one can use BEQ (branch zero) to make decision.  </a:t>
            </a:r>
            <a:endParaRPr b="0" lang="en-IN" sz="2400" spc="-1" strike="noStrike">
              <a:solidFill>
                <a:srgbClr val="000000"/>
              </a:solidFill>
              <a:latin typeface="Arial"/>
            </a:endParaRPr>
          </a:p>
          <a:p>
            <a:pPr algn="just">
              <a:lnSpc>
                <a:spcPct val="100000"/>
              </a:lnSpc>
            </a:pPr>
            <a:endParaRPr b="0" lang="en-IN" sz="2400" spc="-1" strike="noStrike">
              <a:solidFill>
                <a:srgbClr val="000000"/>
              </a:solidFill>
              <a:latin typeface="Arial"/>
            </a:endParaRPr>
          </a:p>
          <a:p>
            <a:pPr marL="1828800" algn="just">
              <a:lnSpc>
                <a:spcPct val="100000"/>
              </a:lnSpc>
            </a:pPr>
            <a:r>
              <a:rPr b="0" lang="en-US" sz="2400" spc="-1" strike="noStrike">
                <a:solidFill>
                  <a:srgbClr val="000000"/>
                </a:solidFill>
                <a:latin typeface="Times New Roman"/>
                <a:ea typeface="DejaVu Sans"/>
              </a:rPr>
              <a:t>TEMP EQU 100</a:t>
            </a:r>
            <a:endParaRPr b="0" lang="en-IN" sz="2400" spc="-1" strike="noStrike">
              <a:solidFill>
                <a:srgbClr val="000000"/>
              </a:solidFill>
              <a:latin typeface="Arial"/>
            </a:endParaRPr>
          </a:p>
          <a:p>
            <a:pPr marL="1828800" algn="just">
              <a:lnSpc>
                <a:spcPct val="100000"/>
              </a:lnSpc>
            </a:pPr>
            <a:r>
              <a:rPr b="0" lang="pt-BR" sz="2400" spc="-1" strike="noStrike">
                <a:solidFill>
                  <a:srgbClr val="000000"/>
                </a:solidFill>
                <a:latin typeface="Times New Roman"/>
                <a:ea typeface="DejaVu Sans"/>
              </a:rPr>
              <a:t>MOV R0,#TEMP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;R0 = Temp</a:t>
            </a:r>
            <a:endParaRPr b="0" lang="en-IN" sz="2400" spc="-1" strike="noStrike">
              <a:solidFill>
                <a:srgbClr val="000000"/>
              </a:solidFill>
              <a:latin typeface="Arial"/>
            </a:endParaRPr>
          </a:p>
          <a:p>
            <a:pPr marL="1828800" algn="just">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LDR R1,=myport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;port address</a:t>
            </a:r>
            <a:endParaRPr b="0" lang="en-IN" sz="2400" spc="-1" strike="noStrike">
              <a:solidFill>
                <a:srgbClr val="000000"/>
              </a:solidFill>
              <a:latin typeface="Arial"/>
            </a:endParaRPr>
          </a:p>
          <a:p>
            <a:pPr marL="1828800" algn="just">
              <a:lnSpc>
                <a:spcPct val="100000"/>
              </a:lnSpc>
            </a:pPr>
            <a:r>
              <a:rPr b="0" lang="en-US" sz="2400" spc="-1" strike="noStrike">
                <a:solidFill>
                  <a:srgbClr val="000000"/>
                </a:solidFill>
                <a:latin typeface="Times New Roman"/>
                <a:ea typeface="DejaVu Sans"/>
              </a:rPr>
              <a:t>OVER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LDRB R2,[R1]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;load R2 from myport</a:t>
            </a:r>
            <a:endParaRPr b="0" lang="en-IN" sz="2400" spc="-1" strike="noStrike">
              <a:solidFill>
                <a:srgbClr val="000000"/>
              </a:solidFill>
              <a:latin typeface="Arial"/>
            </a:endParaRPr>
          </a:p>
          <a:p>
            <a:pPr marL="1828800" algn="just">
              <a:lnSpc>
                <a:spcPct val="100000"/>
              </a:lnSpc>
            </a:pP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TEQ R2,R0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	</a:t>
            </a:r>
            <a:r>
              <a:rPr b="0" lang="pt-BR" sz="2400" spc="-1" strike="noStrike">
                <a:solidFill>
                  <a:srgbClr val="000000"/>
                </a:solidFill>
                <a:latin typeface="Times New Roman"/>
                <a:ea typeface="DejaVu Sans"/>
              </a:rPr>
              <a:t>;is it 100?</a:t>
            </a:r>
            <a:endParaRPr b="0" lang="en-IN" sz="2400" spc="-1" strike="noStrike">
              <a:solidFill>
                <a:srgbClr val="000000"/>
              </a:solidFill>
              <a:latin typeface="Arial"/>
            </a:endParaRPr>
          </a:p>
          <a:p>
            <a:pPr marL="1828800" algn="just">
              <a:lnSpc>
                <a:spcPct val="100000"/>
              </a:lnSpc>
            </a:pP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BNE OVER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	</a:t>
            </a:r>
            <a:r>
              <a:rPr b="0" lang="en-US" sz="2400" spc="-1" strike="noStrike">
                <a:solidFill>
                  <a:srgbClr val="000000"/>
                </a:solidFill>
                <a:latin typeface="Times New Roman"/>
                <a:ea typeface="DejaVu Sans"/>
              </a:rPr>
              <a:t>;keep checking</a:t>
            </a:r>
            <a:endParaRPr b="0" lang="en-IN" sz="2400" spc="-1" strike="noStrike">
              <a:solidFill>
                <a:srgbClr val="000000"/>
              </a:solidFill>
              <a:latin typeface="Arial"/>
            </a:endParaRPr>
          </a:p>
        </p:txBody>
      </p:sp>
      <p:sp>
        <p:nvSpPr>
          <p:cNvPr id="649" name="TextShape 2"/>
          <p:cNvSpPr/>
          <p:nvPr/>
        </p:nvSpPr>
        <p:spPr>
          <a:xfrm>
            <a:off x="6851160" y="117720"/>
            <a:ext cx="4870080" cy="362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200" spc="-1" strike="noStrike">
                <a:solidFill>
                  <a:srgbClr val="8b8b8b"/>
                </a:solidFill>
                <a:latin typeface="Calibri"/>
                <a:ea typeface="DejaVu Sans"/>
              </a:rPr>
              <a:t>ARM Assembly Language Programming &amp; Architecture by Mazidi, et al.</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21960</TotalTime>
  <Application>LibreOffice/7.4.7.2$Linux_X86_64 LibreOffice_project/40$Build-2</Application>
  <AppVersion>15.0000</AppVersion>
  <Words>4725</Words>
  <Paragraphs>523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2016-07-30T06:24:45Z</dcterms:created>
  <dc:creator>PC</dc:creator>
  <dc:description/>
  <dc:language>en-IN</dc:language>
  <cp:lastModifiedBy/>
  <dcterms:modified xsi:type="dcterms:W3CDTF">2024-01-27T11:20:20Z</dcterms:modified>
  <cp:revision>132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Widescreen</vt:lpwstr>
  </property>
  <property fmtid="{D5CDD505-2E9C-101B-9397-08002B2CF9AE}" pid="4" name="Slides">
    <vt:i4>71</vt:i4>
  </property>
</Properties>
</file>