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5" r:id="rId4"/>
    <p:sldId id="266" r:id="rId5"/>
    <p:sldId id="267" r:id="rId6"/>
    <p:sldId id="268" r:id="rId7"/>
    <p:sldId id="275" r:id="rId8"/>
    <p:sldId id="269" r:id="rId9"/>
    <p:sldId id="270" r:id="rId10"/>
    <p:sldId id="259" r:id="rId11"/>
    <p:sldId id="271" r:id="rId12"/>
    <p:sldId id="272" r:id="rId13"/>
    <p:sldId id="273" r:id="rId14"/>
    <p:sldId id="274" r:id="rId15"/>
    <p:sldId id="263" r:id="rId16"/>
    <p:sldId id="264" r:id="rId17"/>
    <p:sldId id="276" r:id="rId18"/>
    <p:sldId id="277" r:id="rId19"/>
    <p:sldId id="278" r:id="rId20"/>
    <p:sldId id="279" r:id="rId21"/>
    <p:sldId id="280" r:id="rId22"/>
    <p:sldId id="281"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69" d="100"/>
          <a:sy n="69" d="100"/>
        </p:scale>
        <p:origin x="6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BA45C30-13C1-4D64-A8B7-2716C0C5E7D5}"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433166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A45C30-13C1-4D64-A8B7-2716C0C5E7D5}"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1044196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A45C30-13C1-4D64-A8B7-2716C0C5E7D5}"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564402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A45C30-13C1-4D64-A8B7-2716C0C5E7D5}"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2536509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BA45C30-13C1-4D64-A8B7-2716C0C5E7D5}" type="datetimeFigureOut">
              <a:rPr lang="en-US" smtClean="0"/>
              <a:t>3/5/2020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3571060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A45C30-13C1-4D64-A8B7-2716C0C5E7D5}" type="datetimeFigureOut">
              <a:rPr lang="en-US" smtClean="0"/>
              <a:t>3/5/2020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3161762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A45C30-13C1-4D64-A8B7-2716C0C5E7D5}" type="datetimeFigureOut">
              <a:rPr lang="en-US" smtClean="0"/>
              <a:t>3/5/2020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186114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BA45C30-13C1-4D64-A8B7-2716C0C5E7D5}"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76014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BA45C30-13C1-4D64-A8B7-2716C0C5E7D5}"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1523287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A45C30-13C1-4D64-A8B7-2716C0C5E7D5}"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2940173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A45C30-13C1-4D64-A8B7-2716C0C5E7D5}"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3050F-9944-4FE7-A40D-73BC1A521F6F}" type="slidenum">
              <a:rPr lang="en-US" smtClean="0"/>
              <a:t>‹#›</a:t>
            </a:fld>
            <a:endParaRPr lang="en-US"/>
          </a:p>
        </p:txBody>
      </p:sp>
    </p:spTree>
    <p:extLst>
      <p:ext uri="{BB962C8B-B14F-4D97-AF65-F5344CB8AC3E}">
        <p14:creationId xmlns:p14="http://schemas.microsoft.com/office/powerpoint/2010/main" val="3398715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A45C30-13C1-4D64-A8B7-2716C0C5E7D5}" type="datetimeFigureOut">
              <a:rPr lang="en-US" smtClean="0"/>
              <a:t>3/5/2020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3050F-9944-4FE7-A40D-73BC1A521F6F}" type="slidenum">
              <a:rPr lang="en-US" smtClean="0"/>
              <a:t>‹#›</a:t>
            </a:fld>
            <a:endParaRPr lang="en-US"/>
          </a:p>
        </p:txBody>
      </p:sp>
    </p:spTree>
    <p:extLst>
      <p:ext uri="{BB962C8B-B14F-4D97-AF65-F5344CB8AC3E}">
        <p14:creationId xmlns:p14="http://schemas.microsoft.com/office/powerpoint/2010/main" val="912486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www.ocfreaks.com/lpc1768-adc-programming-tutorial/"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www.motioncontroltips.com/what-is-nested-vector-interrupt-control-nvic/"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17819" y="457199"/>
            <a:ext cx="3689087" cy="646331"/>
          </a:xfrm>
          <a:prstGeom prst="rect">
            <a:avLst/>
          </a:prstGeom>
          <a:noFill/>
        </p:spPr>
        <p:txBody>
          <a:bodyPr wrap="none" rtlCol="0">
            <a:spAutoFit/>
          </a:bodyPr>
          <a:lstStyle/>
          <a:p>
            <a:r>
              <a:rPr lang="en-US" sz="3600" b="1" dirty="0" smtClean="0"/>
              <a:t>ADC Programming</a:t>
            </a:r>
            <a:endParaRPr lang="en-US" sz="3600" b="1" dirty="0"/>
          </a:p>
        </p:txBody>
      </p:sp>
      <p:sp>
        <p:nvSpPr>
          <p:cNvPr id="3" name="Rectangle 2"/>
          <p:cNvSpPr/>
          <p:nvPr/>
        </p:nvSpPr>
        <p:spPr>
          <a:xfrm>
            <a:off x="888580" y="2316310"/>
            <a:ext cx="10390909" cy="3539430"/>
          </a:xfrm>
          <a:prstGeom prst="rect">
            <a:avLst/>
          </a:prstGeom>
        </p:spPr>
        <p:txBody>
          <a:bodyPr wrap="square">
            <a:spAutoFit/>
          </a:bodyPr>
          <a:lstStyle/>
          <a:p>
            <a:pPr algn="just"/>
            <a:r>
              <a:rPr lang="en-US" sz="2800" b="0" i="0" dirty="0" smtClean="0">
                <a:solidFill>
                  <a:srgbClr val="222222"/>
                </a:solidFill>
                <a:effectLst/>
                <a:latin typeface="arial" panose="020B0604020202020204" pitchFamily="34" charset="0"/>
              </a:rPr>
              <a:t>The </a:t>
            </a:r>
            <a:r>
              <a:rPr lang="en-US" sz="2800" b="1" i="0" dirty="0" smtClean="0">
                <a:solidFill>
                  <a:srgbClr val="222222"/>
                </a:solidFill>
                <a:effectLst/>
                <a:latin typeface="arial" panose="020B0604020202020204" pitchFamily="34" charset="0"/>
              </a:rPr>
              <a:t>ADC</a:t>
            </a:r>
            <a:r>
              <a:rPr lang="en-US" sz="2800" b="0" i="0" dirty="0" smtClean="0">
                <a:solidFill>
                  <a:srgbClr val="222222"/>
                </a:solidFill>
                <a:effectLst/>
                <a:latin typeface="arial" panose="020B0604020202020204" pitchFamily="34" charset="0"/>
              </a:rPr>
              <a:t> module in the </a:t>
            </a:r>
            <a:r>
              <a:rPr lang="en-US" sz="2800" b="1" i="0" dirty="0" smtClean="0">
                <a:solidFill>
                  <a:srgbClr val="222222"/>
                </a:solidFill>
                <a:effectLst/>
                <a:latin typeface="arial" panose="020B0604020202020204" pitchFamily="34" charset="0"/>
              </a:rPr>
              <a:t>LPC1768</a:t>
            </a:r>
            <a:r>
              <a:rPr lang="en-US" sz="2800" b="0" i="0" dirty="0" smtClean="0">
                <a:solidFill>
                  <a:srgbClr val="222222"/>
                </a:solidFill>
                <a:effectLst/>
                <a:latin typeface="arial" panose="020B0604020202020204" pitchFamily="34" charset="0"/>
              </a:rPr>
              <a:t> uses the technique of successive approximation to convert signals from analog to digital values. The internal SAR (Successive Approximation Register) is designed to take the input from a voltage comparator of the internal module to give a 12-bit output resulting in a high precision result.</a:t>
            </a:r>
          </a:p>
          <a:p>
            <a:pPr algn="just"/>
            <a:endParaRPr lang="en-US" sz="2800" dirty="0">
              <a:solidFill>
                <a:srgbClr val="222222"/>
              </a:solidFill>
              <a:latin typeface="arial" panose="020B0604020202020204" pitchFamily="34" charset="0"/>
            </a:endParaRPr>
          </a:p>
          <a:p>
            <a:pPr algn="ctr"/>
            <a:r>
              <a:rPr lang="en-US" sz="2800" dirty="0" err="1" smtClean="0"/>
              <a:t>Va</a:t>
            </a:r>
            <a:r>
              <a:rPr lang="en-US" sz="2800" dirty="0" smtClean="0"/>
              <a:t> = ( </a:t>
            </a:r>
            <a:r>
              <a:rPr lang="en-US" sz="2800" dirty="0" err="1" smtClean="0"/>
              <a:t>Vref</a:t>
            </a:r>
            <a:r>
              <a:rPr lang="en-US" sz="2800" dirty="0" smtClean="0"/>
              <a:t>/2</a:t>
            </a:r>
            <a:r>
              <a:rPr lang="en-US" sz="2800" baseline="30000" dirty="0" smtClean="0"/>
              <a:t>12</a:t>
            </a:r>
            <a:r>
              <a:rPr lang="en-US" sz="2800" dirty="0" smtClean="0"/>
              <a:t> )* </a:t>
            </a:r>
            <a:r>
              <a:rPr lang="en-US" sz="2800" dirty="0" err="1" smtClean="0"/>
              <a:t>Dval</a:t>
            </a:r>
            <a:endParaRPr lang="en-US" sz="2800" dirty="0"/>
          </a:p>
        </p:txBody>
      </p:sp>
    </p:spTree>
    <p:extLst>
      <p:ext uri="{BB962C8B-B14F-4D97-AF65-F5344CB8AC3E}">
        <p14:creationId xmlns:p14="http://schemas.microsoft.com/office/powerpoint/2010/main" val="582400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8602" y="424934"/>
            <a:ext cx="3055645" cy="584775"/>
          </a:xfrm>
          <a:prstGeom prst="rect">
            <a:avLst/>
          </a:prstGeom>
        </p:spPr>
        <p:txBody>
          <a:bodyPr wrap="none">
            <a:spAutoFit/>
          </a:bodyPr>
          <a:lstStyle/>
          <a:p>
            <a:r>
              <a:rPr lang="en-US" sz="3200" b="1" dirty="0" smtClean="0">
                <a:solidFill>
                  <a:srgbClr val="005042"/>
                </a:solidFill>
                <a:latin typeface="Arial" panose="020B0604020202020204" pitchFamily="34" charset="0"/>
              </a:rPr>
              <a:t>ADC Registers</a:t>
            </a:r>
            <a:endParaRPr lang="en-US" sz="3200" dirty="0"/>
          </a:p>
        </p:txBody>
      </p:sp>
      <p:graphicFrame>
        <p:nvGraphicFramePr>
          <p:cNvPr id="4" name="Table 3"/>
          <p:cNvGraphicFramePr>
            <a:graphicFrameLocks noGrp="1"/>
          </p:cNvGraphicFramePr>
          <p:nvPr>
            <p:extLst>
              <p:ext uri="{D42A27DB-BD31-4B8C-83A1-F6EECF244321}">
                <p14:modId xmlns:p14="http://schemas.microsoft.com/office/powerpoint/2010/main" val="3898296015"/>
              </p:ext>
            </p:extLst>
          </p:nvPr>
        </p:nvGraphicFramePr>
        <p:xfrm>
          <a:off x="1608137" y="1908492"/>
          <a:ext cx="7988800" cy="369570"/>
        </p:xfrm>
        <a:graphic>
          <a:graphicData uri="http://schemas.openxmlformats.org/drawingml/2006/table">
            <a:tbl>
              <a:tblPr/>
              <a:tblGrid>
                <a:gridCol w="3994400">
                  <a:extLst>
                    <a:ext uri="{9D8B030D-6E8A-4147-A177-3AD203B41FA5}">
                      <a16:colId xmlns:a16="http://schemas.microsoft.com/office/drawing/2014/main" val="2847735109"/>
                    </a:ext>
                  </a:extLst>
                </a:gridCol>
                <a:gridCol w="3994400">
                  <a:extLst>
                    <a:ext uri="{9D8B030D-6E8A-4147-A177-3AD203B41FA5}">
                      <a16:colId xmlns:a16="http://schemas.microsoft.com/office/drawing/2014/main" val="94457537"/>
                    </a:ext>
                  </a:extLst>
                </a:gridCol>
              </a:tblGrid>
              <a:tr h="0">
                <a:tc>
                  <a:txBody>
                    <a:bodyPr/>
                    <a:lstStyle/>
                    <a:p>
                      <a:pPr algn="l" fontAlgn="t"/>
                      <a:r>
                        <a:rPr lang="en-US">
                          <a:effectLst/>
                        </a:rPr>
                        <a:t>Register</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D9EDF7"/>
                    </a:solidFill>
                  </a:tcPr>
                </a:tc>
                <a:tc>
                  <a:txBody>
                    <a:bodyPr/>
                    <a:lstStyle/>
                    <a:p>
                      <a:pPr algn="l" fontAlgn="t"/>
                      <a:r>
                        <a:rPr lang="en-US" dirty="0">
                          <a:effectLst/>
                        </a:rPr>
                        <a:t>Description</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2106988464"/>
                  </a:ext>
                </a:extLst>
              </a:tr>
            </a:tbl>
          </a:graphicData>
        </a:graphic>
      </p:graphicFrame>
      <p:sp>
        <p:nvSpPr>
          <p:cNvPr id="5" name="Rectangle 1"/>
          <p:cNvSpPr>
            <a:spLocks noChangeArrowheads="1"/>
          </p:cNvSpPr>
          <p:nvPr/>
        </p:nvSpPr>
        <p:spPr bwMode="auto">
          <a:xfrm flipV="1">
            <a:off x="1468438" y="1954897"/>
            <a:ext cx="120443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540768229"/>
              </p:ext>
            </p:extLst>
          </p:nvPr>
        </p:nvGraphicFramePr>
        <p:xfrm>
          <a:off x="1608137" y="2278062"/>
          <a:ext cx="7988800" cy="3219450"/>
        </p:xfrm>
        <a:graphic>
          <a:graphicData uri="http://schemas.openxmlformats.org/drawingml/2006/table">
            <a:tbl>
              <a:tblPr/>
              <a:tblGrid>
                <a:gridCol w="3994400">
                  <a:extLst>
                    <a:ext uri="{9D8B030D-6E8A-4147-A177-3AD203B41FA5}">
                      <a16:colId xmlns:a16="http://schemas.microsoft.com/office/drawing/2014/main" val="188391399"/>
                    </a:ext>
                  </a:extLst>
                </a:gridCol>
                <a:gridCol w="3994400">
                  <a:extLst>
                    <a:ext uri="{9D8B030D-6E8A-4147-A177-3AD203B41FA5}">
                      <a16:colId xmlns:a16="http://schemas.microsoft.com/office/drawing/2014/main" val="2671066860"/>
                    </a:ext>
                  </a:extLst>
                </a:gridCol>
              </a:tblGrid>
              <a:tr h="0">
                <a:tc>
                  <a:txBody>
                    <a:bodyPr/>
                    <a:lstStyle/>
                    <a:p>
                      <a:pPr fontAlgn="t"/>
                      <a:r>
                        <a:rPr lang="en-US" dirty="0">
                          <a:effectLst/>
                        </a:rPr>
                        <a:t>ADCR</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a:effectLst/>
                        </a:rPr>
                        <a:t>A/D COntrol Register: Used for Configuring the ADC</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79871098"/>
                  </a:ext>
                </a:extLst>
              </a:tr>
              <a:tr h="0">
                <a:tc>
                  <a:txBody>
                    <a:bodyPr/>
                    <a:lstStyle/>
                    <a:p>
                      <a:pPr fontAlgn="t"/>
                      <a:r>
                        <a:rPr lang="en-US" dirty="0">
                          <a:effectLst/>
                        </a:rPr>
                        <a:t>ADGDR</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US" dirty="0">
                          <a:effectLst/>
                        </a:rPr>
                        <a:t>A/D Global Data Register: This register contains the ADC’s DONE bit and the result of the most recent A/D conversion</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987986026"/>
                  </a:ext>
                </a:extLst>
              </a:tr>
              <a:tr h="0">
                <a:tc>
                  <a:txBody>
                    <a:bodyPr/>
                    <a:lstStyle/>
                    <a:p>
                      <a:pPr fontAlgn="t"/>
                      <a:r>
                        <a:rPr lang="en-US">
                          <a:effectLst/>
                        </a:rPr>
                        <a:t>ADINTEN</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dirty="0">
                          <a:effectLst/>
                        </a:rPr>
                        <a:t>A/D Interrupt Enable Register</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79743809"/>
                  </a:ext>
                </a:extLst>
              </a:tr>
              <a:tr h="0">
                <a:tc>
                  <a:txBody>
                    <a:bodyPr/>
                    <a:lstStyle/>
                    <a:p>
                      <a:pPr fontAlgn="t"/>
                      <a:r>
                        <a:rPr lang="en-US">
                          <a:effectLst/>
                        </a:rPr>
                        <a:t>ADDR0 - ADDR7</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US" dirty="0">
                          <a:effectLst/>
                        </a:rPr>
                        <a:t>A/D Channel Data Register: Contains the recent ADC value for respective channel</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4048366642"/>
                  </a:ext>
                </a:extLst>
              </a:tr>
              <a:tr h="0">
                <a:tc>
                  <a:txBody>
                    <a:bodyPr/>
                    <a:lstStyle/>
                    <a:p>
                      <a:pPr fontAlgn="t"/>
                      <a:r>
                        <a:rPr lang="en-US">
                          <a:effectLst/>
                        </a:rPr>
                        <a:t>ADSTAT</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dirty="0">
                          <a:effectLst/>
                        </a:rPr>
                        <a:t>A/D Status Register: Contains DONE &amp; OVERRUN flag for all the ADC channels</a:t>
                      </a:r>
                    </a:p>
                  </a:txBody>
                  <a:tcPr marL="47625" marR="47625" marT="47625" marB="4762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60782081"/>
                  </a:ext>
                </a:extLst>
              </a:tr>
            </a:tbl>
          </a:graphicData>
        </a:graphic>
      </p:graphicFrame>
    </p:spTree>
    <p:extLst>
      <p:ext uri="{BB962C8B-B14F-4D97-AF65-F5344CB8AC3E}">
        <p14:creationId xmlns:p14="http://schemas.microsoft.com/office/powerpoint/2010/main" val="565279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83675" y="1125832"/>
            <a:ext cx="9878290" cy="4893647"/>
          </a:xfrm>
          <a:prstGeom prst="rect">
            <a:avLst/>
          </a:prstGeom>
        </p:spPr>
        <p:txBody>
          <a:bodyPr wrap="square">
            <a:spAutoFit/>
          </a:bodyPr>
          <a:lstStyle/>
          <a:p>
            <a:pPr algn="just"/>
            <a:r>
              <a:rPr lang="en-US" sz="2400" b="1" dirty="0">
                <a:solidFill>
                  <a:srgbClr val="181818"/>
                </a:solidFill>
                <a:latin typeface="Open Sans"/>
              </a:rPr>
              <a:t>ADCR</a:t>
            </a:r>
            <a:r>
              <a:rPr lang="en-US" sz="2400" b="1" dirty="0">
                <a:solidFill>
                  <a:srgbClr val="333333"/>
                </a:solidFill>
                <a:latin typeface="Open Sans"/>
              </a:rPr>
              <a:t> – A/D Control Register : </a:t>
            </a:r>
            <a:endParaRPr lang="en-US" sz="2400" b="1" dirty="0" smtClean="0">
              <a:solidFill>
                <a:srgbClr val="333333"/>
              </a:solidFill>
              <a:latin typeface="Open Sans"/>
            </a:endParaRPr>
          </a:p>
          <a:p>
            <a:pPr marL="285750" indent="-285750" algn="just">
              <a:buFont typeface="Arial" panose="020B0604020202020204" pitchFamily="34" charset="0"/>
              <a:buChar char="•"/>
            </a:pPr>
            <a:r>
              <a:rPr lang="en-US" sz="2400" b="1" dirty="0" smtClean="0">
                <a:solidFill>
                  <a:srgbClr val="333333"/>
                </a:solidFill>
                <a:latin typeface="Open Sans"/>
              </a:rPr>
              <a:t>Bits[7:0] </a:t>
            </a:r>
            <a:r>
              <a:rPr lang="en-US" sz="2400" b="1" dirty="0">
                <a:solidFill>
                  <a:srgbClr val="333333"/>
                </a:solidFill>
                <a:latin typeface="Open Sans"/>
              </a:rPr>
              <a:t>– SEL:</a:t>
            </a:r>
            <a:r>
              <a:rPr lang="en-US" sz="2400" dirty="0">
                <a:solidFill>
                  <a:srgbClr val="333333"/>
                </a:solidFill>
                <a:latin typeface="Open Sans"/>
              </a:rPr>
              <a:t> Bit ‘x'(in this group) is used to select </a:t>
            </a:r>
            <a:r>
              <a:rPr lang="en-US" sz="2400" dirty="0" smtClean="0">
                <a:solidFill>
                  <a:srgbClr val="333333"/>
                </a:solidFill>
                <a:latin typeface="Open Sans"/>
              </a:rPr>
              <a:t> AD0.x</a:t>
            </a:r>
            <a:endParaRPr lang="en-US" sz="2400" dirty="0">
              <a:solidFill>
                <a:srgbClr val="333333"/>
              </a:solidFill>
              <a:latin typeface="Open Sans"/>
            </a:endParaRPr>
          </a:p>
          <a:p>
            <a:pPr marL="285750" indent="-285750" algn="just">
              <a:buFont typeface="Arial" panose="020B0604020202020204" pitchFamily="34" charset="0"/>
              <a:buChar char="•"/>
            </a:pPr>
            <a:r>
              <a:rPr lang="en-US" sz="2400" b="1" dirty="0">
                <a:solidFill>
                  <a:srgbClr val="333333"/>
                </a:solidFill>
                <a:latin typeface="Open Sans"/>
              </a:rPr>
              <a:t>Bits[15:8] – CLKDIV: </a:t>
            </a:r>
            <a:r>
              <a:rPr lang="en-US" sz="2400" dirty="0">
                <a:solidFill>
                  <a:srgbClr val="333333"/>
                </a:solidFill>
                <a:latin typeface="Open Sans"/>
              </a:rPr>
              <a:t>ADC Peripheral clock i.e. PCLK_ADC0 is divided by CLKDIV+1 to get the ADC clock. </a:t>
            </a:r>
            <a:r>
              <a:rPr lang="en-US" sz="2400" dirty="0" smtClean="0">
                <a:solidFill>
                  <a:srgbClr val="333333"/>
                </a:solidFill>
                <a:latin typeface="Open Sans"/>
              </a:rPr>
              <a:t> </a:t>
            </a:r>
            <a:endParaRPr lang="en-US" sz="2400" dirty="0">
              <a:solidFill>
                <a:srgbClr val="333333"/>
              </a:solidFill>
              <a:latin typeface="Open Sans"/>
            </a:endParaRPr>
          </a:p>
          <a:p>
            <a:pPr marL="285750" indent="-285750" algn="just">
              <a:buFont typeface="Arial" panose="020B0604020202020204" pitchFamily="34" charset="0"/>
              <a:buChar char="•"/>
            </a:pPr>
            <a:r>
              <a:rPr lang="en-US" sz="2400" b="1" dirty="0">
                <a:solidFill>
                  <a:srgbClr val="333333"/>
                </a:solidFill>
                <a:latin typeface="Open Sans"/>
              </a:rPr>
              <a:t>Bit[16] – BURST:</a:t>
            </a:r>
            <a:r>
              <a:rPr lang="en-US" sz="2400" dirty="0">
                <a:solidFill>
                  <a:srgbClr val="333333"/>
                </a:solidFill>
                <a:latin typeface="Open Sans"/>
              </a:rPr>
              <a:t> Set to 1 for doing repeated conversions, else 0 for software controlled conversions. Note: START bits must be set to 000 when BURST=1 or conversions will not start. </a:t>
            </a:r>
            <a:r>
              <a:rPr lang="en-US" sz="2400" dirty="0" smtClean="0">
                <a:solidFill>
                  <a:srgbClr val="333333"/>
                </a:solidFill>
                <a:latin typeface="Open Sans"/>
              </a:rPr>
              <a:t>The conversion is started scanning through </a:t>
            </a:r>
            <a:r>
              <a:rPr lang="en-US" sz="2400" dirty="0">
                <a:solidFill>
                  <a:srgbClr val="333333"/>
                </a:solidFill>
                <a:latin typeface="Open Sans"/>
              </a:rPr>
              <a:t>the pins selected by bits set to ones in the SEL field. The first conversion </a:t>
            </a:r>
            <a:r>
              <a:rPr lang="en-US" sz="2400" dirty="0" smtClean="0">
                <a:solidFill>
                  <a:srgbClr val="333333"/>
                </a:solidFill>
                <a:latin typeface="Open Sans"/>
              </a:rPr>
              <a:t>corresponds </a:t>
            </a:r>
            <a:r>
              <a:rPr lang="en-US" sz="2400" dirty="0">
                <a:solidFill>
                  <a:srgbClr val="333333"/>
                </a:solidFill>
                <a:latin typeface="Open Sans"/>
              </a:rPr>
              <a:t>to the least-significant 1 in the SEL field, then higher numbered </a:t>
            </a:r>
            <a:r>
              <a:rPr lang="en-US" sz="2400" dirty="0" smtClean="0">
                <a:solidFill>
                  <a:srgbClr val="333333"/>
                </a:solidFill>
                <a:latin typeface="Open Sans"/>
              </a:rPr>
              <a:t>1-bits. </a:t>
            </a:r>
            <a:r>
              <a:rPr lang="en-US" sz="2400" dirty="0">
                <a:solidFill>
                  <a:srgbClr val="333333"/>
                </a:solidFill>
                <a:latin typeface="Open Sans"/>
              </a:rPr>
              <a:t>Repeated conversions can be terminated by clearing this bit, but </a:t>
            </a:r>
            <a:r>
              <a:rPr lang="en-US" sz="2400" dirty="0" smtClean="0">
                <a:solidFill>
                  <a:srgbClr val="333333"/>
                </a:solidFill>
                <a:latin typeface="Open Sans"/>
              </a:rPr>
              <a:t>the conversion </a:t>
            </a:r>
            <a:r>
              <a:rPr lang="en-US" sz="2400" dirty="0">
                <a:solidFill>
                  <a:srgbClr val="333333"/>
                </a:solidFill>
                <a:latin typeface="Open Sans"/>
              </a:rPr>
              <a:t>that’s in progress when this bit is cleared will be </a:t>
            </a:r>
            <a:r>
              <a:rPr lang="en-US" sz="2400" dirty="0" smtClean="0">
                <a:solidFill>
                  <a:srgbClr val="333333"/>
                </a:solidFill>
                <a:latin typeface="Open Sans"/>
              </a:rPr>
              <a:t>completed. If BURST </a:t>
            </a:r>
            <a:r>
              <a:rPr lang="en-US" sz="2400" dirty="0">
                <a:solidFill>
                  <a:srgbClr val="333333"/>
                </a:solidFill>
                <a:latin typeface="Open Sans"/>
              </a:rPr>
              <a:t>is set to 1, the ADGINTEN bit in the </a:t>
            </a:r>
            <a:r>
              <a:rPr lang="en-US" sz="2400" dirty="0" smtClean="0">
                <a:solidFill>
                  <a:srgbClr val="333333"/>
                </a:solidFill>
                <a:latin typeface="Open Sans"/>
              </a:rPr>
              <a:t>ADINTEN register </a:t>
            </a:r>
            <a:r>
              <a:rPr lang="en-US" sz="2400" dirty="0">
                <a:solidFill>
                  <a:srgbClr val="333333"/>
                </a:solidFill>
                <a:latin typeface="Open Sans"/>
              </a:rPr>
              <a:t>must be </a:t>
            </a:r>
            <a:r>
              <a:rPr lang="en-US" sz="2400" dirty="0" smtClean="0">
                <a:solidFill>
                  <a:srgbClr val="333333"/>
                </a:solidFill>
                <a:latin typeface="Open Sans"/>
              </a:rPr>
              <a:t>set to </a:t>
            </a:r>
            <a:r>
              <a:rPr lang="en-US" sz="2400" dirty="0">
                <a:solidFill>
                  <a:srgbClr val="333333"/>
                </a:solidFill>
                <a:latin typeface="Open Sans"/>
              </a:rPr>
              <a:t>0</a:t>
            </a:r>
            <a:r>
              <a:rPr lang="en-US" sz="2400" dirty="0" smtClean="0">
                <a:solidFill>
                  <a:srgbClr val="333333"/>
                </a:solidFill>
                <a:latin typeface="Open Sans"/>
              </a:rPr>
              <a:t>.</a:t>
            </a:r>
            <a:endParaRPr lang="en-US" sz="2400" dirty="0">
              <a:solidFill>
                <a:srgbClr val="333333"/>
              </a:solidFill>
              <a:latin typeface="Open Sans"/>
            </a:endParaRPr>
          </a:p>
        </p:txBody>
      </p:sp>
    </p:spTree>
    <p:extLst>
      <p:ext uri="{BB962C8B-B14F-4D97-AF65-F5344CB8AC3E}">
        <p14:creationId xmlns:p14="http://schemas.microsoft.com/office/powerpoint/2010/main" val="1804400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6291" y="1443841"/>
            <a:ext cx="9324109" cy="4154984"/>
          </a:xfrm>
          <a:prstGeom prst="rect">
            <a:avLst/>
          </a:prstGeom>
        </p:spPr>
        <p:txBody>
          <a:bodyPr wrap="square">
            <a:spAutoFit/>
          </a:bodyPr>
          <a:lstStyle/>
          <a:p>
            <a:pPr marL="285750" indent="-285750" algn="just">
              <a:buFont typeface="Arial" panose="020B0604020202020204" pitchFamily="34" charset="0"/>
              <a:buChar char="•"/>
            </a:pPr>
            <a:r>
              <a:rPr lang="en-US" sz="2400" b="1" dirty="0">
                <a:solidFill>
                  <a:srgbClr val="333333"/>
                </a:solidFill>
                <a:latin typeface="Open Sans"/>
              </a:rPr>
              <a:t>Bit[21] – PDN :</a:t>
            </a:r>
            <a:r>
              <a:rPr lang="en-US" sz="2400" dirty="0">
                <a:solidFill>
                  <a:srgbClr val="333333"/>
                </a:solidFill>
                <a:latin typeface="Open Sans"/>
              </a:rPr>
              <a:t> Set it to 1 for powering up the ADC and making it operational. Set it to 0 for bringing it in power down mode.</a:t>
            </a:r>
          </a:p>
          <a:p>
            <a:pPr marL="285750" indent="-285750" algn="just">
              <a:buFont typeface="Arial" panose="020B0604020202020204" pitchFamily="34" charset="0"/>
              <a:buChar char="•"/>
            </a:pPr>
            <a:r>
              <a:rPr lang="en-US" sz="2400" b="1" dirty="0">
                <a:solidFill>
                  <a:srgbClr val="333333"/>
                </a:solidFill>
                <a:latin typeface="Open Sans"/>
              </a:rPr>
              <a:t>Bits[26:24] – START: </a:t>
            </a:r>
            <a:r>
              <a:rPr lang="en-US" sz="2400" dirty="0">
                <a:solidFill>
                  <a:srgbClr val="333333"/>
                </a:solidFill>
                <a:latin typeface="Open Sans"/>
              </a:rPr>
              <a:t>These bits are used to control the start of ADC conversion when BURST (bit 16) is set to 0. 000 = No </a:t>
            </a:r>
            <a:r>
              <a:rPr lang="en-US" sz="2400" dirty="0" smtClean="0">
                <a:solidFill>
                  <a:srgbClr val="333333"/>
                </a:solidFill>
                <a:latin typeface="Open Sans"/>
              </a:rPr>
              <a:t>start, </a:t>
            </a:r>
            <a:r>
              <a:rPr lang="en-US" sz="2400" dirty="0">
                <a:solidFill>
                  <a:srgbClr val="333333"/>
                </a:solidFill>
                <a:latin typeface="Open Sans"/>
              </a:rPr>
              <a:t>001 = Start the </a:t>
            </a:r>
            <a:r>
              <a:rPr lang="en-US" sz="2400" dirty="0" smtClean="0">
                <a:solidFill>
                  <a:srgbClr val="333333"/>
                </a:solidFill>
                <a:latin typeface="Open Sans"/>
              </a:rPr>
              <a:t>conversion.  </a:t>
            </a:r>
            <a:endParaRPr lang="en-US" sz="2400" dirty="0">
              <a:solidFill>
                <a:srgbClr val="333333"/>
              </a:solidFill>
              <a:latin typeface="Open Sans"/>
            </a:endParaRPr>
          </a:p>
          <a:p>
            <a:pPr marL="285750" indent="-285750" algn="just">
              <a:buFont typeface="Arial" panose="020B0604020202020204" pitchFamily="34" charset="0"/>
              <a:buChar char="•"/>
            </a:pPr>
            <a:r>
              <a:rPr lang="en-US" sz="2400" b="1" dirty="0">
                <a:solidFill>
                  <a:srgbClr val="333333"/>
                </a:solidFill>
                <a:latin typeface="Open Sans"/>
              </a:rPr>
              <a:t>Bit[27] – EDGE: </a:t>
            </a:r>
            <a:r>
              <a:rPr lang="en-US" sz="2400" dirty="0">
                <a:solidFill>
                  <a:srgbClr val="333333"/>
                </a:solidFill>
                <a:latin typeface="Open Sans"/>
              </a:rPr>
              <a:t>Set this bit to 1 to start the conversion on falling edge of the selected CAP/MAT signal and set this bit to 0 to start the conversion on rising edge of the selected signal. (Note: This bit is of used only in the case when the START contains a value between 010 to 111 as shown above.)</a:t>
            </a:r>
          </a:p>
          <a:p>
            <a:pPr marL="285750" indent="-285750" algn="just">
              <a:buFont typeface="Arial" panose="020B0604020202020204" pitchFamily="34" charset="0"/>
              <a:buChar char="•"/>
            </a:pPr>
            <a:r>
              <a:rPr lang="en-US" sz="2400" dirty="0">
                <a:solidFill>
                  <a:srgbClr val="333333"/>
                </a:solidFill>
                <a:latin typeface="Open Sans"/>
              </a:rPr>
              <a:t>Other bits are reserved</a:t>
            </a:r>
            <a:endParaRPr lang="en-US" sz="2400" dirty="0"/>
          </a:p>
        </p:txBody>
      </p:sp>
    </p:spTree>
    <p:extLst>
      <p:ext uri="{BB962C8B-B14F-4D97-AF65-F5344CB8AC3E}">
        <p14:creationId xmlns:p14="http://schemas.microsoft.com/office/powerpoint/2010/main" val="155112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1273" y="363601"/>
            <a:ext cx="10418618" cy="6370975"/>
          </a:xfrm>
          <a:prstGeom prst="rect">
            <a:avLst/>
          </a:prstGeom>
        </p:spPr>
        <p:txBody>
          <a:bodyPr wrap="square">
            <a:spAutoFit/>
          </a:bodyPr>
          <a:lstStyle/>
          <a:p>
            <a:pPr algn="just"/>
            <a:r>
              <a:rPr lang="en-US" sz="2400" b="1" dirty="0">
                <a:solidFill>
                  <a:srgbClr val="181818"/>
                </a:solidFill>
                <a:latin typeface="Open Sans"/>
              </a:rPr>
              <a:t>ADGDR</a:t>
            </a:r>
            <a:r>
              <a:rPr lang="en-US" sz="2400" b="1" dirty="0">
                <a:solidFill>
                  <a:srgbClr val="333333"/>
                </a:solidFill>
                <a:latin typeface="Open Sans"/>
              </a:rPr>
              <a:t> – A/D Global Data Register :</a:t>
            </a:r>
            <a:r>
              <a:rPr lang="en-US" sz="2400" dirty="0">
                <a:solidFill>
                  <a:srgbClr val="333333"/>
                </a:solidFill>
                <a:latin typeface="Open Sans"/>
              </a:rPr>
              <a:t> Contains the ADC’s flags and the result of the most recent A/D conversion.</a:t>
            </a:r>
          </a:p>
          <a:p>
            <a:pPr marL="342900" indent="-342900" algn="just">
              <a:buFont typeface="Arial" panose="020B0604020202020204" pitchFamily="34" charset="0"/>
              <a:buChar char="•"/>
            </a:pPr>
            <a:r>
              <a:rPr lang="en-US" sz="2400" b="1" dirty="0">
                <a:solidFill>
                  <a:srgbClr val="333333"/>
                </a:solidFill>
                <a:latin typeface="Open Sans"/>
              </a:rPr>
              <a:t>Bits[15:4] – RESULT:</a:t>
            </a:r>
            <a:r>
              <a:rPr lang="en-US" sz="2400" dirty="0">
                <a:solidFill>
                  <a:srgbClr val="333333"/>
                </a:solidFill>
                <a:latin typeface="Open Sans"/>
              </a:rPr>
              <a:t> When DONE bit = 1, these bits give a binary fraction which represents the voltage on the pin </a:t>
            </a:r>
            <a:r>
              <a:rPr lang="en-US" sz="2400" dirty="0" smtClean="0">
                <a:solidFill>
                  <a:srgbClr val="333333"/>
                </a:solidFill>
                <a:latin typeface="Open Sans"/>
              </a:rPr>
              <a:t>AD0.x. Value </a:t>
            </a:r>
            <a:r>
              <a:rPr lang="en-US" sz="2400" dirty="0">
                <a:solidFill>
                  <a:srgbClr val="333333"/>
                </a:solidFill>
                <a:latin typeface="Open Sans"/>
              </a:rPr>
              <a:t>of 0x0 indicates that voltage on the given pin was less than, equal to or greater than V</a:t>
            </a:r>
            <a:r>
              <a:rPr lang="en-US" sz="2400" baseline="-25000" dirty="0">
                <a:solidFill>
                  <a:srgbClr val="333333"/>
                </a:solidFill>
                <a:latin typeface="Open Sans"/>
              </a:rPr>
              <a:t>REFN</a:t>
            </a:r>
            <a:r>
              <a:rPr lang="en-US" sz="2400" dirty="0">
                <a:solidFill>
                  <a:srgbClr val="333333"/>
                </a:solidFill>
                <a:latin typeface="Open Sans"/>
              </a:rPr>
              <a:t>. And a value of 0xFFF means that the input voltage was close to, equal to or greater than the V</a:t>
            </a:r>
            <a:r>
              <a:rPr lang="en-US" sz="2400" baseline="-25000" dirty="0">
                <a:solidFill>
                  <a:srgbClr val="333333"/>
                </a:solidFill>
                <a:latin typeface="Open Sans"/>
              </a:rPr>
              <a:t>REFP</a:t>
            </a:r>
            <a:r>
              <a:rPr lang="en-US" sz="2400" dirty="0">
                <a:solidFill>
                  <a:srgbClr val="333333"/>
                </a:solidFill>
                <a:latin typeface="Open Sans"/>
              </a:rPr>
              <a:t>.</a:t>
            </a:r>
          </a:p>
          <a:p>
            <a:pPr marL="342900" indent="-342900" algn="just">
              <a:buFont typeface="Arial" panose="020B0604020202020204" pitchFamily="34" charset="0"/>
              <a:buChar char="•"/>
            </a:pPr>
            <a:r>
              <a:rPr lang="en-US" sz="2400" b="1" dirty="0">
                <a:solidFill>
                  <a:srgbClr val="333333"/>
                </a:solidFill>
                <a:latin typeface="Open Sans"/>
              </a:rPr>
              <a:t>Bits[26:24] – CHN: </a:t>
            </a:r>
            <a:r>
              <a:rPr lang="en-US" sz="2400" dirty="0">
                <a:solidFill>
                  <a:srgbClr val="333333"/>
                </a:solidFill>
                <a:latin typeface="Open Sans"/>
              </a:rPr>
              <a:t>Represents the channel from which RESULT bits were converted. 000= channel 0, 001= channel 1 and so on.</a:t>
            </a:r>
          </a:p>
          <a:p>
            <a:pPr marL="342900" indent="-342900" algn="just">
              <a:buFont typeface="Arial" panose="020B0604020202020204" pitchFamily="34" charset="0"/>
              <a:buChar char="•"/>
            </a:pPr>
            <a:r>
              <a:rPr lang="en-US" sz="2400" b="1" dirty="0">
                <a:solidFill>
                  <a:srgbClr val="333333"/>
                </a:solidFill>
                <a:latin typeface="Open Sans"/>
              </a:rPr>
              <a:t>Bit[30] – OVERRUN:</a:t>
            </a:r>
            <a:r>
              <a:rPr lang="en-US" sz="2400" dirty="0">
                <a:solidFill>
                  <a:srgbClr val="333333"/>
                </a:solidFill>
                <a:latin typeface="Open Sans"/>
              </a:rPr>
              <a:t> In burst mode this bit is 1 in case of an Overrun i.e. the result of previous conversion being lost(overwritten). This bit will be cleared after reading ADGDR.</a:t>
            </a:r>
          </a:p>
          <a:p>
            <a:pPr marL="342900" indent="-342900" algn="just">
              <a:buFont typeface="Arial" panose="020B0604020202020204" pitchFamily="34" charset="0"/>
              <a:buChar char="•"/>
            </a:pPr>
            <a:r>
              <a:rPr lang="en-US" sz="2400" b="1" dirty="0">
                <a:solidFill>
                  <a:srgbClr val="333333"/>
                </a:solidFill>
                <a:latin typeface="Open Sans"/>
              </a:rPr>
              <a:t>Bit[31] – DONE:</a:t>
            </a:r>
            <a:r>
              <a:rPr lang="en-US" sz="2400" dirty="0">
                <a:solidFill>
                  <a:srgbClr val="333333"/>
                </a:solidFill>
                <a:latin typeface="Open Sans"/>
              </a:rPr>
              <a:t> When ADC conversion completes this bit is 1. When this register(ADGDR) is read and ADCR is written, this bit gets cleared i.e. set to 0. If ADCR is written while a conversion is in progress then this bit is set and a new conversion is started.</a:t>
            </a:r>
          </a:p>
          <a:p>
            <a:pPr marL="342900" indent="-342900" algn="just">
              <a:buFont typeface="Arial" panose="020B0604020202020204" pitchFamily="34" charset="0"/>
              <a:buChar char="•"/>
            </a:pPr>
            <a:r>
              <a:rPr lang="en-US" sz="2400" dirty="0">
                <a:solidFill>
                  <a:srgbClr val="333333"/>
                </a:solidFill>
                <a:latin typeface="Open Sans"/>
              </a:rPr>
              <a:t>Other bits are reserved.</a:t>
            </a:r>
            <a:endParaRPr lang="en-US" sz="2400" b="0" i="0" dirty="0">
              <a:solidFill>
                <a:srgbClr val="333333"/>
              </a:solidFill>
              <a:effectLst/>
              <a:latin typeface="Open Sans"/>
            </a:endParaRPr>
          </a:p>
        </p:txBody>
      </p:sp>
    </p:spTree>
    <p:extLst>
      <p:ext uri="{BB962C8B-B14F-4D97-AF65-F5344CB8AC3E}">
        <p14:creationId xmlns:p14="http://schemas.microsoft.com/office/powerpoint/2010/main" val="2229177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8364" y="916955"/>
            <a:ext cx="9628908" cy="1569660"/>
          </a:xfrm>
          <a:prstGeom prst="rect">
            <a:avLst/>
          </a:prstGeom>
        </p:spPr>
        <p:txBody>
          <a:bodyPr wrap="square">
            <a:spAutoFit/>
          </a:bodyPr>
          <a:lstStyle/>
          <a:p>
            <a:pPr algn="just"/>
            <a:r>
              <a:rPr lang="en-US" sz="2400" b="1" dirty="0">
                <a:solidFill>
                  <a:srgbClr val="181818"/>
                </a:solidFill>
                <a:latin typeface="Open Sans"/>
              </a:rPr>
              <a:t>ADDR0 to ADDR7</a:t>
            </a:r>
            <a:r>
              <a:rPr lang="en-US" sz="2400" b="1" dirty="0">
                <a:solidFill>
                  <a:srgbClr val="333333"/>
                </a:solidFill>
                <a:latin typeface="Open Sans"/>
              </a:rPr>
              <a:t> – A/D Data registers :</a:t>
            </a:r>
            <a:r>
              <a:rPr lang="en-US" sz="2400" dirty="0">
                <a:solidFill>
                  <a:srgbClr val="333333"/>
                </a:solidFill>
                <a:latin typeface="Open Sans"/>
              </a:rPr>
              <a:t> This register contains the result of the most recent conversion completed on the corresponding channel [0 to 7]. Its structure is same as ADGDR except Bits[26:24] are not used/reserved.</a:t>
            </a:r>
            <a:endParaRPr lang="en-US" sz="2400" dirty="0"/>
          </a:p>
        </p:txBody>
      </p:sp>
      <p:sp>
        <p:nvSpPr>
          <p:cNvPr id="3" name="Rectangle 2"/>
          <p:cNvSpPr/>
          <p:nvPr/>
        </p:nvSpPr>
        <p:spPr>
          <a:xfrm>
            <a:off x="942109" y="2815257"/>
            <a:ext cx="9795163" cy="3046988"/>
          </a:xfrm>
          <a:prstGeom prst="rect">
            <a:avLst/>
          </a:prstGeom>
        </p:spPr>
        <p:txBody>
          <a:bodyPr wrap="square">
            <a:spAutoFit/>
          </a:bodyPr>
          <a:lstStyle/>
          <a:p>
            <a:pPr algn="just"/>
            <a:r>
              <a:rPr lang="en-US" sz="2400" dirty="0">
                <a:latin typeface="Arial" panose="020B0604020202020204" pitchFamily="34" charset="0"/>
              </a:rPr>
              <a:t>Results of ADC conversion can be read in one of two ways. </a:t>
            </a:r>
            <a:endParaRPr lang="en-US" sz="2400" dirty="0" smtClean="0">
              <a:latin typeface="Arial" panose="020B0604020202020204" pitchFamily="34" charset="0"/>
            </a:endParaRPr>
          </a:p>
          <a:p>
            <a:pPr marL="342900" indent="-342900" algn="just">
              <a:buFont typeface="Arial" panose="020B0604020202020204" pitchFamily="34" charset="0"/>
              <a:buChar char="•"/>
            </a:pPr>
            <a:r>
              <a:rPr lang="en-US" sz="2400" dirty="0" smtClean="0">
                <a:latin typeface="Arial" panose="020B0604020202020204" pitchFamily="34" charset="0"/>
              </a:rPr>
              <a:t>One </a:t>
            </a:r>
            <a:r>
              <a:rPr lang="en-US" sz="2400" dirty="0">
                <a:latin typeface="Arial" panose="020B0604020202020204" pitchFamily="34" charset="0"/>
              </a:rPr>
              <a:t>is to use the A/D </a:t>
            </a:r>
            <a:r>
              <a:rPr lang="en-US" sz="2400" dirty="0" smtClean="0">
                <a:latin typeface="Arial" panose="020B0604020202020204" pitchFamily="34" charset="0"/>
              </a:rPr>
              <a:t>Global Data </a:t>
            </a:r>
            <a:r>
              <a:rPr lang="en-US" sz="2400" dirty="0">
                <a:latin typeface="Arial" panose="020B0604020202020204" pitchFamily="34" charset="0"/>
              </a:rPr>
              <a:t>Register to read all data from the ADC. </a:t>
            </a:r>
            <a:endParaRPr lang="en-US" sz="2400" dirty="0" smtClean="0">
              <a:latin typeface="Arial" panose="020B0604020202020204" pitchFamily="34" charset="0"/>
            </a:endParaRPr>
          </a:p>
          <a:p>
            <a:pPr marL="342900" indent="-342900" algn="just">
              <a:buFont typeface="Arial" panose="020B0604020202020204" pitchFamily="34" charset="0"/>
              <a:buChar char="•"/>
            </a:pPr>
            <a:r>
              <a:rPr lang="en-US" sz="2400" dirty="0" smtClean="0">
                <a:latin typeface="Arial" panose="020B0604020202020204" pitchFamily="34" charset="0"/>
              </a:rPr>
              <a:t>Another </a:t>
            </a:r>
            <a:r>
              <a:rPr lang="en-US" sz="2400" dirty="0">
                <a:latin typeface="Arial" panose="020B0604020202020204" pitchFamily="34" charset="0"/>
              </a:rPr>
              <a:t>is to use the A/D Channel </a:t>
            </a:r>
            <a:r>
              <a:rPr lang="en-US" sz="2400" dirty="0" smtClean="0">
                <a:latin typeface="Arial" panose="020B0604020202020204" pitchFamily="34" charset="0"/>
              </a:rPr>
              <a:t>Data Registers</a:t>
            </a:r>
            <a:r>
              <a:rPr lang="en-US" sz="2400" dirty="0">
                <a:latin typeface="Arial" panose="020B0604020202020204" pitchFamily="34" charset="0"/>
              </a:rPr>
              <a:t>. </a:t>
            </a:r>
            <a:endParaRPr lang="en-US" sz="2400" dirty="0" smtClean="0">
              <a:latin typeface="Arial" panose="020B0604020202020204" pitchFamily="34" charset="0"/>
            </a:endParaRPr>
          </a:p>
          <a:p>
            <a:pPr marL="342900" indent="-342900" algn="just">
              <a:buFont typeface="Arial" panose="020B0604020202020204" pitchFamily="34" charset="0"/>
              <a:buChar char="•"/>
            </a:pPr>
            <a:r>
              <a:rPr lang="en-US" sz="2400" dirty="0" smtClean="0">
                <a:latin typeface="Arial" panose="020B0604020202020204" pitchFamily="34" charset="0"/>
              </a:rPr>
              <a:t>It </a:t>
            </a:r>
            <a:r>
              <a:rPr lang="en-US" sz="2400" dirty="0">
                <a:latin typeface="Arial" panose="020B0604020202020204" pitchFamily="34" charset="0"/>
              </a:rPr>
              <a:t>is important to use one method consistently because the DONE </a:t>
            </a:r>
            <a:r>
              <a:rPr lang="en-US" sz="2400" dirty="0" smtClean="0">
                <a:latin typeface="Arial" panose="020B0604020202020204" pitchFamily="34" charset="0"/>
              </a:rPr>
              <a:t>and OVERRUN </a:t>
            </a:r>
            <a:r>
              <a:rPr lang="en-US" sz="2400" dirty="0">
                <a:latin typeface="Arial" panose="020B0604020202020204" pitchFamily="34" charset="0"/>
              </a:rPr>
              <a:t>flags can otherwise get out of synch between the </a:t>
            </a:r>
            <a:r>
              <a:rPr lang="en-US" sz="2400" dirty="0" smtClean="0">
                <a:latin typeface="Arial" panose="020B0604020202020204" pitchFamily="34" charset="0"/>
              </a:rPr>
              <a:t>ADGDR </a:t>
            </a:r>
            <a:r>
              <a:rPr lang="en-US" sz="2400" dirty="0">
                <a:latin typeface="Arial" panose="020B0604020202020204" pitchFamily="34" charset="0"/>
              </a:rPr>
              <a:t>and the </a:t>
            </a:r>
            <a:r>
              <a:rPr lang="en-US" sz="2400" dirty="0" smtClean="0">
                <a:latin typeface="Arial" panose="020B0604020202020204" pitchFamily="34" charset="0"/>
              </a:rPr>
              <a:t>A/D Channel </a:t>
            </a:r>
            <a:r>
              <a:rPr lang="en-US" sz="2400" dirty="0">
                <a:latin typeface="Arial" panose="020B0604020202020204" pitchFamily="34" charset="0"/>
              </a:rPr>
              <a:t>Data Registers, potentially causing erroneous interrupts or DMA activity.</a:t>
            </a:r>
            <a:endParaRPr lang="en-US" sz="2400" dirty="0"/>
          </a:p>
        </p:txBody>
      </p:sp>
    </p:spTree>
    <p:extLst>
      <p:ext uri="{BB962C8B-B14F-4D97-AF65-F5344CB8AC3E}">
        <p14:creationId xmlns:p14="http://schemas.microsoft.com/office/powerpoint/2010/main" val="2716566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2837" y="652553"/>
            <a:ext cx="9656618" cy="5693866"/>
          </a:xfrm>
          <a:prstGeom prst="rect">
            <a:avLst/>
          </a:prstGeom>
        </p:spPr>
        <p:txBody>
          <a:bodyPr wrap="square">
            <a:spAutoFit/>
          </a:bodyPr>
          <a:lstStyle/>
          <a:p>
            <a:pPr algn="just"/>
            <a:r>
              <a:rPr lang="en-US" sz="2800" b="1" dirty="0">
                <a:solidFill>
                  <a:srgbClr val="005042"/>
                </a:solidFill>
                <a:latin typeface="Arial" panose="020B0604020202020204" pitchFamily="34" charset="0"/>
              </a:rPr>
              <a:t>A/D Interrupt Enable register (</a:t>
            </a:r>
            <a:r>
              <a:rPr lang="en-US" sz="2800" b="1" dirty="0" smtClean="0">
                <a:solidFill>
                  <a:srgbClr val="005042"/>
                </a:solidFill>
                <a:latin typeface="Arial" panose="020B0604020202020204" pitchFamily="34" charset="0"/>
              </a:rPr>
              <a:t>ADINTEN )</a:t>
            </a:r>
            <a:endParaRPr lang="en-US" sz="2800" b="1" dirty="0">
              <a:solidFill>
                <a:srgbClr val="005042"/>
              </a:solidFill>
              <a:latin typeface="Arial" panose="020B0604020202020204" pitchFamily="34" charset="0"/>
            </a:endParaRPr>
          </a:p>
          <a:p>
            <a:pPr marL="457200" indent="-457200" algn="just">
              <a:buFont typeface="Arial" panose="020B0604020202020204" pitchFamily="34" charset="0"/>
              <a:buChar char="•"/>
            </a:pPr>
            <a:r>
              <a:rPr lang="en-US" sz="2800" dirty="0">
                <a:solidFill>
                  <a:srgbClr val="000000"/>
                </a:solidFill>
                <a:latin typeface="Arial" panose="020B0604020202020204" pitchFamily="34" charset="0"/>
              </a:rPr>
              <a:t>This register allows control over which A/D channels generate an interrupt when </a:t>
            </a:r>
            <a:r>
              <a:rPr lang="en-US" sz="2800" dirty="0" smtClean="0">
                <a:solidFill>
                  <a:srgbClr val="000000"/>
                </a:solidFill>
                <a:latin typeface="Arial" panose="020B0604020202020204" pitchFamily="34" charset="0"/>
              </a:rPr>
              <a:t>a conversion </a:t>
            </a:r>
            <a:r>
              <a:rPr lang="en-US" sz="2800" dirty="0">
                <a:solidFill>
                  <a:srgbClr val="000000"/>
                </a:solidFill>
                <a:latin typeface="Arial" panose="020B0604020202020204" pitchFamily="34" charset="0"/>
              </a:rPr>
              <a:t>is complete. </a:t>
            </a:r>
            <a:endParaRPr lang="en-US" sz="2800" dirty="0" smtClean="0">
              <a:solidFill>
                <a:srgbClr val="000000"/>
              </a:solidFill>
              <a:latin typeface="Arial" panose="020B0604020202020204" pitchFamily="34" charset="0"/>
            </a:endParaRPr>
          </a:p>
          <a:p>
            <a:pPr marL="457200" indent="-457200" algn="just">
              <a:buFont typeface="Arial" panose="020B0604020202020204" pitchFamily="34" charset="0"/>
              <a:buChar char="•"/>
            </a:pPr>
            <a:r>
              <a:rPr lang="en-US" sz="2800" b="1" dirty="0" smtClean="0">
                <a:solidFill>
                  <a:srgbClr val="333333"/>
                </a:solidFill>
                <a:latin typeface="Open Sans"/>
              </a:rPr>
              <a:t>Bits[7:0]</a:t>
            </a:r>
            <a:r>
              <a:rPr lang="en-US" sz="2800" dirty="0" smtClean="0">
                <a:solidFill>
                  <a:srgbClr val="000000"/>
                </a:solidFill>
                <a:latin typeface="Arial" panose="020B0604020202020204" pitchFamily="34" charset="0"/>
              </a:rPr>
              <a:t> : Enable or disable the generation of interrupt upon the </a:t>
            </a:r>
            <a:r>
              <a:rPr lang="en-US" sz="2800" dirty="0">
                <a:solidFill>
                  <a:srgbClr val="000000"/>
                </a:solidFill>
                <a:latin typeface="Arial" panose="020B0604020202020204" pitchFamily="34" charset="0"/>
              </a:rPr>
              <a:t>c</a:t>
            </a:r>
            <a:r>
              <a:rPr lang="en-US" sz="2800" dirty="0" smtClean="0">
                <a:solidFill>
                  <a:srgbClr val="000000"/>
                </a:solidFill>
                <a:latin typeface="Arial" panose="020B0604020202020204" pitchFamily="34" charset="0"/>
              </a:rPr>
              <a:t>ompletion </a:t>
            </a:r>
            <a:r>
              <a:rPr lang="en-US" sz="2800" dirty="0">
                <a:solidFill>
                  <a:srgbClr val="000000"/>
                </a:solidFill>
                <a:latin typeface="Arial" panose="020B0604020202020204" pitchFamily="34" charset="0"/>
              </a:rPr>
              <a:t>of a conversion on ADC </a:t>
            </a:r>
            <a:r>
              <a:rPr lang="en-US" sz="2800" dirty="0" smtClean="0">
                <a:solidFill>
                  <a:srgbClr val="000000"/>
                </a:solidFill>
                <a:latin typeface="Arial" panose="020B0604020202020204" pitchFamily="34" charset="0"/>
              </a:rPr>
              <a:t>channel [7:0]. Bit = 1 enables the interrupt and 0 disables</a:t>
            </a:r>
          </a:p>
          <a:p>
            <a:pPr marL="457200" indent="-457200" algn="just">
              <a:buFont typeface="Arial" panose="020B0604020202020204" pitchFamily="34" charset="0"/>
              <a:buChar char="•"/>
            </a:pPr>
            <a:r>
              <a:rPr lang="en-US" sz="2800" b="1" dirty="0" smtClean="0">
                <a:solidFill>
                  <a:srgbClr val="333333"/>
                </a:solidFill>
                <a:latin typeface="Open Sans"/>
              </a:rPr>
              <a:t>Bit 8: </a:t>
            </a:r>
            <a:r>
              <a:rPr lang="en-US" sz="2800" b="1" dirty="0" smtClean="0">
                <a:solidFill>
                  <a:srgbClr val="000000"/>
                </a:solidFill>
                <a:latin typeface="Arial" panose="020B0604020202020204" pitchFamily="34" charset="0"/>
              </a:rPr>
              <a:t>ADGINTEN: </a:t>
            </a:r>
            <a:r>
              <a:rPr lang="en-US" sz="2800" dirty="0" smtClean="0">
                <a:solidFill>
                  <a:srgbClr val="000000"/>
                </a:solidFill>
                <a:latin typeface="Arial" panose="020B0604020202020204" pitchFamily="34" charset="0"/>
              </a:rPr>
              <a:t>  When set to 0, only </a:t>
            </a:r>
            <a:r>
              <a:rPr lang="en-US" sz="2800" dirty="0">
                <a:solidFill>
                  <a:srgbClr val="000000"/>
                </a:solidFill>
                <a:latin typeface="Arial" panose="020B0604020202020204" pitchFamily="34" charset="0"/>
              </a:rPr>
              <a:t>the individual ADC channels enabled by ADINTEN7:0 will </a:t>
            </a:r>
            <a:r>
              <a:rPr lang="en-US" sz="2800" dirty="0" smtClean="0">
                <a:solidFill>
                  <a:srgbClr val="000000"/>
                </a:solidFill>
                <a:latin typeface="Arial" panose="020B0604020202020204" pitchFamily="34" charset="0"/>
              </a:rPr>
              <a:t>generate interrupts.</a:t>
            </a:r>
          </a:p>
          <a:p>
            <a:pPr marL="457200" indent="-457200" algn="just">
              <a:buFont typeface="Arial" panose="020B0604020202020204" pitchFamily="34" charset="0"/>
              <a:buChar char="•"/>
            </a:pPr>
            <a:r>
              <a:rPr lang="en-US" sz="2800" dirty="0" smtClean="0">
                <a:solidFill>
                  <a:srgbClr val="000000"/>
                </a:solidFill>
                <a:latin typeface="Arial" panose="020B0604020202020204" pitchFamily="34" charset="0"/>
              </a:rPr>
              <a:t>Remark</a:t>
            </a:r>
            <a:r>
              <a:rPr lang="en-US" sz="2800" dirty="0">
                <a:solidFill>
                  <a:srgbClr val="000000"/>
                </a:solidFill>
                <a:latin typeface="Arial" panose="020B0604020202020204" pitchFamily="34" charset="0"/>
              </a:rPr>
              <a:t>: This bit must be set to 0 in burst mode </a:t>
            </a:r>
            <a:r>
              <a:rPr lang="en-US" sz="2800" dirty="0" smtClean="0">
                <a:solidFill>
                  <a:srgbClr val="000000"/>
                </a:solidFill>
                <a:latin typeface="Arial" panose="020B0604020202020204" pitchFamily="34" charset="0"/>
              </a:rPr>
              <a:t> </a:t>
            </a:r>
            <a:endParaRPr lang="en-US" sz="2800" dirty="0">
              <a:solidFill>
                <a:srgbClr val="000000"/>
              </a:solidFill>
              <a:latin typeface="Arial" panose="020B0604020202020204" pitchFamily="34" charset="0"/>
            </a:endParaRPr>
          </a:p>
          <a:p>
            <a:pPr marL="457200" indent="-457200" algn="just">
              <a:buFont typeface="Arial" panose="020B0604020202020204" pitchFamily="34" charset="0"/>
              <a:buChar char="•"/>
            </a:pPr>
            <a:r>
              <a:rPr lang="en-US" sz="2800" dirty="0" smtClean="0">
                <a:solidFill>
                  <a:srgbClr val="000000"/>
                </a:solidFill>
                <a:latin typeface="Arial" panose="020B0604020202020204" pitchFamily="34" charset="0"/>
              </a:rPr>
              <a:t>When set 1, only </a:t>
            </a:r>
            <a:r>
              <a:rPr lang="en-US" sz="2800" dirty="0">
                <a:solidFill>
                  <a:srgbClr val="000000"/>
                </a:solidFill>
                <a:latin typeface="Arial" panose="020B0604020202020204" pitchFamily="34" charset="0"/>
              </a:rPr>
              <a:t>the global DONE flag in ADDR is enabled to generate an interrupt</a:t>
            </a:r>
            <a:r>
              <a:rPr lang="en-US" sz="2800" dirty="0" smtClean="0">
                <a:solidFill>
                  <a:srgbClr val="000000"/>
                </a:solidFill>
                <a:latin typeface="Arial" panose="020B0604020202020204" pitchFamily="34" charset="0"/>
              </a:rPr>
              <a:t>.</a:t>
            </a:r>
          </a:p>
          <a:p>
            <a:pPr marL="457200" indent="-457200" algn="just">
              <a:buFont typeface="Arial" panose="020B0604020202020204" pitchFamily="34" charset="0"/>
              <a:buChar char="•"/>
            </a:pPr>
            <a:r>
              <a:rPr lang="en-US" sz="2800" dirty="0" smtClean="0">
                <a:solidFill>
                  <a:srgbClr val="000000"/>
                </a:solidFill>
                <a:latin typeface="Arial" panose="020B0604020202020204" pitchFamily="34" charset="0"/>
              </a:rPr>
              <a:t>Other bits: Reserved</a:t>
            </a:r>
            <a:endParaRPr lang="en-US" sz="2800" dirty="0">
              <a:solidFill>
                <a:srgbClr val="000000"/>
              </a:solidFill>
              <a:latin typeface="Arial" panose="020B0604020202020204" pitchFamily="34" charset="0"/>
            </a:endParaRPr>
          </a:p>
        </p:txBody>
      </p:sp>
    </p:spTree>
    <p:extLst>
      <p:ext uri="{BB962C8B-B14F-4D97-AF65-F5344CB8AC3E}">
        <p14:creationId xmlns:p14="http://schemas.microsoft.com/office/powerpoint/2010/main" val="2851592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91" y="1582341"/>
            <a:ext cx="10002981" cy="4154984"/>
          </a:xfrm>
          <a:prstGeom prst="rect">
            <a:avLst/>
          </a:prstGeom>
        </p:spPr>
        <p:txBody>
          <a:bodyPr wrap="square">
            <a:spAutoFit/>
          </a:bodyPr>
          <a:lstStyle/>
          <a:p>
            <a:pPr algn="just"/>
            <a:r>
              <a:rPr lang="en-US" sz="2400" b="1" dirty="0">
                <a:solidFill>
                  <a:srgbClr val="181818"/>
                </a:solidFill>
                <a:latin typeface="Open Sans"/>
              </a:rPr>
              <a:t>ADSTAT</a:t>
            </a:r>
            <a:r>
              <a:rPr lang="en-US" sz="2400" b="1" dirty="0">
                <a:solidFill>
                  <a:srgbClr val="333333"/>
                </a:solidFill>
                <a:latin typeface="Open Sans"/>
              </a:rPr>
              <a:t> – A/D Status register :</a:t>
            </a:r>
            <a:r>
              <a:rPr lang="en-US" sz="2400" dirty="0">
                <a:solidFill>
                  <a:srgbClr val="333333"/>
                </a:solidFill>
                <a:latin typeface="Open Sans"/>
              </a:rPr>
              <a:t> This register contains DONE and OVERRUN flags for all of the A/D channels along with A/D interrupt flag.</a:t>
            </a:r>
          </a:p>
          <a:p>
            <a:pPr marL="342900" indent="-342900" algn="just">
              <a:buFont typeface="Arial" panose="020B0604020202020204" pitchFamily="34" charset="0"/>
              <a:buChar char="•"/>
            </a:pPr>
            <a:r>
              <a:rPr lang="en-US" sz="2400" b="1" dirty="0">
                <a:solidFill>
                  <a:srgbClr val="333333"/>
                </a:solidFill>
                <a:latin typeface="Open Sans"/>
              </a:rPr>
              <a:t>Bits[7:0] – DONE[7 to 0]:</a:t>
            </a:r>
            <a:r>
              <a:rPr lang="en-US" sz="2400" dirty="0">
                <a:solidFill>
                  <a:srgbClr val="333333"/>
                </a:solidFill>
                <a:latin typeface="Open Sans"/>
              </a:rPr>
              <a:t> Here </a:t>
            </a:r>
            <a:r>
              <a:rPr lang="en-US" sz="2400" dirty="0" err="1">
                <a:solidFill>
                  <a:srgbClr val="333333"/>
                </a:solidFill>
                <a:latin typeface="Open Sans"/>
              </a:rPr>
              <a:t>xth</a:t>
            </a:r>
            <a:r>
              <a:rPr lang="en-US" sz="2400" dirty="0">
                <a:solidFill>
                  <a:srgbClr val="333333"/>
                </a:solidFill>
                <a:latin typeface="Open Sans"/>
              </a:rPr>
              <a:t> bit mirrors </a:t>
            </a:r>
            <a:r>
              <a:rPr lang="en-US" sz="2400" dirty="0" err="1">
                <a:solidFill>
                  <a:srgbClr val="333333"/>
                </a:solidFill>
                <a:latin typeface="Open Sans"/>
              </a:rPr>
              <a:t>DONEx</a:t>
            </a:r>
            <a:r>
              <a:rPr lang="en-US" sz="2400" dirty="0">
                <a:solidFill>
                  <a:srgbClr val="333333"/>
                </a:solidFill>
                <a:latin typeface="Open Sans"/>
              </a:rPr>
              <a:t> status flag from the result register for A/D channel x.</a:t>
            </a:r>
          </a:p>
          <a:p>
            <a:pPr marL="342900" indent="-342900" algn="just">
              <a:buFont typeface="Arial" panose="020B0604020202020204" pitchFamily="34" charset="0"/>
              <a:buChar char="•"/>
            </a:pPr>
            <a:r>
              <a:rPr lang="en-US" sz="2400" b="1" dirty="0">
                <a:solidFill>
                  <a:srgbClr val="333333"/>
                </a:solidFill>
                <a:latin typeface="Open Sans"/>
              </a:rPr>
              <a:t>Bits[15:8] – OVERRUN[7 to 0]:</a:t>
            </a:r>
            <a:r>
              <a:rPr lang="en-US" sz="2400" dirty="0">
                <a:solidFill>
                  <a:srgbClr val="333333"/>
                </a:solidFill>
                <a:latin typeface="Open Sans"/>
              </a:rPr>
              <a:t> Even here the </a:t>
            </a:r>
            <a:r>
              <a:rPr lang="en-US" sz="2400" dirty="0" err="1">
                <a:solidFill>
                  <a:srgbClr val="333333"/>
                </a:solidFill>
                <a:latin typeface="Open Sans"/>
              </a:rPr>
              <a:t>xth</a:t>
            </a:r>
            <a:r>
              <a:rPr lang="en-US" sz="2400" dirty="0">
                <a:solidFill>
                  <a:srgbClr val="333333"/>
                </a:solidFill>
                <a:latin typeface="Open Sans"/>
              </a:rPr>
              <a:t> bit mirrors </a:t>
            </a:r>
            <a:r>
              <a:rPr lang="en-US" sz="2400" dirty="0" err="1">
                <a:solidFill>
                  <a:srgbClr val="333333"/>
                </a:solidFill>
                <a:latin typeface="Open Sans"/>
              </a:rPr>
              <a:t>OVERRUNx</a:t>
            </a:r>
            <a:r>
              <a:rPr lang="en-US" sz="2400" dirty="0">
                <a:solidFill>
                  <a:srgbClr val="333333"/>
                </a:solidFill>
                <a:latin typeface="Open Sans"/>
              </a:rPr>
              <a:t> status flag from the result register for A/D channel x</a:t>
            </a:r>
          </a:p>
          <a:p>
            <a:pPr marL="342900" indent="-342900" algn="just">
              <a:buFont typeface="Arial" panose="020B0604020202020204" pitchFamily="34" charset="0"/>
              <a:buChar char="•"/>
            </a:pPr>
            <a:r>
              <a:rPr lang="en-US" sz="2400" b="1" dirty="0">
                <a:solidFill>
                  <a:srgbClr val="333333"/>
                </a:solidFill>
                <a:latin typeface="Open Sans"/>
              </a:rPr>
              <a:t>Bit 16 – ADINT:</a:t>
            </a:r>
            <a:r>
              <a:rPr lang="en-US" sz="2400" dirty="0">
                <a:solidFill>
                  <a:srgbClr val="333333"/>
                </a:solidFill>
                <a:latin typeface="Open Sans"/>
              </a:rPr>
              <a:t> This bit represents the A/D interrupt flag. It is 1 when any of the individual A/D channel DONE flags is asserted and enabled to contribute to the A/D interrupt via the ADINTEN(given below) register.</a:t>
            </a:r>
          </a:p>
          <a:p>
            <a:pPr marL="342900" indent="-342900" algn="just">
              <a:buFont typeface="Arial" panose="020B0604020202020204" pitchFamily="34" charset="0"/>
              <a:buChar char="•"/>
            </a:pPr>
            <a:r>
              <a:rPr lang="en-US" sz="2400" dirty="0">
                <a:solidFill>
                  <a:srgbClr val="333333"/>
                </a:solidFill>
                <a:latin typeface="Open Sans"/>
              </a:rPr>
              <a:t>Other bits are reserved.</a:t>
            </a:r>
            <a:endParaRPr lang="en-US" sz="2400" b="0" i="0" dirty="0">
              <a:solidFill>
                <a:srgbClr val="333333"/>
              </a:solidFill>
              <a:effectLst/>
              <a:latin typeface="Open Sans"/>
            </a:endParaRPr>
          </a:p>
        </p:txBody>
      </p:sp>
    </p:spTree>
    <p:extLst>
      <p:ext uri="{BB962C8B-B14F-4D97-AF65-F5344CB8AC3E}">
        <p14:creationId xmlns:p14="http://schemas.microsoft.com/office/powerpoint/2010/main" val="216952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964" y="1138766"/>
            <a:ext cx="10501745" cy="3108543"/>
          </a:xfrm>
          <a:prstGeom prst="rect">
            <a:avLst/>
          </a:prstGeom>
        </p:spPr>
        <p:txBody>
          <a:bodyPr wrap="square">
            <a:spAutoFit/>
          </a:bodyPr>
          <a:lstStyle/>
          <a:p>
            <a:pPr algn="just"/>
            <a:r>
              <a:rPr lang="en-US" sz="2800" b="1" dirty="0">
                <a:solidFill>
                  <a:srgbClr val="40454D"/>
                </a:solidFill>
                <a:latin typeface="Open Sans"/>
              </a:rPr>
              <a:t>ADC modes in </a:t>
            </a:r>
            <a:r>
              <a:rPr lang="en-US" sz="2800" b="1" dirty="0" smtClean="0">
                <a:solidFill>
                  <a:srgbClr val="40454D"/>
                </a:solidFill>
                <a:latin typeface="Open Sans"/>
              </a:rPr>
              <a:t>LPC1768:</a:t>
            </a:r>
            <a:endParaRPr lang="en-US" sz="2800" b="1" dirty="0">
              <a:solidFill>
                <a:srgbClr val="40454D"/>
              </a:solidFill>
              <a:latin typeface="Open Sans"/>
            </a:endParaRPr>
          </a:p>
          <a:p>
            <a:pPr algn="just">
              <a:buFont typeface="+mj-lt"/>
              <a:buAutoNum type="arabicPeriod"/>
            </a:pPr>
            <a:r>
              <a:rPr lang="en-US" sz="2800" b="1" dirty="0">
                <a:solidFill>
                  <a:srgbClr val="42424E"/>
                </a:solidFill>
                <a:latin typeface="Open Sans"/>
              </a:rPr>
              <a:t>Software controlled mode :</a:t>
            </a:r>
            <a:r>
              <a:rPr lang="en-US" sz="2800" dirty="0">
                <a:solidFill>
                  <a:srgbClr val="42424E"/>
                </a:solidFill>
                <a:latin typeface="Open Sans"/>
              </a:rPr>
              <a:t> In Software mode only one conversion will be done at a time. To perform another conversion </a:t>
            </a:r>
            <a:r>
              <a:rPr lang="en-US" sz="2800" dirty="0" smtClean="0">
                <a:solidFill>
                  <a:srgbClr val="42424E"/>
                </a:solidFill>
                <a:latin typeface="Open Sans"/>
              </a:rPr>
              <a:t>we </a:t>
            </a:r>
            <a:r>
              <a:rPr lang="en-US" sz="2800" dirty="0">
                <a:solidFill>
                  <a:srgbClr val="42424E"/>
                </a:solidFill>
                <a:latin typeface="Open Sans"/>
              </a:rPr>
              <a:t>need to re-initiate the process. In software mode, only 1 bit in the SEL field of ADCR can be 1 i.e. only 1 Channel(i.e. Pin) can be selected for conversion at a time. Hence conversions can be done only any channel but one at a time.</a:t>
            </a:r>
            <a:endParaRPr lang="en-US" sz="2800" b="0" i="0" dirty="0">
              <a:solidFill>
                <a:srgbClr val="42424E"/>
              </a:solidFill>
              <a:effectLst/>
              <a:latin typeface="Open Sans"/>
            </a:endParaRPr>
          </a:p>
        </p:txBody>
      </p:sp>
    </p:spTree>
    <p:extLst>
      <p:ext uri="{BB962C8B-B14F-4D97-AF65-F5344CB8AC3E}">
        <p14:creationId xmlns:p14="http://schemas.microsoft.com/office/powerpoint/2010/main" val="3057002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2110" y="709367"/>
            <a:ext cx="10335490" cy="3970318"/>
          </a:xfrm>
          <a:prstGeom prst="rect">
            <a:avLst/>
          </a:prstGeom>
        </p:spPr>
        <p:txBody>
          <a:bodyPr wrap="square">
            <a:spAutoFit/>
          </a:bodyPr>
          <a:lstStyle/>
          <a:p>
            <a:pPr algn="just"/>
            <a:r>
              <a:rPr lang="en-US" sz="2800" b="1" i="0" dirty="0" smtClean="0">
                <a:solidFill>
                  <a:srgbClr val="42424E"/>
                </a:solidFill>
                <a:effectLst/>
                <a:latin typeface="Open Sans"/>
              </a:rPr>
              <a:t>2. Burst </a:t>
            </a:r>
            <a:r>
              <a:rPr lang="en-US" sz="2800" b="1" i="0" dirty="0" smtClean="0">
                <a:solidFill>
                  <a:srgbClr val="42424E"/>
                </a:solidFill>
                <a:effectLst/>
                <a:latin typeface="Open Sans"/>
              </a:rPr>
              <a:t>or Hardware mode :</a:t>
            </a:r>
            <a:r>
              <a:rPr lang="en-US" sz="2800" b="0" i="0" dirty="0" smtClean="0">
                <a:solidFill>
                  <a:srgbClr val="42424E"/>
                </a:solidFill>
                <a:effectLst/>
                <a:latin typeface="Open Sans"/>
              </a:rPr>
              <a:t> In Burst or Hardware </a:t>
            </a:r>
            <a:r>
              <a:rPr lang="en-US" sz="2800" b="0" i="0" dirty="0" smtClean="0">
                <a:solidFill>
                  <a:srgbClr val="42424E"/>
                </a:solidFill>
                <a:effectLst/>
                <a:latin typeface="Open Sans"/>
              </a:rPr>
              <a:t>mode, </a:t>
            </a:r>
            <a:r>
              <a:rPr lang="en-US" sz="2800" b="0" i="0" dirty="0" smtClean="0">
                <a:solidFill>
                  <a:srgbClr val="42424E"/>
                </a:solidFill>
                <a:effectLst/>
                <a:latin typeface="Open Sans"/>
              </a:rPr>
              <a:t>conversions are performed continuously on the selected channels in round-robin fashion. Since the conversions cannot be controlled by software, Overrun may occur in this mode. Overrun is the case when a previous conversion result is replaced by new conversion result without previous result being read i.e. the conversion is lost. Usually an interrupt is used in Burst mode to get the latest conversion results. This interrupt is triggered when conversion in one of the selected channel ends.</a:t>
            </a:r>
            <a:endParaRPr lang="en-US" sz="2800" dirty="0"/>
          </a:p>
        </p:txBody>
      </p:sp>
    </p:spTree>
    <p:extLst>
      <p:ext uri="{BB962C8B-B14F-4D97-AF65-F5344CB8AC3E}">
        <p14:creationId xmlns:p14="http://schemas.microsoft.com/office/powerpoint/2010/main" val="2330636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91" y="487326"/>
            <a:ext cx="10917381" cy="523220"/>
          </a:xfrm>
          <a:prstGeom prst="rect">
            <a:avLst/>
          </a:prstGeom>
        </p:spPr>
        <p:txBody>
          <a:bodyPr wrap="square">
            <a:spAutoFit/>
          </a:bodyPr>
          <a:lstStyle/>
          <a:p>
            <a:r>
              <a:rPr lang="en-US" sz="2800" b="1" dirty="0"/>
              <a:t>Setting up and configuring ADC Module for software controlled mode</a:t>
            </a:r>
          </a:p>
        </p:txBody>
      </p:sp>
      <p:sp>
        <p:nvSpPr>
          <p:cNvPr id="3" name="Rectangle 2"/>
          <p:cNvSpPr/>
          <p:nvPr/>
        </p:nvSpPr>
        <p:spPr>
          <a:xfrm>
            <a:off x="1302327" y="1387871"/>
            <a:ext cx="10058399" cy="3539430"/>
          </a:xfrm>
          <a:prstGeom prst="rect">
            <a:avLst/>
          </a:prstGeom>
        </p:spPr>
        <p:txBody>
          <a:bodyPr wrap="square">
            <a:spAutoFit/>
          </a:bodyPr>
          <a:lstStyle/>
          <a:p>
            <a:pPr marL="457200" indent="-457200" algn="just">
              <a:buFont typeface="Arial" panose="020B0604020202020204" pitchFamily="34" charset="0"/>
              <a:buChar char="•"/>
            </a:pPr>
            <a:r>
              <a:rPr lang="en-US" sz="2800" dirty="0" smtClean="0"/>
              <a:t>Configure the appropriate PINSEL register for the desired function depending on the channel used. </a:t>
            </a:r>
          </a:p>
          <a:p>
            <a:pPr marL="457200" indent="-457200" algn="just">
              <a:buFont typeface="Arial" panose="020B0604020202020204" pitchFamily="34" charset="0"/>
              <a:buChar char="•"/>
            </a:pPr>
            <a:r>
              <a:rPr lang="en-US" sz="2800" dirty="0" smtClean="0"/>
              <a:t>To power up the ADC first the corresponding bit PCONP register must be set and then the PDN bit in ADCR must be set. </a:t>
            </a:r>
          </a:p>
          <a:p>
            <a:pPr marL="457200" indent="-457200" algn="just">
              <a:buFont typeface="Arial" panose="020B0604020202020204" pitchFamily="34" charset="0"/>
              <a:buChar char="•"/>
            </a:pPr>
            <a:r>
              <a:rPr lang="en-US" sz="2800" dirty="0" smtClean="0"/>
              <a:t>Also the bit corresponding to the channel and the START bit must be set </a:t>
            </a:r>
            <a:endParaRPr lang="en-US" sz="2800" dirty="0"/>
          </a:p>
          <a:p>
            <a:pPr algn="just"/>
            <a:r>
              <a:rPr lang="en-US" sz="2800" dirty="0"/>
              <a:t>	  LPC_SC-&gt;PCONP |= (1&lt;&lt;12);	</a:t>
            </a:r>
            <a:endParaRPr lang="en-US" sz="2800" dirty="0" smtClean="0"/>
          </a:p>
          <a:p>
            <a:pPr algn="just"/>
            <a:r>
              <a:rPr lang="en-US" sz="2800" dirty="0" smtClean="0"/>
              <a:t>           LPC_ADC-</a:t>
            </a:r>
            <a:r>
              <a:rPr lang="en-US" sz="2800" dirty="0"/>
              <a:t>&gt;ADCR = (1&lt;&lt;4)|(1&lt;&lt;21)|(1&lt;&lt;24</a:t>
            </a:r>
            <a:r>
              <a:rPr lang="en-US" sz="2800" dirty="0" smtClean="0"/>
              <a:t>) // channel ADC0.4</a:t>
            </a:r>
            <a:endParaRPr lang="en-US" sz="2800" dirty="0"/>
          </a:p>
        </p:txBody>
      </p:sp>
    </p:spTree>
    <p:extLst>
      <p:ext uri="{BB962C8B-B14F-4D97-AF65-F5344CB8AC3E}">
        <p14:creationId xmlns:p14="http://schemas.microsoft.com/office/powerpoint/2010/main" val="2130189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0436" y="847820"/>
            <a:ext cx="10474037" cy="4832092"/>
          </a:xfrm>
          <a:prstGeom prst="rect">
            <a:avLst/>
          </a:prstGeom>
        </p:spPr>
        <p:txBody>
          <a:bodyPr wrap="square">
            <a:spAutoFit/>
          </a:bodyPr>
          <a:lstStyle/>
          <a:p>
            <a:r>
              <a:rPr lang="en-US" sz="2800" b="1" dirty="0">
                <a:solidFill>
                  <a:srgbClr val="40454D"/>
                </a:solidFill>
                <a:latin typeface="Open Sans"/>
              </a:rPr>
              <a:t>Fetching the conversion result in software controlled mode :</a:t>
            </a:r>
          </a:p>
          <a:p>
            <a:r>
              <a:rPr lang="en-US" sz="2800" dirty="0">
                <a:solidFill>
                  <a:srgbClr val="42424E"/>
                </a:solidFill>
                <a:latin typeface="Open Sans"/>
              </a:rPr>
              <a:t>In software controlled mode we continuously monitor bit 31 in the corresponding channel data register ADDR. If bit 31 changes to 1 from 0, it means that current conversion has been completed and the result is ready. For example, if we are using channel </a:t>
            </a:r>
            <a:r>
              <a:rPr lang="en-US" sz="2800" dirty="0" smtClean="0">
                <a:solidFill>
                  <a:srgbClr val="42424E"/>
                </a:solidFill>
                <a:latin typeface="Open Sans"/>
              </a:rPr>
              <a:t>4 </a:t>
            </a:r>
            <a:r>
              <a:rPr lang="en-US" sz="2800" dirty="0">
                <a:solidFill>
                  <a:srgbClr val="42424E"/>
                </a:solidFill>
                <a:latin typeface="Open Sans"/>
              </a:rPr>
              <a:t>of AD0 then we monitor for changes in bit 31 as follows </a:t>
            </a:r>
            <a:r>
              <a:rPr lang="en-US" sz="2800" dirty="0" smtClean="0">
                <a:solidFill>
                  <a:srgbClr val="42424E"/>
                </a:solidFill>
                <a:latin typeface="Open Sans"/>
              </a:rPr>
              <a:t>:</a:t>
            </a:r>
          </a:p>
          <a:p>
            <a:endParaRPr lang="en-US" sz="2800" dirty="0" smtClean="0">
              <a:solidFill>
                <a:srgbClr val="42424E"/>
              </a:solidFill>
              <a:latin typeface="Open Sans"/>
            </a:endParaRPr>
          </a:p>
          <a:p>
            <a:r>
              <a:rPr lang="en-US" sz="2800" dirty="0">
                <a:solidFill>
                  <a:srgbClr val="42424E"/>
                </a:solidFill>
                <a:latin typeface="Open Sans"/>
              </a:rPr>
              <a:t>while</a:t>
            </a:r>
            <a:r>
              <a:rPr lang="en-US" sz="2800" dirty="0" smtClean="0">
                <a:solidFill>
                  <a:srgbClr val="42424E"/>
                </a:solidFill>
                <a:latin typeface="Open Sans"/>
              </a:rPr>
              <a:t>(!(LPC_ADC-</a:t>
            </a:r>
            <a:r>
              <a:rPr lang="en-US" sz="2800" dirty="0">
                <a:solidFill>
                  <a:srgbClr val="42424E"/>
                </a:solidFill>
                <a:latin typeface="Open Sans"/>
              </a:rPr>
              <a:t>&gt;</a:t>
            </a:r>
            <a:r>
              <a:rPr lang="en-US" sz="2800" dirty="0" smtClean="0">
                <a:solidFill>
                  <a:srgbClr val="42424E"/>
                </a:solidFill>
                <a:latin typeface="Open Sans"/>
              </a:rPr>
              <a:t>ADDR4 &amp; 1&lt;&lt;31));</a:t>
            </a:r>
          </a:p>
          <a:p>
            <a:endParaRPr lang="en-US" sz="2800" dirty="0">
              <a:solidFill>
                <a:srgbClr val="42424E"/>
              </a:solidFill>
              <a:latin typeface="Open Sans"/>
            </a:endParaRPr>
          </a:p>
          <a:p>
            <a:r>
              <a:rPr lang="en-US" sz="2800" dirty="0" smtClean="0">
                <a:solidFill>
                  <a:srgbClr val="42424E"/>
                </a:solidFill>
                <a:latin typeface="Open Sans"/>
              </a:rPr>
              <a:t>Then the result is extracted as follows:</a:t>
            </a:r>
          </a:p>
          <a:p>
            <a:r>
              <a:rPr lang="en-US" sz="2800" dirty="0" err="1">
                <a:solidFill>
                  <a:srgbClr val="42424E"/>
                </a:solidFill>
                <a:latin typeface="Open Sans"/>
              </a:rPr>
              <a:t>adc_temp</a:t>
            </a:r>
            <a:r>
              <a:rPr lang="en-US" sz="2800" dirty="0">
                <a:solidFill>
                  <a:srgbClr val="42424E"/>
                </a:solidFill>
                <a:latin typeface="Open Sans"/>
              </a:rPr>
              <a:t> = </a:t>
            </a:r>
            <a:r>
              <a:rPr lang="en-US" sz="2800" dirty="0" smtClean="0">
                <a:solidFill>
                  <a:srgbClr val="42424E"/>
                </a:solidFill>
                <a:latin typeface="Open Sans"/>
              </a:rPr>
              <a:t>(LPC_ADC-</a:t>
            </a:r>
            <a:r>
              <a:rPr lang="en-US" sz="2800" dirty="0">
                <a:solidFill>
                  <a:srgbClr val="42424E"/>
                </a:solidFill>
                <a:latin typeface="Open Sans"/>
              </a:rPr>
              <a:t>&gt;</a:t>
            </a:r>
            <a:r>
              <a:rPr lang="en-US" sz="2800" dirty="0" smtClean="0">
                <a:solidFill>
                  <a:srgbClr val="42424E"/>
                </a:solidFill>
                <a:latin typeface="Open Sans"/>
              </a:rPr>
              <a:t>ADDR4&gt;&gt;4) &amp; 0xFFF;</a:t>
            </a:r>
            <a:endParaRPr lang="en-US" sz="2800" dirty="0">
              <a:solidFill>
                <a:srgbClr val="42424E"/>
              </a:solidFill>
              <a:latin typeface="Open Sans"/>
            </a:endParaRPr>
          </a:p>
        </p:txBody>
      </p:sp>
    </p:spTree>
    <p:extLst>
      <p:ext uri="{BB962C8B-B14F-4D97-AF65-F5344CB8AC3E}">
        <p14:creationId xmlns:p14="http://schemas.microsoft.com/office/powerpoint/2010/main" val="255771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2946" y="889107"/>
            <a:ext cx="10266218" cy="523220"/>
          </a:xfrm>
          <a:prstGeom prst="rect">
            <a:avLst/>
          </a:prstGeom>
        </p:spPr>
        <p:txBody>
          <a:bodyPr wrap="square">
            <a:spAutoFit/>
          </a:bodyPr>
          <a:lstStyle/>
          <a:p>
            <a:r>
              <a:rPr lang="en-US" sz="2800" b="1" dirty="0">
                <a:solidFill>
                  <a:srgbClr val="40454D"/>
                </a:solidFill>
                <a:latin typeface="Open Sans"/>
              </a:rPr>
              <a:t>Setting up and configuring ADC Module for Burst mode</a:t>
            </a:r>
            <a:endParaRPr lang="en-US" sz="2800" b="1" i="0" dirty="0">
              <a:solidFill>
                <a:srgbClr val="40454D"/>
              </a:solidFill>
              <a:effectLst/>
              <a:latin typeface="Open Sans"/>
            </a:endParaRPr>
          </a:p>
        </p:txBody>
      </p:sp>
      <p:sp>
        <p:nvSpPr>
          <p:cNvPr id="3" name="Rectangle 2"/>
          <p:cNvSpPr/>
          <p:nvPr/>
        </p:nvSpPr>
        <p:spPr>
          <a:xfrm>
            <a:off x="1219199" y="1734418"/>
            <a:ext cx="9504218" cy="2554545"/>
          </a:xfrm>
          <a:prstGeom prst="rect">
            <a:avLst/>
          </a:prstGeom>
        </p:spPr>
        <p:txBody>
          <a:bodyPr wrap="square">
            <a:spAutoFit/>
          </a:bodyPr>
          <a:lstStyle/>
          <a:p>
            <a:pPr algn="just"/>
            <a:r>
              <a:rPr lang="en-US" sz="3200" b="0" i="0" dirty="0" smtClean="0">
                <a:solidFill>
                  <a:srgbClr val="42424E"/>
                </a:solidFill>
                <a:effectLst/>
                <a:latin typeface="Open Sans"/>
              </a:rPr>
              <a:t>In burst mode the </a:t>
            </a:r>
            <a:r>
              <a:rPr lang="en-US" sz="3200" b="0" i="0" dirty="0" smtClean="0">
                <a:solidFill>
                  <a:srgbClr val="42424E"/>
                </a:solidFill>
                <a:effectLst/>
                <a:latin typeface="Open Sans"/>
              </a:rPr>
              <a:t>START </a:t>
            </a:r>
            <a:r>
              <a:rPr lang="en-US" sz="3200" b="0" i="0" dirty="0" smtClean="0">
                <a:solidFill>
                  <a:srgbClr val="42424E"/>
                </a:solidFill>
                <a:effectLst/>
                <a:latin typeface="Open Sans"/>
              </a:rPr>
              <a:t>bit </a:t>
            </a:r>
            <a:r>
              <a:rPr lang="en-US" sz="3200" b="0" i="0" dirty="0" smtClean="0">
                <a:solidFill>
                  <a:srgbClr val="42424E"/>
                </a:solidFill>
                <a:effectLst/>
                <a:latin typeface="Open Sans"/>
              </a:rPr>
              <a:t>in </a:t>
            </a:r>
            <a:r>
              <a:rPr lang="en-US" sz="3200" b="0" i="0" dirty="0" smtClean="0">
                <a:solidFill>
                  <a:srgbClr val="42424E"/>
                </a:solidFill>
                <a:effectLst/>
                <a:latin typeface="Open Sans"/>
              </a:rPr>
              <a:t>ADCR is not used. </a:t>
            </a:r>
            <a:r>
              <a:rPr lang="en-US" sz="3200" b="0" i="0" dirty="0" smtClean="0">
                <a:effectLst/>
                <a:latin typeface="Open Sans"/>
              </a:rPr>
              <a:t> </a:t>
            </a:r>
            <a:r>
              <a:rPr lang="en-US" sz="3200" dirty="0" smtClean="0">
                <a:solidFill>
                  <a:srgbClr val="42424E"/>
                </a:solidFill>
                <a:latin typeface="Open Sans"/>
              </a:rPr>
              <a:t>In </a:t>
            </a:r>
            <a:r>
              <a:rPr lang="en-US" sz="3200" dirty="0">
                <a:solidFill>
                  <a:srgbClr val="42424E"/>
                </a:solidFill>
                <a:latin typeface="Open Sans"/>
              </a:rPr>
              <a:t>this case we can select multiple channels for conversion when setting up </a:t>
            </a:r>
            <a:r>
              <a:rPr lang="en-US" sz="3200" dirty="0" smtClean="0">
                <a:solidFill>
                  <a:srgbClr val="42424E"/>
                </a:solidFill>
                <a:latin typeface="Open Sans"/>
              </a:rPr>
              <a:t>ADCR. The </a:t>
            </a:r>
            <a:r>
              <a:rPr lang="en-US" sz="3200" dirty="0">
                <a:solidFill>
                  <a:srgbClr val="42424E"/>
                </a:solidFill>
                <a:latin typeface="Open Sans"/>
              </a:rPr>
              <a:t>conversions </a:t>
            </a:r>
            <a:r>
              <a:rPr lang="en-US" sz="3200" dirty="0" smtClean="0">
                <a:solidFill>
                  <a:srgbClr val="42424E"/>
                </a:solidFill>
                <a:latin typeface="Open Sans"/>
              </a:rPr>
              <a:t>start </a:t>
            </a:r>
            <a:r>
              <a:rPr lang="en-US" sz="3200" dirty="0">
                <a:solidFill>
                  <a:srgbClr val="42424E"/>
                </a:solidFill>
                <a:latin typeface="Open Sans"/>
              </a:rPr>
              <a:t>as soon </a:t>
            </a:r>
            <a:r>
              <a:rPr lang="en-US" sz="3200" dirty="0" smtClean="0">
                <a:solidFill>
                  <a:srgbClr val="42424E"/>
                </a:solidFill>
                <a:latin typeface="Open Sans"/>
              </a:rPr>
              <a:t>the ADCR is setup.</a:t>
            </a:r>
            <a:endParaRPr lang="en-US" sz="3200" dirty="0"/>
          </a:p>
          <a:p>
            <a:pPr algn="just"/>
            <a:endParaRPr lang="en-US" sz="3200" dirty="0"/>
          </a:p>
        </p:txBody>
      </p:sp>
    </p:spTree>
    <p:extLst>
      <p:ext uri="{BB962C8B-B14F-4D97-AF65-F5344CB8AC3E}">
        <p14:creationId xmlns:p14="http://schemas.microsoft.com/office/powerpoint/2010/main" val="156211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2945" y="1290935"/>
            <a:ext cx="10293928" cy="2246769"/>
          </a:xfrm>
          <a:prstGeom prst="rect">
            <a:avLst/>
          </a:prstGeom>
        </p:spPr>
        <p:txBody>
          <a:bodyPr wrap="square">
            <a:spAutoFit/>
          </a:bodyPr>
          <a:lstStyle/>
          <a:p>
            <a:r>
              <a:rPr lang="en-US" sz="2800" dirty="0" smtClean="0"/>
              <a:t>First the PINSEL register must be configured. Then configure the ADCR and ADINTEN as follows:</a:t>
            </a:r>
          </a:p>
          <a:p>
            <a:r>
              <a:rPr lang="en-US" sz="2800" dirty="0" smtClean="0"/>
              <a:t>LPC_ADC-</a:t>
            </a:r>
            <a:r>
              <a:rPr lang="en-US" sz="2800" dirty="0"/>
              <a:t>&gt;ADCR = (1 &lt;&lt; 4 | 1 &lt;&lt; 5 | 1 &lt;&lt; 16 | 1 &lt;&lt; 21);    //AD0.4. AD0.5, Burst, PDN</a:t>
            </a:r>
          </a:p>
          <a:p>
            <a:r>
              <a:rPr lang="en-US" sz="2800" dirty="0" smtClean="0"/>
              <a:t>LPC_ADC-</a:t>
            </a:r>
            <a:r>
              <a:rPr lang="en-US" sz="2800" dirty="0"/>
              <a:t>&gt;ADINTEN = (1 &lt;&lt; 4 | 1 &lt;&lt; 5);   //Enable </a:t>
            </a:r>
            <a:r>
              <a:rPr lang="en-US" sz="2800" dirty="0" err="1"/>
              <a:t>int</a:t>
            </a:r>
            <a:endParaRPr lang="en-US" sz="2800" dirty="0"/>
          </a:p>
        </p:txBody>
      </p:sp>
    </p:spTree>
    <p:extLst>
      <p:ext uri="{BB962C8B-B14F-4D97-AF65-F5344CB8AC3E}">
        <p14:creationId xmlns:p14="http://schemas.microsoft.com/office/powerpoint/2010/main" val="3019068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7636" y="481829"/>
            <a:ext cx="9850582" cy="2677656"/>
          </a:xfrm>
          <a:prstGeom prst="rect">
            <a:avLst/>
          </a:prstGeom>
        </p:spPr>
        <p:txBody>
          <a:bodyPr wrap="square">
            <a:spAutoFit/>
          </a:bodyPr>
          <a:lstStyle/>
          <a:p>
            <a:pPr algn="just"/>
            <a:r>
              <a:rPr lang="en-US" sz="2800" b="0" i="0" dirty="0" smtClean="0">
                <a:solidFill>
                  <a:srgbClr val="42424E"/>
                </a:solidFill>
                <a:effectLst/>
                <a:latin typeface="Open Sans"/>
              </a:rPr>
              <a:t>In Burst mode we use an ISR which triggers at the completion of a conversion in any one of the channel. </a:t>
            </a:r>
            <a:r>
              <a:rPr lang="en-US" sz="2800" b="0" i="0" dirty="0" smtClean="0">
                <a:solidFill>
                  <a:srgbClr val="42424E"/>
                </a:solidFill>
                <a:effectLst/>
                <a:latin typeface="Open Sans"/>
              </a:rPr>
              <a:t>Now, </a:t>
            </a:r>
            <a:r>
              <a:rPr lang="en-US" sz="2800" b="0" i="0" dirty="0" smtClean="0">
                <a:solidFill>
                  <a:srgbClr val="42424E"/>
                </a:solidFill>
                <a:effectLst/>
                <a:latin typeface="Open Sans"/>
              </a:rPr>
              <a:t>we just need to find the Channel for which the conversion was done. For this we fetch the channel number from </a:t>
            </a:r>
            <a:r>
              <a:rPr lang="en-US" sz="2800" b="0" i="0" dirty="0" smtClean="0">
                <a:solidFill>
                  <a:srgbClr val="42424E"/>
                </a:solidFill>
                <a:effectLst/>
                <a:latin typeface="Open Sans"/>
              </a:rPr>
              <a:t>ADGDR </a:t>
            </a:r>
            <a:r>
              <a:rPr lang="en-US" sz="2800" b="0" i="0" dirty="0" smtClean="0">
                <a:solidFill>
                  <a:srgbClr val="42424E"/>
                </a:solidFill>
                <a:effectLst/>
                <a:latin typeface="Open Sans"/>
              </a:rPr>
              <a:t>which also stores the conversion result</a:t>
            </a:r>
            <a:r>
              <a:rPr lang="en-US" sz="2800" b="0" i="0" dirty="0" smtClean="0">
                <a:solidFill>
                  <a:srgbClr val="42424E"/>
                </a:solidFill>
                <a:effectLst/>
                <a:latin typeface="Open Sans"/>
              </a:rPr>
              <a:t>. This can be read as follows:  </a:t>
            </a:r>
            <a:endParaRPr lang="en-US" sz="2800" dirty="0"/>
          </a:p>
        </p:txBody>
      </p:sp>
      <p:sp>
        <p:nvSpPr>
          <p:cNvPr id="3" name="Rectangle 2"/>
          <p:cNvSpPr/>
          <p:nvPr/>
        </p:nvSpPr>
        <p:spPr>
          <a:xfrm>
            <a:off x="1177637" y="3382926"/>
            <a:ext cx="9975272" cy="954107"/>
          </a:xfrm>
          <a:prstGeom prst="rect">
            <a:avLst/>
          </a:prstGeom>
        </p:spPr>
        <p:txBody>
          <a:bodyPr wrap="square">
            <a:spAutoFit/>
          </a:bodyPr>
          <a:lstStyle/>
          <a:p>
            <a:r>
              <a:rPr lang="en-US" sz="2800" dirty="0" err="1">
                <a:latin typeface="Monaco"/>
              </a:rPr>
              <a:t>i</a:t>
            </a:r>
            <a:r>
              <a:rPr lang="en-US" sz="2800" dirty="0" err="1" smtClean="0">
                <a:latin typeface="Monaco"/>
              </a:rPr>
              <a:t>nt</a:t>
            </a:r>
            <a:r>
              <a:rPr lang="en-US" sz="2800" dirty="0" smtClean="0">
                <a:latin typeface="Monaco"/>
              </a:rPr>
              <a:t> channel</a:t>
            </a:r>
            <a:r>
              <a:rPr lang="en-US" sz="2800" b="0" i="0" dirty="0" smtClean="0">
                <a:effectLst/>
                <a:latin typeface="Monaco"/>
              </a:rPr>
              <a:t>= (LPC_ADC-&gt;ADGDR&gt;&gt;24) &amp; 0x7; //Extract Channel Number</a:t>
            </a:r>
            <a:endParaRPr lang="en-US" sz="2800" dirty="0"/>
          </a:p>
        </p:txBody>
      </p:sp>
    </p:spTree>
    <p:extLst>
      <p:ext uri="{BB962C8B-B14F-4D97-AF65-F5344CB8AC3E}">
        <p14:creationId xmlns:p14="http://schemas.microsoft.com/office/powerpoint/2010/main" val="1276683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91" y="694173"/>
            <a:ext cx="10238509" cy="1384995"/>
          </a:xfrm>
          <a:prstGeom prst="rect">
            <a:avLst/>
          </a:prstGeom>
        </p:spPr>
        <p:txBody>
          <a:bodyPr wrap="square">
            <a:spAutoFit/>
          </a:bodyPr>
          <a:lstStyle/>
          <a:p>
            <a:pPr algn="just"/>
            <a:r>
              <a:rPr lang="en-US" sz="2800" b="0" i="0" dirty="0" smtClean="0">
                <a:solidFill>
                  <a:srgbClr val="42424E"/>
                </a:solidFill>
                <a:effectLst/>
                <a:latin typeface="Open Sans"/>
              </a:rPr>
              <a:t>After knowing the Channel number, we have 2 options to fetch the conversion result from. Either we can fetch it from </a:t>
            </a:r>
            <a:r>
              <a:rPr lang="en-US" sz="2800" b="0" i="0" dirty="0" smtClean="0">
                <a:solidFill>
                  <a:srgbClr val="42424E"/>
                </a:solidFill>
                <a:effectLst/>
                <a:latin typeface="Open Sans"/>
              </a:rPr>
              <a:t>ADGDR </a:t>
            </a:r>
            <a:r>
              <a:rPr lang="en-US" sz="2800" b="0" i="0" dirty="0" smtClean="0">
                <a:solidFill>
                  <a:srgbClr val="42424E"/>
                </a:solidFill>
                <a:effectLst/>
                <a:latin typeface="Open Sans"/>
              </a:rPr>
              <a:t>or from </a:t>
            </a:r>
            <a:r>
              <a:rPr lang="en-US" sz="2800" b="0" i="0" dirty="0" err="1" smtClean="0">
                <a:solidFill>
                  <a:srgbClr val="42424E"/>
                </a:solidFill>
                <a:effectLst/>
                <a:latin typeface="Open Sans"/>
              </a:rPr>
              <a:t>ADDRx</a:t>
            </a:r>
            <a:r>
              <a:rPr lang="en-US" sz="2800" b="0" i="0" dirty="0" smtClean="0">
                <a:solidFill>
                  <a:srgbClr val="42424E"/>
                </a:solidFill>
                <a:effectLst/>
                <a:latin typeface="Open Sans"/>
              </a:rPr>
              <a:t> </a:t>
            </a:r>
            <a:r>
              <a:rPr lang="en-US" sz="2800" b="0" i="0" dirty="0" smtClean="0">
                <a:solidFill>
                  <a:srgbClr val="42424E"/>
                </a:solidFill>
                <a:effectLst/>
                <a:latin typeface="Open Sans"/>
              </a:rPr>
              <a:t>of the corresponding channel. </a:t>
            </a:r>
            <a:r>
              <a:rPr lang="en-US" sz="2800" b="0" i="0" dirty="0" smtClean="0">
                <a:solidFill>
                  <a:srgbClr val="42424E"/>
                </a:solidFill>
                <a:effectLst/>
                <a:latin typeface="Open Sans"/>
              </a:rPr>
              <a:t> </a:t>
            </a:r>
            <a:endParaRPr lang="en-US" sz="2800" dirty="0"/>
          </a:p>
        </p:txBody>
      </p:sp>
      <p:sp>
        <p:nvSpPr>
          <p:cNvPr id="3" name="Rectangle 2"/>
          <p:cNvSpPr/>
          <p:nvPr/>
        </p:nvSpPr>
        <p:spPr>
          <a:xfrm>
            <a:off x="1039091" y="2415417"/>
            <a:ext cx="10127673" cy="954107"/>
          </a:xfrm>
          <a:prstGeom prst="rect">
            <a:avLst/>
          </a:prstGeom>
        </p:spPr>
        <p:txBody>
          <a:bodyPr wrap="square">
            <a:spAutoFit/>
          </a:bodyPr>
          <a:lstStyle/>
          <a:p>
            <a:pPr algn="just"/>
            <a:r>
              <a:rPr lang="en-US" sz="2800" dirty="0" smtClean="0">
                <a:latin typeface="Monaco"/>
              </a:rPr>
              <a:t>u</a:t>
            </a:r>
            <a:r>
              <a:rPr lang="en-US" sz="2800" b="0" i="0" dirty="0" smtClean="0">
                <a:effectLst/>
                <a:latin typeface="Monaco"/>
              </a:rPr>
              <a:t>nsigned long </a:t>
            </a:r>
            <a:r>
              <a:rPr lang="en-US" sz="2800" dirty="0">
                <a:latin typeface="Monaco"/>
              </a:rPr>
              <a:t>t = </a:t>
            </a:r>
            <a:r>
              <a:rPr lang="en-US" sz="2800" dirty="0" smtClean="0">
                <a:latin typeface="Monaco"/>
              </a:rPr>
              <a:t>LPC_ADC-</a:t>
            </a:r>
            <a:r>
              <a:rPr lang="en-US" sz="2800" dirty="0">
                <a:latin typeface="Monaco"/>
              </a:rPr>
              <a:t>&gt;ADGDR </a:t>
            </a:r>
            <a:endParaRPr lang="en-US" sz="2800" dirty="0" smtClean="0">
              <a:latin typeface="Monaco"/>
            </a:endParaRPr>
          </a:p>
          <a:p>
            <a:pPr algn="just"/>
            <a:r>
              <a:rPr lang="en-US" sz="2800" b="0" i="0" dirty="0" err="1" smtClean="0">
                <a:effectLst/>
                <a:latin typeface="Monaco"/>
              </a:rPr>
              <a:t>int</a:t>
            </a:r>
            <a:r>
              <a:rPr lang="en-US" sz="2800" b="0" i="0" dirty="0" smtClean="0">
                <a:effectLst/>
                <a:latin typeface="Monaco"/>
              </a:rPr>
              <a:t> </a:t>
            </a:r>
            <a:r>
              <a:rPr lang="en-US" sz="2800" b="0" i="0" dirty="0" err="1" smtClean="0">
                <a:effectLst/>
                <a:latin typeface="Monaco"/>
              </a:rPr>
              <a:t>currentResult</a:t>
            </a:r>
            <a:r>
              <a:rPr lang="en-US" sz="2800" b="0" i="0" dirty="0" smtClean="0">
                <a:effectLst/>
                <a:latin typeface="Monaco"/>
              </a:rPr>
              <a:t> = </a:t>
            </a:r>
            <a:r>
              <a:rPr lang="en-US" sz="2800" b="0" i="0" dirty="0" smtClean="0">
                <a:effectLst/>
                <a:latin typeface="Monaco"/>
              </a:rPr>
              <a:t>(t&gt;&gt;</a:t>
            </a:r>
            <a:r>
              <a:rPr lang="en-US" sz="2800" dirty="0">
                <a:latin typeface="Monaco"/>
              </a:rPr>
              <a:t>4</a:t>
            </a:r>
            <a:r>
              <a:rPr lang="en-US" sz="2800" b="0" i="0" dirty="0" smtClean="0">
                <a:effectLst/>
                <a:latin typeface="Monaco"/>
              </a:rPr>
              <a:t>) </a:t>
            </a:r>
            <a:r>
              <a:rPr lang="en-US" sz="2800" b="0" i="0" dirty="0" smtClean="0">
                <a:effectLst/>
                <a:latin typeface="Monaco"/>
              </a:rPr>
              <a:t>&amp; </a:t>
            </a:r>
            <a:r>
              <a:rPr lang="en-US" sz="2800" b="0" i="0" dirty="0" smtClean="0">
                <a:effectLst/>
                <a:latin typeface="Monaco"/>
              </a:rPr>
              <a:t>0xFFF</a:t>
            </a:r>
            <a:r>
              <a:rPr lang="en-US" sz="2800" b="0" i="0" dirty="0" smtClean="0">
                <a:effectLst/>
                <a:latin typeface="Monaco"/>
              </a:rPr>
              <a:t>; //Extract Conversion Result</a:t>
            </a:r>
            <a:endParaRPr lang="en-US" sz="2800" dirty="0"/>
          </a:p>
        </p:txBody>
      </p:sp>
      <p:sp>
        <p:nvSpPr>
          <p:cNvPr id="4" name="Rectangle 3"/>
          <p:cNvSpPr/>
          <p:nvPr/>
        </p:nvSpPr>
        <p:spPr>
          <a:xfrm>
            <a:off x="1039091" y="4999078"/>
            <a:ext cx="6025176" cy="646331"/>
          </a:xfrm>
          <a:prstGeom prst="rect">
            <a:avLst/>
          </a:prstGeom>
        </p:spPr>
        <p:txBody>
          <a:bodyPr wrap="none">
            <a:spAutoFit/>
          </a:bodyPr>
          <a:lstStyle/>
          <a:p>
            <a:r>
              <a:rPr lang="en-US" dirty="0" smtClean="0">
                <a:hlinkClick r:id="rId2"/>
              </a:rPr>
              <a:t>Ref:</a:t>
            </a:r>
          </a:p>
          <a:p>
            <a:r>
              <a:rPr lang="en-US" dirty="0" smtClean="0">
                <a:hlinkClick r:id="rId2"/>
              </a:rPr>
              <a:t>http</a:t>
            </a:r>
            <a:r>
              <a:rPr lang="en-US" dirty="0">
                <a:hlinkClick r:id="rId2"/>
              </a:rPr>
              <a:t>://www.ocfreaks.com/lpc1768-adc-programming-tutorial/</a:t>
            </a:r>
            <a:endParaRPr lang="en-US" dirty="0"/>
          </a:p>
        </p:txBody>
      </p:sp>
    </p:spTree>
    <p:extLst>
      <p:ext uri="{BB962C8B-B14F-4D97-AF65-F5344CB8AC3E}">
        <p14:creationId xmlns:p14="http://schemas.microsoft.com/office/powerpoint/2010/main" val="2868941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95108" y="279461"/>
            <a:ext cx="6735562" cy="523220"/>
          </a:xfrm>
          <a:prstGeom prst="rect">
            <a:avLst/>
          </a:prstGeom>
        </p:spPr>
        <p:txBody>
          <a:bodyPr wrap="none">
            <a:spAutoFit/>
          </a:bodyPr>
          <a:lstStyle/>
          <a:p>
            <a:r>
              <a:rPr lang="en-US" sz="2800" b="1" dirty="0" smtClean="0">
                <a:solidFill>
                  <a:srgbClr val="000000"/>
                </a:solidFill>
                <a:latin typeface="Raleway"/>
              </a:rPr>
              <a:t>Nested Vector Interrupt Control </a:t>
            </a:r>
            <a:r>
              <a:rPr lang="en-US" sz="2800" b="1" dirty="0">
                <a:solidFill>
                  <a:srgbClr val="000000"/>
                </a:solidFill>
                <a:latin typeface="Raleway"/>
              </a:rPr>
              <a:t>(NVIC)</a:t>
            </a:r>
            <a:endParaRPr lang="en-US" sz="2800" b="1" i="0" dirty="0">
              <a:solidFill>
                <a:srgbClr val="000000"/>
              </a:solidFill>
              <a:effectLst/>
              <a:latin typeface="Raleway"/>
            </a:endParaRPr>
          </a:p>
        </p:txBody>
      </p:sp>
      <p:sp>
        <p:nvSpPr>
          <p:cNvPr id="4" name="Rectangle 3"/>
          <p:cNvSpPr/>
          <p:nvPr/>
        </p:nvSpPr>
        <p:spPr>
          <a:xfrm>
            <a:off x="595745" y="1207854"/>
            <a:ext cx="9892146" cy="1384995"/>
          </a:xfrm>
          <a:prstGeom prst="rect">
            <a:avLst/>
          </a:prstGeom>
        </p:spPr>
        <p:txBody>
          <a:bodyPr wrap="square">
            <a:spAutoFit/>
          </a:bodyPr>
          <a:lstStyle/>
          <a:p>
            <a:pPr algn="just"/>
            <a:r>
              <a:rPr lang="en-US" sz="2800" dirty="0" smtClean="0">
                <a:solidFill>
                  <a:srgbClr val="666666"/>
                </a:solidFill>
                <a:latin typeface="Raleway"/>
              </a:rPr>
              <a:t>In </a:t>
            </a:r>
            <a:r>
              <a:rPr lang="en-US" sz="2800" dirty="0">
                <a:solidFill>
                  <a:srgbClr val="666666"/>
                </a:solidFill>
                <a:latin typeface="Raleway"/>
              </a:rPr>
              <a:t>a </a:t>
            </a:r>
            <a:r>
              <a:rPr lang="en-US" sz="2800" dirty="0" smtClean="0">
                <a:solidFill>
                  <a:srgbClr val="666666"/>
                </a:solidFill>
                <a:latin typeface="Raleway"/>
              </a:rPr>
              <a:t>microcontroller, interrupts </a:t>
            </a:r>
            <a:r>
              <a:rPr lang="en-US" sz="2800" dirty="0">
                <a:solidFill>
                  <a:srgbClr val="666666"/>
                </a:solidFill>
                <a:latin typeface="Raleway"/>
              </a:rPr>
              <a:t>serve as a way to immediately divert the central processing unit from its current task to another, more important task.</a:t>
            </a:r>
            <a:endParaRPr lang="en-US" sz="2800" dirty="0"/>
          </a:p>
        </p:txBody>
      </p:sp>
      <p:sp>
        <p:nvSpPr>
          <p:cNvPr id="5" name="Rectangle 4"/>
          <p:cNvSpPr/>
          <p:nvPr/>
        </p:nvSpPr>
        <p:spPr>
          <a:xfrm>
            <a:off x="831272" y="2815074"/>
            <a:ext cx="10446328" cy="1815882"/>
          </a:xfrm>
          <a:prstGeom prst="rect">
            <a:avLst/>
          </a:prstGeom>
        </p:spPr>
        <p:txBody>
          <a:bodyPr wrap="square">
            <a:spAutoFit/>
          </a:bodyPr>
          <a:lstStyle/>
          <a:p>
            <a:pPr algn="just"/>
            <a:r>
              <a:rPr lang="en-US" sz="2800" dirty="0"/>
              <a:t>An interrupt can be triggered internally from the microcontroller (MCU) or externally, by a peripheral. The interrupt alerts the central processing unit (CPU) to an occurrence such as a time-based </a:t>
            </a:r>
            <a:r>
              <a:rPr lang="en-US" sz="2800" dirty="0" smtClean="0"/>
              <a:t>event a </a:t>
            </a:r>
            <a:r>
              <a:rPr lang="en-US" sz="2800" dirty="0"/>
              <a:t>change of state, or the start or end of a process.</a:t>
            </a:r>
          </a:p>
        </p:txBody>
      </p:sp>
    </p:spTree>
    <p:extLst>
      <p:ext uri="{BB962C8B-B14F-4D97-AF65-F5344CB8AC3E}">
        <p14:creationId xmlns:p14="http://schemas.microsoft.com/office/powerpoint/2010/main" val="25899863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sted vector interrupt contr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393" y="879330"/>
            <a:ext cx="7058025" cy="33718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036618" y="4449725"/>
            <a:ext cx="7661563" cy="646331"/>
          </a:xfrm>
          <a:prstGeom prst="rect">
            <a:avLst/>
          </a:prstGeom>
        </p:spPr>
        <p:txBody>
          <a:bodyPr wrap="square">
            <a:spAutoFit/>
          </a:bodyPr>
          <a:lstStyle/>
          <a:p>
            <a:pPr algn="ctr"/>
            <a:r>
              <a:rPr lang="en-US" b="1" dirty="0">
                <a:solidFill>
                  <a:srgbClr val="666666"/>
                </a:solidFill>
                <a:latin typeface="Raleway"/>
              </a:rPr>
              <a:t>Interrupts can be triggered internally – from a timer, for example – or externally, from peripherals.</a:t>
            </a:r>
            <a:endParaRPr lang="en-US" dirty="0"/>
          </a:p>
        </p:txBody>
      </p:sp>
    </p:spTree>
    <p:extLst>
      <p:ext uri="{BB962C8B-B14F-4D97-AF65-F5344CB8AC3E}">
        <p14:creationId xmlns:p14="http://schemas.microsoft.com/office/powerpoint/2010/main" val="18854927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1491" y="1512793"/>
            <a:ext cx="10016836" cy="3108543"/>
          </a:xfrm>
          <a:prstGeom prst="rect">
            <a:avLst/>
          </a:prstGeom>
        </p:spPr>
        <p:txBody>
          <a:bodyPr wrap="square">
            <a:spAutoFit/>
          </a:bodyPr>
          <a:lstStyle/>
          <a:p>
            <a:pPr algn="just"/>
            <a:r>
              <a:rPr lang="en-US" sz="2800" dirty="0">
                <a:solidFill>
                  <a:srgbClr val="666666"/>
                </a:solidFill>
                <a:latin typeface="Raleway"/>
              </a:rPr>
              <a:t>When an interrupt occurs, an interrupt signal is generated, which causes the CPU to stop its current operation, save its current state, and begin the processing program — referred to as an interrupt service routine (ISR) or interrupt handler — associated with the interrupt. When the interrupt processing is complete, the CPU restores its previous state and resumes where it left off.</a:t>
            </a:r>
            <a:endParaRPr lang="en-US" sz="2800" dirty="0"/>
          </a:p>
        </p:txBody>
      </p:sp>
    </p:spTree>
    <p:extLst>
      <p:ext uri="{BB962C8B-B14F-4D97-AF65-F5344CB8AC3E}">
        <p14:creationId xmlns:p14="http://schemas.microsoft.com/office/powerpoint/2010/main" val="10685624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1" y="779237"/>
            <a:ext cx="10584872" cy="5693866"/>
          </a:xfrm>
          <a:prstGeom prst="rect">
            <a:avLst/>
          </a:prstGeom>
        </p:spPr>
        <p:txBody>
          <a:bodyPr wrap="square">
            <a:spAutoFit/>
          </a:bodyPr>
          <a:lstStyle/>
          <a:p>
            <a:pPr marL="457200" indent="-457200" algn="just">
              <a:buFont typeface="Arial" panose="020B0604020202020204" pitchFamily="34" charset="0"/>
              <a:buChar char="•"/>
            </a:pPr>
            <a:r>
              <a:rPr lang="en-US" sz="2800" dirty="0">
                <a:solidFill>
                  <a:srgbClr val="666666"/>
                </a:solidFill>
                <a:latin typeface="Raleway"/>
              </a:rPr>
              <a:t>Nested vector interrupt control (NVIC) is a method of prioritizing interrupts, improving the MCU’s performance and reducing interrupt latency. </a:t>
            </a:r>
            <a:endParaRPr lang="en-US" sz="2800" dirty="0" smtClean="0">
              <a:solidFill>
                <a:srgbClr val="666666"/>
              </a:solidFill>
              <a:latin typeface="Raleway"/>
            </a:endParaRPr>
          </a:p>
          <a:p>
            <a:pPr marL="457200" indent="-457200" algn="just">
              <a:buFont typeface="Arial" panose="020B0604020202020204" pitchFamily="34" charset="0"/>
              <a:buChar char="•"/>
            </a:pPr>
            <a:r>
              <a:rPr lang="en-US" sz="2800" dirty="0" smtClean="0">
                <a:solidFill>
                  <a:srgbClr val="666666"/>
                </a:solidFill>
                <a:latin typeface="Raleway"/>
              </a:rPr>
              <a:t>NVIC </a:t>
            </a:r>
            <a:r>
              <a:rPr lang="en-US" sz="2800" dirty="0">
                <a:solidFill>
                  <a:srgbClr val="666666"/>
                </a:solidFill>
                <a:latin typeface="Raleway"/>
              </a:rPr>
              <a:t>also provides implementation schemes for handling interrupts that occur when other interrupts are being executed or when the CPU is in the process of restoring its previous state and resuming its suspended process.</a:t>
            </a:r>
          </a:p>
          <a:p>
            <a:pPr marL="457200" indent="-457200" algn="just">
              <a:buFont typeface="Arial" panose="020B0604020202020204" pitchFamily="34" charset="0"/>
              <a:buChar char="•"/>
            </a:pPr>
            <a:r>
              <a:rPr lang="en-US" sz="2800" dirty="0">
                <a:solidFill>
                  <a:srgbClr val="666666"/>
                </a:solidFill>
                <a:latin typeface="Raleway"/>
              </a:rPr>
              <a:t>The term “nested” refers to the fact that in NVIC, a number of interrupts (up to several hundred in some processors) can be defined, and each interrupt is assigned a priority, with “0” being the highest priority. In addition, the most critical interrupt can be made non-</a:t>
            </a:r>
            <a:r>
              <a:rPr lang="en-US" sz="2800" dirty="0" err="1">
                <a:solidFill>
                  <a:srgbClr val="666666"/>
                </a:solidFill>
                <a:latin typeface="Raleway"/>
              </a:rPr>
              <a:t>maskable</a:t>
            </a:r>
            <a:r>
              <a:rPr lang="en-US" sz="2800" dirty="0">
                <a:solidFill>
                  <a:srgbClr val="666666"/>
                </a:solidFill>
                <a:latin typeface="Raleway"/>
              </a:rPr>
              <a:t>, meaning it cannot be disabled (masked</a:t>
            </a:r>
            <a:r>
              <a:rPr lang="en-US" sz="2800" dirty="0" smtClean="0">
                <a:solidFill>
                  <a:srgbClr val="666666"/>
                </a:solidFill>
                <a:latin typeface="Raleway"/>
              </a:rPr>
              <a:t>).</a:t>
            </a:r>
            <a:endParaRPr lang="en-US" sz="2800" dirty="0">
              <a:solidFill>
                <a:srgbClr val="666666"/>
              </a:solidFill>
              <a:latin typeface="Raleway"/>
            </a:endParaRPr>
          </a:p>
        </p:txBody>
      </p:sp>
    </p:spTree>
    <p:extLst>
      <p:ext uri="{BB962C8B-B14F-4D97-AF65-F5344CB8AC3E}">
        <p14:creationId xmlns:p14="http://schemas.microsoft.com/office/powerpoint/2010/main" val="33135525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1892" y="2039265"/>
            <a:ext cx="10764981" cy="2677656"/>
          </a:xfrm>
          <a:prstGeom prst="rect">
            <a:avLst/>
          </a:prstGeom>
        </p:spPr>
        <p:txBody>
          <a:bodyPr wrap="square">
            <a:spAutoFit/>
          </a:bodyPr>
          <a:lstStyle/>
          <a:p>
            <a:pPr algn="just"/>
            <a:r>
              <a:rPr lang="en-US" sz="2800" dirty="0">
                <a:solidFill>
                  <a:srgbClr val="666666"/>
                </a:solidFill>
                <a:latin typeface="Raleway"/>
              </a:rPr>
              <a:t>One function of NVIC is to ensure that higher priority interrupts are completed before lower-priority interrupts, even if the lower-priority interrupt is triggered first. For example, if a lower-priority interrupt is being </a:t>
            </a:r>
            <a:r>
              <a:rPr lang="en-US" sz="2800" dirty="0" smtClean="0">
                <a:solidFill>
                  <a:srgbClr val="666666"/>
                </a:solidFill>
                <a:latin typeface="Raleway"/>
              </a:rPr>
              <a:t>registered </a:t>
            </a:r>
            <a:r>
              <a:rPr lang="en-US" sz="2800" dirty="0">
                <a:solidFill>
                  <a:srgbClr val="666666"/>
                </a:solidFill>
                <a:latin typeface="Raleway"/>
              </a:rPr>
              <a:t>or executed and a higher-priority interrupt occurs, the CPU will stop the lower-priority interrupt and process the higher-priority one first.</a:t>
            </a:r>
            <a:endParaRPr lang="en-US" sz="2800" dirty="0">
              <a:solidFill>
                <a:srgbClr val="666666"/>
              </a:solidFill>
              <a:latin typeface="Raleway"/>
            </a:endParaRPr>
          </a:p>
        </p:txBody>
      </p:sp>
    </p:spTree>
    <p:extLst>
      <p:ext uri="{BB962C8B-B14F-4D97-AF65-F5344CB8AC3E}">
        <p14:creationId xmlns:p14="http://schemas.microsoft.com/office/powerpoint/2010/main" val="9698668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8363" y="460076"/>
            <a:ext cx="9421091" cy="5262979"/>
          </a:xfrm>
          <a:prstGeom prst="rect">
            <a:avLst/>
          </a:prstGeom>
        </p:spPr>
        <p:txBody>
          <a:bodyPr wrap="square">
            <a:spAutoFit/>
          </a:bodyPr>
          <a:lstStyle/>
          <a:p>
            <a:pPr algn="just"/>
            <a:r>
              <a:rPr lang="en-US" sz="2800" dirty="0">
                <a:solidFill>
                  <a:srgbClr val="666666"/>
                </a:solidFill>
                <a:latin typeface="Raleway"/>
              </a:rPr>
              <a:t>The term “vector” in nested vector interrupt control refers to the way in which the CPU finds the program, or ISR, to be executed when an interrupt occurs. Nested vector interrupt control uses a vector table that contains the addresses of the ISRs for each interrupt. When an interrupt is triggered, the processor gets the address from the vector table.</a:t>
            </a:r>
          </a:p>
          <a:p>
            <a:pPr algn="just"/>
            <a:r>
              <a:rPr lang="en-US" sz="2800" dirty="0">
                <a:solidFill>
                  <a:srgbClr val="666666"/>
                </a:solidFill>
                <a:latin typeface="Raleway"/>
              </a:rPr>
              <a:t>The prioritization and handling schemes of nested vector interrupt control reduce the latency and overhead that interrupts typically introduce and ensure low power consumption, even with high interrupt loading on the controller.</a:t>
            </a:r>
            <a:endParaRPr lang="en-US" sz="2800" b="0" i="0" dirty="0">
              <a:solidFill>
                <a:srgbClr val="666666"/>
              </a:solidFill>
              <a:effectLst/>
              <a:latin typeface="Raleway"/>
            </a:endParaRPr>
          </a:p>
        </p:txBody>
      </p:sp>
    </p:spTree>
    <p:extLst>
      <p:ext uri="{BB962C8B-B14F-4D97-AF65-F5344CB8AC3E}">
        <p14:creationId xmlns:p14="http://schemas.microsoft.com/office/powerpoint/2010/main" val="7471782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1383" y="1637484"/>
            <a:ext cx="10086108" cy="3108543"/>
          </a:xfrm>
          <a:prstGeom prst="rect">
            <a:avLst/>
          </a:prstGeom>
        </p:spPr>
        <p:txBody>
          <a:bodyPr wrap="square">
            <a:spAutoFit/>
          </a:bodyPr>
          <a:lstStyle/>
          <a:p>
            <a:pPr algn="just"/>
            <a:r>
              <a:rPr lang="en-US" sz="2800" dirty="0">
                <a:solidFill>
                  <a:srgbClr val="000000"/>
                </a:solidFill>
                <a:latin typeface="Arial" panose="020B0604020202020204" pitchFamily="34" charset="0"/>
              </a:rPr>
              <a:t>The Cortex-M3 processor uses a re-locatable vector table that contains the address of the function to be executed for a particular interrupt handler. On accepting an interrupt, the processor fetches the address from the vector table through the instruction bus interface. </a:t>
            </a:r>
            <a:r>
              <a:rPr lang="en-US" sz="2800" dirty="0">
                <a:latin typeface="Arial" panose="020B0604020202020204" pitchFamily="34" charset="0"/>
              </a:rPr>
              <a:t>The vector table is located at address zero at reset, but can be relocated by programming a control register.</a:t>
            </a:r>
            <a:endParaRPr lang="en-US" sz="2800" dirty="0"/>
          </a:p>
        </p:txBody>
      </p:sp>
      <p:sp>
        <p:nvSpPr>
          <p:cNvPr id="3" name="Rectangle 2"/>
          <p:cNvSpPr/>
          <p:nvPr/>
        </p:nvSpPr>
        <p:spPr>
          <a:xfrm>
            <a:off x="1011382" y="5710490"/>
            <a:ext cx="10363199" cy="646331"/>
          </a:xfrm>
          <a:prstGeom prst="rect">
            <a:avLst/>
          </a:prstGeom>
        </p:spPr>
        <p:txBody>
          <a:bodyPr wrap="square">
            <a:spAutoFit/>
          </a:bodyPr>
          <a:lstStyle/>
          <a:p>
            <a:r>
              <a:rPr lang="en-US" dirty="0" smtClean="0">
                <a:hlinkClick r:id="rId2"/>
              </a:rPr>
              <a:t>Ref:</a:t>
            </a:r>
          </a:p>
          <a:p>
            <a:r>
              <a:rPr lang="en-US" dirty="0" smtClean="0">
                <a:hlinkClick r:id="rId2"/>
              </a:rPr>
              <a:t>https</a:t>
            </a:r>
            <a:r>
              <a:rPr lang="en-US" dirty="0">
                <a:hlinkClick r:id="rId2"/>
              </a:rPr>
              <a:t>://www.motioncontroltips.com/what-is-nested-vector-interrupt-control-nvic/</a:t>
            </a:r>
            <a:endParaRPr lang="en-US" dirty="0"/>
          </a:p>
        </p:txBody>
      </p:sp>
    </p:spTree>
    <p:extLst>
      <p:ext uri="{BB962C8B-B14F-4D97-AF65-F5344CB8AC3E}">
        <p14:creationId xmlns:p14="http://schemas.microsoft.com/office/powerpoint/2010/main" val="12051412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10440</TotalTime>
  <Words>1187</Words>
  <Application>Microsoft Office PowerPoint</Application>
  <PresentationFormat>Widescreen</PresentationFormat>
  <Paragraphs>91</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vt:lpstr>
      <vt:lpstr>Calibri</vt:lpstr>
      <vt:lpstr>Calibri Light</vt:lpstr>
      <vt:lpstr>Monaco</vt:lpstr>
      <vt:lpstr>Open Sans</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dc:creator>
  <cp:lastModifiedBy>MAHE</cp:lastModifiedBy>
  <cp:revision>31</cp:revision>
  <dcterms:created xsi:type="dcterms:W3CDTF">2020-03-02T07:10:28Z</dcterms:created>
  <dcterms:modified xsi:type="dcterms:W3CDTF">2020-03-09T15:30:10Z</dcterms:modified>
</cp:coreProperties>
</file>